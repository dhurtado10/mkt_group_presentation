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56070"/>
                </a:solidFill>
                <a:latin typeface="Calibri"/>
              </a:defRPr>
            </a:pPr>
            <a:r>
              <a:rPr sz="1200" b="0" i="0" u="none" strike="noStrike">
                <a:solidFill>
                  <a:srgbClr val="556070"/>
                </a:solidFill>
                <a:latin typeface="Calibri"/>
              </a:rPr>
              <a:t>Broker-originated share of new residential home loans, %</a:t>
            </a:r>
          </a:p>
        </c:rich>
      </c:tx>
      <c:layout/>
      <c:overlay val="0"/>
    </c:title>
    <c:autoTitleDeleted val="0"/>
    <c:plotArea>
      <c:layout/>
      <c:barChart>
        <c:barDir val="col"/>
        <c:grouping val="clustered"/>
        <c:varyColors val="0"/>
        <c:ser>
          <c:idx val="0"/>
          <c:order val="0"/>
          <c:tx>
            <c:strRef>
              <c:f>Sheet1!$B$1</c:f>
              <c:strCache>
                <c:ptCount val="1"/>
                <c:pt idx="0">
                  <c:v>Broker share</c:v>
                </c:pt>
              </c:strCache>
            </c:strRef>
          </c:tx>
          <c:spPr>
            <a:solidFill>
              <a:srgbClr val="152B56"/>
            </a:solidFill>
            <a:effectLst/>
          </c:spPr>
          <c:invertIfNegative val="0"/>
          <c:dLbls>
            <c:numFmt formatCode="0.0&quot;%&quot;" sourceLinked="0"/>
            <c:txPr>
              <a:bodyPr/>
              <a:lstStyle/>
              <a:p>
                <a:pPr>
                  <a:defRPr b="1" i="0" strike="noStrike" sz="1300" u="none">
                    <a:solidFill>
                      <a:srgbClr val="152B56"/>
                    </a:solidFill>
                    <a:latin typeface="Arial"/>
                  </a:defRPr>
                </a:pPr>
              </a:p>
            </c:txPr>
            <c:showLegendKey val="0"/>
            <c:showVal val="1"/>
            <c:showCatName val="0"/>
            <c:showSerName val="0"/>
            <c:showPercent val="0"/>
            <c:showBubbleSize val="0"/>
            <c:showLeaderLines val="0"/>
          </c:dLbls>
          <c:cat>
            <c:multiLvlStrRef>
              <c:f>Sheet1!$A$2:$A$5</c:f>
              <c:multiLvlStrCache>
                <c:ptCount val="4"/>
                <c:lvl>
                  <c:pt idx="0">
                    <c:v>Jun 2018</c:v>
                  </c:pt>
                  <c:pt idx="1">
                    <c:v>Sep 2024</c:v>
                  </c:pt>
                  <c:pt idx="2">
                    <c:v>Mar 2026</c:v>
                  </c:pt>
                  <c:pt idx="3">
                    <c:v>Jun 2026</c:v>
                  </c:pt>
                </c:lvl>
              </c:multiLvlStrCache>
            </c:multiLvlStrRef>
          </c:cat>
          <c:val>
            <c:numRef>
              <c:f>Sheet1!$B$2:$B$5</c:f>
              <c:numCache>
                <c:formatCode>General</c:formatCode>
                <c:ptCount val="4"/>
                <c:pt idx="0">
                  <c:v>53.9</c:v>
                </c:pt>
                <c:pt idx="1">
                  <c:v>74.6</c:v>
                </c:pt>
                <c:pt idx="2">
                  <c:v>81</c:v>
                </c:pt>
                <c:pt idx="3">
                  <c:v>81.6</c:v>
                </c:pt>
              </c:numCache>
            </c:numRef>
          </c:val>
        </c:ser>
        <c:dLbls>
          <c:numFmt formatCode="0.0&quot;%&quot;" sourceLinked="0"/>
          <c:txPr>
            <a:bodyPr/>
            <a:lstStyle/>
            <a:p>
              <a:pPr>
                <a:defRPr b="1" i="0" strike="noStrike" sz="1300" u="none">
                  <a:solidFill>
                    <a:srgbClr val="152B56"/>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E2633"/>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56070"/>
                </a:solidFill>
                <a:latin typeface="Calibri"/>
              </a:defRPr>
            </a:pPr>
            <a:r>
              <a:rPr sz="1200" b="0" i="0" u="none" strike="noStrike">
                <a:solidFill>
                  <a:srgbClr val="556070"/>
                </a:solidFill>
                <a:latin typeface="Calibri"/>
              </a:rPr>
              <a:t>Levers that made them more likely, out of 10</a:t>
            </a:r>
          </a:p>
        </c:rich>
      </c:tx>
      <c:layout/>
      <c:overlay val="0"/>
    </c:title>
    <c:autoTitleDeleted val="0"/>
    <c:plotArea>
      <c:layout/>
      <c:barChart>
        <c:barDir val="bar"/>
        <c:grouping val="clustered"/>
        <c:varyColors val="0"/>
        <c:ser>
          <c:idx val="0"/>
          <c:order val="0"/>
          <c:tx>
            <c:strRef>
              <c:f>Sheet1!$B$1</c:f>
              <c:strCache>
                <c:ptCount val="1"/>
                <c:pt idx="0">
                  <c:v>Moved</c:v>
                </c:pt>
              </c:strCache>
            </c:strRef>
          </c:tx>
          <c:spPr>
            <a:solidFill>
              <a:srgbClr val="152B56"/>
            </a:solidFill>
            <a:effectLst/>
          </c:spPr>
          <c:invertIfNegative val="0"/>
          <c:dLbls>
            <c:numFmt formatCode="#,##0" sourceLinked="0"/>
            <c:txPr>
              <a:bodyPr/>
              <a:lstStyle/>
              <a:p>
                <a:pPr>
                  <a:defRPr b="1" i="0" strike="noStrike" sz="1200" u="none">
                    <a:solidFill>
                      <a:srgbClr val="152B56"/>
                    </a:solidFill>
                    <a:latin typeface="Arial"/>
                  </a:defRPr>
                </a:pPr>
              </a:p>
            </c:txPr>
            <c:showLegendKey val="0"/>
            <c:showVal val="1"/>
            <c:showCatName val="0"/>
            <c:showSerName val="0"/>
            <c:showPercent val="0"/>
            <c:showBubbleSize val="0"/>
            <c:showLeaderLines val="0"/>
          </c:dLbls>
          <c:cat>
            <c:multiLvlStrRef>
              <c:f>Sheet1!$A$2:$A$5</c:f>
              <c:multiLvlStrCache>
                <c:ptCount val="4"/>
                <c:lvl>
                  <c:pt idx="0">
                    <c:v>A friend had a good experience with AMB</c:v>
                  </c:pt>
                  <c:pt idx="1">
                    <c:v>Employer partnership offer</c:v>
                  </c:pt>
                  <c:pt idx="2">
                    <c:v>Rate-match guarantee</c:v>
                  </c:pt>
                  <c:pt idx="3">
                    <c:v>Customer-owned label</c:v>
                  </c:pt>
                </c:lvl>
              </c:multiLvlStrCache>
            </c:multiLvlStrRef>
          </c:cat>
          <c:val>
            <c:numRef>
              <c:f>Sheet1!$B$2:$B$5</c:f>
              <c:numCache>
                <c:formatCode>General</c:formatCode>
                <c:ptCount val="4"/>
                <c:pt idx="0">
                  <c:v>10</c:v>
                </c:pt>
                <c:pt idx="1">
                  <c:v>7</c:v>
                </c:pt>
                <c:pt idx="2">
                  <c:v>5</c:v>
                </c:pt>
                <c:pt idx="3">
                  <c:v>5</c:v>
                </c:pt>
              </c:numCache>
            </c:numRef>
          </c:val>
        </c:ser>
        <c:dLbls>
          <c:numFmt formatCode="#,##0" sourceLinked="0"/>
          <c:txPr>
            <a:bodyPr/>
            <a:lstStyle/>
            <a:p>
              <a:pPr>
                <a:defRPr b="1" i="0" strike="noStrike" sz="1200" u="none">
                  <a:solidFill>
                    <a:srgbClr val="152B56"/>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1E2633"/>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56070"/>
                </a:solidFill>
                <a:latin typeface="Calibri"/>
              </a:defRPr>
            </a:pPr>
            <a:r>
              <a:rPr sz="1200" b="0" i="0" u="none" strike="noStrike">
                <a:solidFill>
                  <a:srgbClr val="556070"/>
                </a:solidFill>
                <a:latin typeface="Calibri"/>
              </a:rPr>
              <a:t>Checks they would still run, out of 10</a:t>
            </a:r>
          </a:p>
        </c:rich>
      </c:tx>
      <c:layout/>
      <c:overlay val="0"/>
    </c:title>
    <c:autoTitleDeleted val="0"/>
    <c:plotArea>
      <c:layout/>
      <c:barChart>
        <c:barDir val="bar"/>
        <c:grouping val="clustered"/>
        <c:varyColors val="0"/>
        <c:ser>
          <c:idx val="0"/>
          <c:order val="0"/>
          <c:tx>
            <c:strRef>
              <c:f>Sheet1!$B$1</c:f>
              <c:strCache>
                <c:ptCount val="1"/>
                <c:pt idx="0">
                  <c:v>Checks</c:v>
                </c:pt>
              </c:strCache>
            </c:strRef>
          </c:tx>
          <c:spPr>
            <a:solidFill>
              <a:srgbClr val="1F8F74"/>
            </a:solidFill>
            <a:effectLst/>
          </c:spPr>
          <c:invertIfNegative val="0"/>
          <c:dLbls>
            <c:numFmt formatCode="#,##0" sourceLinked="0"/>
            <c:txPr>
              <a:bodyPr/>
              <a:lstStyle/>
              <a:p>
                <a:pPr>
                  <a:defRPr b="1" i="0" strike="noStrike" sz="1200" u="none">
                    <a:solidFill>
                      <a:srgbClr val="166257"/>
                    </a:solidFill>
                    <a:latin typeface="Arial"/>
                  </a:defRPr>
                </a:pPr>
              </a:p>
            </c:txPr>
            <c:showLegendKey val="0"/>
            <c:showVal val="1"/>
            <c:showCatName val="0"/>
            <c:showSerName val="0"/>
            <c:showPercent val="0"/>
            <c:showBubbleSize val="0"/>
            <c:showLeaderLines val="0"/>
          </c:dLbls>
          <c:cat>
            <c:multiLvlStrRef>
              <c:f>Sheet1!$A$2:$A$3</c:f>
              <c:multiLvlStrCache>
                <c:ptCount val="2"/>
                <c:lvl>
                  <c:pt idx="0">
                    <c:v>Would not act on a site or AI ranking alone</c:v>
                  </c:pt>
                  <c:pt idx="1">
                    <c:v>Would still check first, even with a better rate</c:v>
                  </c:pt>
                </c:lvl>
              </c:multiLvlStrCache>
            </c:multiLvlStrRef>
          </c:cat>
          <c:val>
            <c:numRef>
              <c:f>Sheet1!$B$2:$B$3</c:f>
              <c:numCache>
                <c:formatCode>General</c:formatCode>
                <c:ptCount val="2"/>
                <c:pt idx="0">
                  <c:v>8</c:v>
                </c:pt>
                <c:pt idx="1">
                  <c:v>7</c:v>
                </c:pt>
              </c:numCache>
            </c:numRef>
          </c:val>
        </c:ser>
        <c:dLbls>
          <c:numFmt formatCode="#,##0" sourceLinked="0"/>
          <c:txPr>
            <a:bodyPr/>
            <a:lstStyle/>
            <a:p>
              <a:pPr>
                <a:defRPr b="1" i="0" strike="noStrike" sz="1200" u="none">
                  <a:solidFill>
                    <a:srgbClr val="16625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1E2633"/>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We were asked how Australian Mutual Bank should spend seven hundred and fifty thousand dollars to win home loan customers it has no existing claim on. Six of us each mapped one way people choose a home loan, we ran a shared questionnaire across those groups, and we checked what we found against the industry data. We'll give you our answer on the next slide, then the evidence, then the plan and how to measure it. All six of us present and all six of us are across the whole thing for questions.
--- REVIEW NOTES (delete before presenting) ---
Changed in Draft 4: Team names now XXX placeholders.
Still to do: Fill in the six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argument on one page. First, in every group we studied the shortlist was two to four familiar names, built before anyone compared a rate. AMB was never in it. Second, that is not a product problem. AMB's advertised rate is competitive with the big four's and its sector is the most trusted in banking, but neither fact reaches the decision. Third, the three moves all do the same job in different places: make AMB easy to verify, get it into the broker's working set, and let existing members hand a friend a reason to look. Fourth, the indicative split and the return, which we'll come back to with the inputs we still need from the bank. Next, the brief and the issue as we see it.
--- REVIEW NOTES (delete before presenting) ---
Changed in Draft 4: Rate now 'competitive with' the big four (true at both LVR tiers). Member count confirmed at about 280,000 (TMBL merger announcement). Return shown as XXX.
Still to do: Put the ROI figure in once slide 13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context. Australian Mutual Bank is the brand inside the Teachers Mutual group that anyone can join. Until the merger the group's brands were mostly for teachers, nurses and emergency services, so AMB is now trying to attract people it has never had a relationship with, without a big-four budget. The brief asks for a digital acquisition strategy with a budget of seven hundred and fifty thousand. The issue we landed on is more specific than awareness. People and brokers filter out lenders they don't already trust before they look at a rate. So the job is passing that filter, and it happens in two places: when a borrower searches for themselves, and when a broker builds a shortlist. I'll hand over to walk through how we know that.
--- REVIEW NOTES (delete before presenting) ---
Changed in Draft 4: Member count confirmed (about 280,000 across the merged group) and merger date confirmed (1 May 2026); both [CHECK]s removed.
Still to do: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Three layers of evidence. First, each of us mapped one way people choose a home loan: going straight to their bank, using a broker, doing it themselves online, refinancing, upgrading, or buying for the first time. We each wrote the map we assumed, did our own research, then rewrote it. Second, we put one shared questionnaire to the two groups we're prioritising, so the levers we tested are directly comparable. Third, we checked everything against market data, because our samples are small and we're upfront about that. In design thinking terms this is all the what-is stage: describing how people actually behave today before we propose anything. Here's the market in two numbers.
--- REVIEW NOTES (delete before presenting) ---
Changed in Draft 4: 'Shoppers' changed to 'borrowers'. Broker-side interviews flagged as XXX to be added.
Still to do: If the 3 interviews are not added, change 17 to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frame everything. Brokers now write over eighty per cent of new home loans in Australia, up from just over half in 2018. So the broker's shortlist is where most lending decisions get made. And of what brokers place, under four per cent goes to mutual banks against nearly forty per cent to the majors. That gap is the opportunity and the problem in one figure. One more number to hold onto: three quarters of Australians can't tell you what a customer-owned bank is, even though Roy Morgan rates the sector the most trusted in banking. AMB has a trust advantage almost nobody knows about. Over to the journey maps.
--- REVIEW NOTES (delete before presenting) ---
Changed in Draft 4: 2018 bar relabelled Jun 2018 (MFAA comparison base). 39.9%, 3.7% and Sep 2024 74.6% now cited to MFAA (2024), as in the broker-placed journey map; [CHECK]s removed.
Still to do: Optional: one line on who currently wins the broker shortlist (majors, Macquarie) for the competitor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This is the six maps side by side. Different methods, different samples, same finding every time. People who go straight to their bank never seriously considered anyone else. People who use a broker saw two to four familiar names and took that as the market. People who research online, including those who found better rates, still ended up at a big-four bank. Refinancers and upgraders started on comparison sites and then went looking for a name they trusted. First-home buyers found their lender through a broker or a parent. The right-hand column is the point: AMB is lost at a different step in each group, but always before its rate gets compared. It wasn't rejected. It was never in the room. Here's where we chose to focus.
--- REVIEW NOTES (delete before presenting) ---
Changed in Draft 4: No change.
Still to do: Check each n against its owner's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us to pick the two groups with the most opportunity and defend the choice. We picked on one criterion: where a shortlist gets built, because that's what we need to change. Self-directed borrowers build their own, online, in the only channels a digital budget reaches directly. Broker-placed borrowers have theirs built by a broker, and that's eighty per cent of the market. The other four groups aren't ignored. Refinancing, upgrading and buying a first home are triggers, and when they fire the person either goes online or calls a broker, so they're reached by the same two moves. The one group we deliberately park is people who go straight to the bank their family has always used, because there's no moment to interrupt. Over to what moves the DIY borrower.
--- REVIEW NOTES (delete before presenting) ---
Changed in Draft 4: 'Shoppers' changed to 'borrowers'. Job to be done added to each priority group (broker wording from the broker-placed journey map; DIY wording from the Round 2 interviews).
Still to do: Confirm the DIY job-to-be-done wording with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Ten self-directed borrowers answered the shared questionnaire. A friend who'd had a good experience with AMB moved every one of them. Eight wouldn't act on a comparison site or AI ranking without checking reviews and regulation themselves. Seven said that even with a clearly better rate they'd still check before going with a lender they didn't know. An employer deal moved seven, though all ten said they'd still run their own comparison. The rate-match guarantee moved half, and one person said it made them suspicious. On the customer-owned label, it appealed to the three people who'd never taken a loan and barely registered with the seven who had. The rate gets you looked at. Proof and a person get you chosen. Broker-placed next.
--- REVIEW NOTES (delete before presenting) ---
Changed in Draft 4: 'Shoppers' changed to 'borrowers'. Screener issue disclosed in the source line.
Still to do: Decision still open: keep the 3 non-screened respondents with this disclosure, or recompute on n=7 and update the title and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questionnaire, broker-placed borrowers, four responses so far with three earlier interviews to fold in. Three of four said that if a broker they trusted recommended AMB they'd still go and check it themselves. Three of four said a written promise to match a big-four rate made them suspicious rather than reassured, which is the opposite of what we expected, and a stronger reaction than in the DIY group, where it moved half. Only one had heard of AMB and none were moved by it being customer-owned. XXX of four said a friend's good experience would make them more likely to consider it. The exception tells the story. One respondent trusts her broker completely and would take his word alone, and in three years he has never put a mutual in front of her. That's the broker working set in one person. What they want is proof it's regulated and a reason it suits them. Here's what that adds up to.
--- REVIEW NOTES (delete before presenting) ---
Changed in Draft 4: Fourth stat card added for the broker friend-referral result (XXX of 4), so slide 10's 'both groups' claim has evidence. Quote marks removed ('trusts her broker completely') because the records are paraphrased. Notes now say the guarantee reaction was stronger than in the DIY group.
Still to do: Fill in XXX from the broker responses, and add the 3 broker-side interviews if they asked the same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Three ideas from the course explain what we saw. Consideration sets: the McKinsey decision journey work shows that brands outside the initial handful of names rarely win, and it doesn't matter whether the borrower builds that handful or a broker does. AMB is outside it everywhere. Status quo bias: the familiar bank holds unless something triggers a search and there's a reason to move, and for seven of ten DIY borrowers a better rate wasn't reason enough on its own. Social proof: the strongest lever in both groups, XXX out of fourteen, was a person vouching. That matters for a sector Roy Morgan says is the most trusted in banking and three quarters of people have never heard of. The rate is fine. It's never weighed. Here's the strategy.
--- REVIEW NOTES (delete before presenting) ---
Changed in Draft 4: Social proof restored to 'both groups, XXX of 14' (fill in from slide 9). Rate line rewritten as 'competitive', with both LVR tiers shown, so it holds up for first-home buyers above 60% LVR. Cialdini (1984) cited.
Still to do: Once slide 9 is filled in, enter the total here (10 DIY plus the broker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One, make AMB easy to verify. When a borrower or a broker's client searches for AMB they should find reviews, ratings, proof it's regulated, the trust ranking, and the real rate and fees rather than a headline figure. That's also where AI assistants draw their answers from. Two, enter the broker's working set. Brokers shortlist from the lenders they know and can place fast, so this is accreditation on every major panel, BDM coverage, a proof pack that makes AMB easy to recommend, and a turnaround commitment. It gets the most money because it's the biggest channel. Three, the one only a mutual can run: a member sends a friend a link, the friend uploads the offer they already have, and AMB comes back with a firm rate within a day. It's the vouch and the proof in one step. Here's the rollout.
--- REVIEW NOTES (delete before presenting) ---
Changed in Draft 4: Move 2 reframed digitally: digital proof pack, aggregator platform listing, live turnaround tracking, with BDMs behind it. Media type added to each move (owned and earned, paid and owned, earned). Panel accreditation shown as XXX.
Still to do: Confirm whether AMB is accredited under its own brand; Move 2's budget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The first quarter is cheap and mostly about proof. Get the reviews and ratings up, publish real rates and approval times, confirm AMB is accredited on the panels under its own name, and pilot the check-your-offer link with a few hundred members so we learn whether people send it and whether friends upload. Quarter two is the broker push, BDMs and the proof pack, and the referral link goes to every member. The second half is scaling what converts and cutting what doesn't, which is why measurement has its own line. Each stream has a named owner, and lending operations has to own the twenty-four-hour rate, because the referral only works if the rate comes back fast. Which brings us to how we'd measure it.
--- REVIEW NOTES (delete before presenting) ---
Changed in Draft 4: [CHECK]s replaced with XXX; broker lane wording matches the digital Move 2.
Still to do: Enter the pilot size (XXX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We've split the metrics into what moves early and what proves it worked. Early, we watch branded search, the number and quality of reviews, how many brokers are accredited and submitting, how many referral links get sent and how many friends upload an offer, and how fast a rate comes back. Those tell AMB within a quarter whether it's getting into shortlists. The lag indicators are what the board cares about: shortlist inclusion from a quarterly survey, conversion when AMB is shown, funded loans and cost per loan by channel, and whether members are still there a year later. The return is funded loans times lifetime margin over the budget. We've listed the inputs we need from AMB to put a firm number on it. I'll close with what we'd do first.
--- REVIEW NOTES (delete before presenting) ---
Changed in Draft 4: Targets added: 24-hour firm rate and 48-hour conditional approval (matching the commitments in Moves 2 and 3), plus a review-rating target (XXX). ROI callout now shows the worked formula with XXX inputs.
Still to do: Fill in cost per funded loan, net interest margin and average loan life, then calculate the multiple.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 limits. Our samples are small and they're our own networks, so what we've shown you is directional. And a couple of facts about AMB's own position, like whether the brand is already accredited on the panels, we'd want confirmed with the bank before a dollar is spent. So the first three things we'd do are cheap. Confirm the panel position. Pilot the referral link with a few hundred members. And run one properly sized shopper survey so shortlist inclusion becomes a number rather than a story. The line we'd leave you with: AMB doesn't need a bigger budget to compete on rate. It needs to be on the list when the rate gets compared. Thank you. Happy to take questions, and any of us can speak to any part of it.
--- REVIEW NOTES (delete before presenting) ---
Changed in Draft 4: No change.
Still to do: Rehearse the hand-off into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0.jp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 Id="rId6" Type="http://schemas.openxmlformats.org/officeDocument/2006/relationships/image" Target="../media/image2.jpg"/><Relationship Id="rId7" Type="http://schemas.openxmlformats.org/officeDocument/2006/relationships/image" Target="../media/image3.jpg"/><Relationship Id="rId8" Type="http://schemas.openxmlformats.org/officeDocument/2006/relationships/image" Target="../media/image4.jpg"/><Relationship Id="rId9"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 Id="rId7" Type="http://schemas.openxmlformats.org/officeDocument/2006/relationships/image" Target="../media/image1.jp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B56"/>
        </a:solidFill>
      </p:bgPr>
    </p:bg>
    <p:spTree>
      <p:nvGrpSpPr>
        <p:cNvPr id="1" name=""/>
        <p:cNvGrpSpPr/>
        <p:nvPr/>
      </p:nvGrpSpPr>
      <p:grpSpPr>
        <a:xfrm>
          <a:off x="0" y="0"/>
          <a:ext cx="0" cy="0"/>
          <a:chOff x="0" y="0"/>
          <a:chExt cx="0" cy="0"/>
        </a:xfrm>
      </p:grpSpPr>
      <p:pic>
        <p:nvPicPr>
          <p:cNvPr id="10" name="Picture 9" descr="title_bg.jpg"/>
          <p:cNvPicPr>
            <a:picLocks noChangeAspect="1"/>
          </p:cNvPicPr>
          <p:nvPr/>
        </p:nvPicPr>
        <p:blipFill>
          <a:blip r:embed="rId4"/>
          <a:stretch>
            <a:fillRect/>
          </a:stretch>
        </p:blipFill>
        <p:spPr>
          <a:xfrm>
            <a:off x="0" y="0"/>
            <a:ext cx="9144000" cy="5143500"/>
          </a:xfrm>
          <a:prstGeom prst="rect">
            <a:avLst/>
          </a:prstGeom>
        </p:spPr>
      </p:pic>
      <p:sp>
        <p:nvSpPr>
          <p:cNvPr id="12" name="Rectangle 11"/>
          <p:cNvSpPr/>
          <p:nvPr/>
        </p:nvSpPr>
        <p:spPr>
          <a:xfrm>
            <a:off x="0" y="4114800"/>
            <a:ext cx="9144000" cy="1028700"/>
          </a:xfrm>
          <a:prstGeom prst="rect">
            <a:avLst/>
          </a:prstGeom>
          <a:solidFill>
            <a:srgbClr val="152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0"/>
          <p:cNvSpPr txBox="1"/>
          <p:nvPr/>
        </p:nvSpPr>
        <p:spPr>
          <a:xfrm>
            <a:off x="457200" y="1691640"/>
            <a:ext cx="5486400" cy="274320"/>
          </a:xfrm>
          <a:prstGeom prst="rect">
            <a:avLst/>
          </a:prstGeom>
          <a:noFill/>
          <a:ln/>
        </p:spPr>
        <p:txBody>
          <a:bodyPr wrap="square" lIns="0" tIns="0" rIns="0" bIns="0" rtlCol="0" anchor="t"/>
          <a:lstStyle/>
          <a:p>
            <a:pPr indent="0" marL="0">
              <a:buNone/>
            </a:pPr>
            <a:r>
              <a:rPr lang="en-US" sz="1300" b="1" spc="200" kern="0" dirty="0">
                <a:solidFill>
                  <a:srgbClr val="1F8F74"/>
                </a:solidFill>
                <a:latin typeface="Calibri" pitchFamily="34" charset="0"/>
                <a:ea typeface="Calibri" pitchFamily="34" charset="-122"/>
                <a:cs typeface="Calibri" pitchFamily="34" charset="-120"/>
              </a:rPr>
              <a:t>RESPONSE TO RFP 2</a:t>
            </a:r>
            <a:endParaRPr lang="en-US" sz="1300" dirty="0"/>
          </a:p>
        </p:txBody>
      </p:sp>
      <p:sp>
        <p:nvSpPr>
          <p:cNvPr id="5" name="Text 1"/>
          <p:cNvSpPr txBox="1"/>
          <p:nvPr/>
        </p:nvSpPr>
        <p:spPr>
          <a:xfrm>
            <a:off x="457200" y="2011680"/>
            <a:ext cx="7498080" cy="1143000"/>
          </a:xfrm>
          <a:prstGeom prst="rect">
            <a:avLst/>
          </a:prstGeom>
          <a:noFill/>
          <a:ln/>
        </p:spPr>
        <p:txBody>
          <a:bodyPr wrap="square" lIns="0" tIns="0" rIns="0" bIns="0" rtlCol="0" anchor="t"/>
          <a:lstStyle/>
          <a:p>
            <a:pPr indent="0" marL="0">
              <a:buNone/>
            </a:pPr>
            <a:r>
              <a:rPr lang="en-US" sz="3400" b="1" dirty="0">
                <a:solidFill>
                  <a:srgbClr val="152B56"/>
                </a:solidFill>
                <a:latin typeface="Cambria" pitchFamily="34" charset="0"/>
                <a:ea typeface="Cambria" pitchFamily="34" charset="-122"/>
                <a:cs typeface="Cambria" pitchFamily="34" charset="-120"/>
              </a:rPr>
              <a:t>Getting Australian Mutual Bank onto the </a:t>
            </a:r>
            <a:pPr indent="0" marL="0">
              <a:buNone/>
            </a:pPr>
            <a:r>
              <a:rPr lang="en-US" sz="3400" b="1" dirty="0">
                <a:solidFill>
                  <a:srgbClr val="1F8F74"/>
                </a:solidFill>
                <a:latin typeface="Cambria" pitchFamily="34" charset="0"/>
                <a:ea typeface="Cambria" pitchFamily="34" charset="-122"/>
                <a:cs typeface="Cambria" pitchFamily="34" charset="-120"/>
              </a:rPr>
              <a:t>home loan shortlist</a:t>
            </a:r>
            <a:endParaRPr lang="en-US" sz="3400" dirty="0"/>
          </a:p>
        </p:txBody>
      </p:sp>
      <p:sp>
        <p:nvSpPr>
          <p:cNvPr id="6" name="Text 2"/>
          <p:cNvSpPr txBox="1"/>
          <p:nvPr/>
        </p:nvSpPr>
        <p:spPr>
          <a:xfrm>
            <a:off x="457200" y="3200400"/>
            <a:ext cx="6400800" cy="365760"/>
          </a:xfrm>
          <a:prstGeom prst="rect">
            <a:avLst/>
          </a:prstGeom>
          <a:noFill/>
          <a:ln/>
        </p:spPr>
        <p:txBody>
          <a:bodyPr wrap="square" lIns="0" tIns="0" rIns="0" bIns="0" rtlCol="0" anchor="t"/>
          <a:lstStyle/>
          <a:p>
            <a:pPr indent="0" marL="0">
              <a:buNone/>
            </a:pPr>
            <a:r>
              <a:rPr lang="en-US" sz="1800" dirty="0">
                <a:solidFill>
                  <a:srgbClr val="556070"/>
                </a:solidFill>
                <a:latin typeface="Calibri" pitchFamily="34" charset="0"/>
                <a:ea typeface="Calibri" pitchFamily="34" charset="-122"/>
                <a:cs typeface="Calibri" pitchFamily="34" charset="-120"/>
              </a:rPr>
              <a:t>A $750k digital acquisition strategy</a:t>
            </a:r>
            <a:endParaRPr lang="en-US" sz="1800" dirty="0"/>
          </a:p>
        </p:txBody>
      </p:sp>
      <p:sp>
        <p:nvSpPr>
          <p:cNvPr id="7" name="Text 3"/>
          <p:cNvSpPr txBox="1"/>
          <p:nvPr/>
        </p:nvSpPr>
        <p:spPr>
          <a:xfrm>
            <a:off x="457200" y="4320540"/>
            <a:ext cx="7315200" cy="274320"/>
          </a:xfrm>
          <a:prstGeom prst="rect">
            <a:avLst/>
          </a:prstGeom>
          <a:noFill/>
          <a:ln/>
        </p:spPr>
        <p:txBody>
          <a:bodyPr wrap="square" lIns="0" tIns="0" rIns="0" bIns="0" rtlCol="0" anchor="t"/>
          <a:lstStyle/>
          <a:p>
            <a:pPr indent="0" marL="0">
              <a:buNone/>
            </a:pPr>
            <a:r>
              <a:rPr lang="en-US" sz="1200" i="1" dirty="0">
                <a:solidFill>
                  <a:srgbClr val="C9D6E8"/>
                </a:solidFill>
                <a:latin typeface="Calibri" pitchFamily="34" charset="0"/>
                <a:ea typeface="Calibri" pitchFamily="34" charset="-122"/>
                <a:cs typeface="Calibri" pitchFamily="34" charset="-120"/>
              </a:rPr>
              <a:t>XXX  ·  XXX  ·  XXX  ·  XXX  ·  XXX  ·  XXX</a:t>
            </a:r>
            <a:endParaRPr lang="en-US" sz="1200" dirty="0"/>
          </a:p>
        </p:txBody>
      </p:sp>
      <p:sp>
        <p:nvSpPr>
          <p:cNvPr id="8" name="Text 4"/>
          <p:cNvSpPr txBox="1"/>
          <p:nvPr/>
        </p:nvSpPr>
        <p:spPr>
          <a:xfrm>
            <a:off x="457200" y="4680585"/>
            <a:ext cx="7498080" cy="274320"/>
          </a:xfrm>
          <a:prstGeom prst="rect">
            <a:avLst/>
          </a:prstGeom>
          <a:noFill/>
          <a:ln/>
        </p:spPr>
        <p:txBody>
          <a:bodyPr wrap="square" lIns="0" tIns="0" rIns="0" bIns="0" rtlCol="0" anchor="t"/>
          <a:lstStyle/>
          <a:p>
            <a:pPr indent="0" marL="0">
              <a:buNone/>
            </a:pPr>
            <a:r>
              <a:rPr lang="en-US" sz="1000" dirty="0">
                <a:solidFill>
                  <a:srgbClr val="8FA3C4"/>
                </a:solidFill>
                <a:latin typeface="Calibri" pitchFamily="34" charset="0"/>
                <a:ea typeface="Calibri" pitchFamily="34" charset="-122"/>
                <a:cs typeface="Calibri" pitchFamily="34" charset="-120"/>
              </a:rPr>
              <a:t>FMBA5007 Innovation in Strategic Marketing  |  University of Sydney Business School  |  October 2026</a:t>
            </a:r>
            <a:endParaRPr lang="en-US" sz="1000" dirty="0"/>
          </a:p>
        </p:txBody>
      </p:sp>
      <p:sp>
        <p:nvSpPr>
          <p:cNvPr id="9" name="Text 5"/>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FA3C4"/>
                </a:solidFill>
                <a:latin typeface="Calibri" pitchFamily="34" charset="0"/>
                <a:ea typeface="Calibri" pitchFamily="34" charset="-122"/>
                <a:cs typeface="Calibri" pitchFamily="34" charset="-120"/>
              </a:rPr>
              <a:t>1</a:t>
            </a:r>
            <a:endParaRPr lang="en-US" sz="1000" dirty="0"/>
          </a:p>
        </p:txBody>
      </p:sp>
      <p:pic>
        <p:nvPicPr>
          <p:cNvPr id="11" name="Picture 10" descr="amb_logo_transparent.png"/>
          <p:cNvPicPr>
            <a:picLocks noChangeAspect="1"/>
          </p:cNvPicPr>
          <p:nvPr/>
        </p:nvPicPr>
        <p:blipFill>
          <a:blip r:embed="rId5"/>
          <a:stretch>
            <a:fillRect/>
          </a:stretch>
        </p:blipFill>
        <p:spPr>
          <a:xfrm>
            <a:off x="457200" y="411480"/>
            <a:ext cx="1854592" cy="50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b="1" dirty="0">
                <a:solidFill>
                  <a:srgbClr val="166257"/>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AMB loses home loan customers before its rate is compared, so the $750k should buy a place on the shortlist rather than reach</a:t>
            </a:r>
            <a:endParaRPr lang="en-US" sz="2000" dirty="0"/>
          </a:p>
        </p:txBody>
      </p:sp>
      <p:sp>
        <p:nvSpPr>
          <p:cNvPr id="5" name="Shape 2"/>
          <p:cNvSpPr/>
          <p:nvPr/>
        </p:nvSpPr>
        <p:spPr>
          <a:xfrm>
            <a:off x="457200" y="1280160"/>
            <a:ext cx="420624" cy="420624"/>
          </a:xfrm>
          <a:prstGeom prst="ellipse">
            <a:avLst/>
          </a:prstGeom>
          <a:solidFill>
            <a:srgbClr val="152B56"/>
          </a:solidFill>
          <a:ln w="12700">
            <a:solidFill>
              <a:srgbClr val="152B56"/>
            </a:solidFill>
            <a:prstDash val="solid"/>
          </a:ln>
        </p:spPr>
      </p:sp>
      <p:pic>
        <p:nvPicPr>
          <p:cNvPr id="6" name="Image 0" descr="preencoded.png">    </p:cNvPr>
          <p:cNvPicPr>
            <a:picLocks noChangeAspect="1"/>
          </p:cNvPicPr>
          <p:nvPr/>
        </p:nvPicPr>
        <p:blipFill>
          <a:blip r:embed="rId1"/>
          <a:stretch>
            <a:fillRect/>
          </a:stretch>
        </p:blipFill>
        <p:spPr>
          <a:xfrm>
            <a:off x="558150" y="1381110"/>
            <a:ext cx="218724" cy="218724"/>
          </a:xfrm>
          <a:prstGeom prst="rect">
            <a:avLst/>
          </a:prstGeom>
        </p:spPr>
      </p:pic>
      <p:sp>
        <p:nvSpPr>
          <p:cNvPr id="7" name="Text 3"/>
          <p:cNvSpPr txBox="1"/>
          <p:nvPr/>
        </p:nvSpPr>
        <p:spPr>
          <a:xfrm>
            <a:off x="1051560" y="1261872"/>
            <a:ext cx="7635240" cy="256032"/>
          </a:xfrm>
          <a:prstGeom prst="rect">
            <a:avLst/>
          </a:prstGeom>
          <a:noFill/>
          <a:ln/>
        </p:spPr>
        <p:txBody>
          <a:bodyPr wrap="square" lIns="0" tIns="0" rIns="0" bIns="0" rtlCol="0" anchor="t"/>
          <a:lstStyle/>
          <a:p>
            <a:pPr indent="0" marL="0">
              <a:buNone/>
            </a:pPr>
            <a:r>
              <a:rPr lang="en-US" sz="1500" b="1" dirty="0">
                <a:solidFill>
                  <a:srgbClr val="152B56"/>
                </a:solidFill>
                <a:latin typeface="Calibri" pitchFamily="34" charset="0"/>
                <a:ea typeface="Calibri" pitchFamily="34" charset="-122"/>
                <a:cs typeface="Calibri" pitchFamily="34" charset="-120"/>
              </a:rPr>
              <a:t>The shortlist is built before the rate is seen</a:t>
            </a:r>
            <a:endParaRPr lang="en-US" sz="1500" dirty="0"/>
          </a:p>
        </p:txBody>
      </p:sp>
      <p:sp>
        <p:nvSpPr>
          <p:cNvPr id="8" name="Text 4"/>
          <p:cNvSpPr txBox="1"/>
          <p:nvPr/>
        </p:nvSpPr>
        <p:spPr>
          <a:xfrm>
            <a:off x="1051560" y="1536192"/>
            <a:ext cx="7635240" cy="475488"/>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In all six borrower groups we studied, people compared two to four lenders they already knew. AMB was never among them, whether the borrower built the list or a broker did.</a:t>
            </a:r>
            <a:endParaRPr lang="en-US" sz="1300" dirty="0"/>
          </a:p>
        </p:txBody>
      </p:sp>
      <p:sp>
        <p:nvSpPr>
          <p:cNvPr id="9" name="Shape 5"/>
          <p:cNvSpPr/>
          <p:nvPr/>
        </p:nvSpPr>
        <p:spPr>
          <a:xfrm>
            <a:off x="1051560" y="2066544"/>
            <a:ext cx="7635240" cy="0"/>
          </a:xfrm>
          <a:prstGeom prst="line">
            <a:avLst/>
          </a:prstGeom>
          <a:noFill/>
          <a:ln w="9525">
            <a:solidFill>
              <a:srgbClr val="D9DEE7"/>
            </a:solidFill>
            <a:prstDash val="solid"/>
          </a:ln>
        </p:spPr>
      </p:sp>
      <p:sp>
        <p:nvSpPr>
          <p:cNvPr id="10" name="Shape 6"/>
          <p:cNvSpPr/>
          <p:nvPr/>
        </p:nvSpPr>
        <p:spPr>
          <a:xfrm>
            <a:off x="457200" y="2130552"/>
            <a:ext cx="420624" cy="420624"/>
          </a:xfrm>
          <a:prstGeom prst="ellipse">
            <a:avLst/>
          </a:prstGeom>
          <a:solidFill>
            <a:srgbClr val="152B56"/>
          </a:solidFill>
          <a:ln w="12700">
            <a:solidFill>
              <a:srgbClr val="152B56"/>
            </a:solidFill>
            <a:prstDash val="solid"/>
          </a:ln>
        </p:spPr>
      </p:sp>
      <p:pic>
        <p:nvPicPr>
          <p:cNvPr id="11" name="Image 1" descr="preencoded.png">    </p:cNvPr>
          <p:cNvPicPr>
            <a:picLocks noChangeAspect="1"/>
          </p:cNvPicPr>
          <p:nvPr/>
        </p:nvPicPr>
        <p:blipFill>
          <a:blip r:embed="rId2"/>
          <a:stretch>
            <a:fillRect/>
          </a:stretch>
        </p:blipFill>
        <p:spPr>
          <a:xfrm>
            <a:off x="558150" y="2231502"/>
            <a:ext cx="218724" cy="218724"/>
          </a:xfrm>
          <a:prstGeom prst="rect">
            <a:avLst/>
          </a:prstGeom>
        </p:spPr>
      </p:pic>
      <p:sp>
        <p:nvSpPr>
          <p:cNvPr id="12" name="Text 7"/>
          <p:cNvSpPr txBox="1"/>
          <p:nvPr/>
        </p:nvSpPr>
        <p:spPr>
          <a:xfrm>
            <a:off x="1051560" y="2112264"/>
            <a:ext cx="7635240" cy="256032"/>
          </a:xfrm>
          <a:prstGeom prst="rect">
            <a:avLst/>
          </a:prstGeom>
          <a:noFill/>
          <a:ln/>
        </p:spPr>
        <p:txBody>
          <a:bodyPr wrap="square" lIns="0" tIns="0" rIns="0" bIns="0" rtlCol="0" anchor="t"/>
          <a:lstStyle/>
          <a:p>
            <a:pPr indent="0" marL="0">
              <a:buNone/>
            </a:pPr>
            <a:r>
              <a:rPr lang="en-US" sz="1500" b="1" dirty="0">
                <a:solidFill>
                  <a:srgbClr val="152B56"/>
                </a:solidFill>
                <a:latin typeface="Calibri" pitchFamily="34" charset="0"/>
                <a:ea typeface="Calibri" pitchFamily="34" charset="-122"/>
                <a:cs typeface="Calibri" pitchFamily="34" charset="-120"/>
              </a:rPr>
              <a:t>AMB's product and trust position are stronger than its presence</a:t>
            </a:r>
            <a:endParaRPr lang="en-US" sz="1500" dirty="0"/>
          </a:p>
        </p:txBody>
      </p:sp>
      <p:sp>
        <p:nvSpPr>
          <p:cNvPr id="13" name="Text 8"/>
          <p:cNvSpPr txBox="1"/>
          <p:nvPr/>
        </p:nvSpPr>
        <p:spPr>
          <a:xfrm>
            <a:off x="1051560" y="2386584"/>
            <a:ext cx="7635240" cy="475488"/>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Its advertised variable rate is competitive with the big four's (5.94% up to 60% LVR), and customer-owned banks are the most trusted sector in banking (Roy Morgan). Neither fact reaches the moment of decision.</a:t>
            </a:r>
            <a:endParaRPr lang="en-US" sz="1300" dirty="0"/>
          </a:p>
        </p:txBody>
      </p:sp>
      <p:sp>
        <p:nvSpPr>
          <p:cNvPr id="14" name="Shape 9"/>
          <p:cNvSpPr/>
          <p:nvPr/>
        </p:nvSpPr>
        <p:spPr>
          <a:xfrm>
            <a:off x="1051560" y="2916936"/>
            <a:ext cx="7635240" cy="0"/>
          </a:xfrm>
          <a:prstGeom prst="line">
            <a:avLst/>
          </a:prstGeom>
          <a:noFill/>
          <a:ln w="9525">
            <a:solidFill>
              <a:srgbClr val="D9DEE7"/>
            </a:solidFill>
            <a:prstDash val="solid"/>
          </a:ln>
        </p:spPr>
      </p:sp>
      <p:sp>
        <p:nvSpPr>
          <p:cNvPr id="15" name="Shape 10"/>
          <p:cNvSpPr/>
          <p:nvPr/>
        </p:nvSpPr>
        <p:spPr>
          <a:xfrm>
            <a:off x="457200" y="2980944"/>
            <a:ext cx="420624" cy="420624"/>
          </a:xfrm>
          <a:prstGeom prst="ellipse">
            <a:avLst/>
          </a:prstGeom>
          <a:solidFill>
            <a:srgbClr val="1F8F74"/>
          </a:solidFill>
          <a:ln w="12700">
            <a:solidFill>
              <a:srgbClr val="1F8F74"/>
            </a:solidFill>
            <a:prstDash val="solid"/>
          </a:ln>
        </p:spPr>
      </p:sp>
      <p:pic>
        <p:nvPicPr>
          <p:cNvPr id="16" name="Image 2" descr="preencoded.png">    </p:cNvPr>
          <p:cNvPicPr>
            <a:picLocks noChangeAspect="1"/>
          </p:cNvPicPr>
          <p:nvPr/>
        </p:nvPicPr>
        <p:blipFill>
          <a:blip r:embed="rId3"/>
          <a:stretch>
            <a:fillRect/>
          </a:stretch>
        </p:blipFill>
        <p:spPr>
          <a:xfrm>
            <a:off x="558150" y="3081894"/>
            <a:ext cx="218724" cy="218724"/>
          </a:xfrm>
          <a:prstGeom prst="rect">
            <a:avLst/>
          </a:prstGeom>
        </p:spPr>
      </p:pic>
      <p:sp>
        <p:nvSpPr>
          <p:cNvPr id="17" name="Text 11"/>
          <p:cNvSpPr txBox="1"/>
          <p:nvPr/>
        </p:nvSpPr>
        <p:spPr>
          <a:xfrm>
            <a:off x="1051560" y="2962656"/>
            <a:ext cx="7635240" cy="256032"/>
          </a:xfrm>
          <a:prstGeom prst="rect">
            <a:avLst/>
          </a:prstGeom>
          <a:noFill/>
          <a:ln/>
        </p:spPr>
        <p:txBody>
          <a:bodyPr wrap="square" lIns="0" tIns="0" rIns="0" bIns="0" rtlCol="0" anchor="t"/>
          <a:lstStyle/>
          <a:p>
            <a:pPr indent="0" marL="0">
              <a:buNone/>
            </a:pPr>
            <a:r>
              <a:rPr lang="en-US" sz="1500" b="1" dirty="0">
                <a:solidFill>
                  <a:srgbClr val="152B56"/>
                </a:solidFill>
                <a:latin typeface="Calibri" pitchFamily="34" charset="0"/>
                <a:ea typeface="Calibri" pitchFamily="34" charset="-122"/>
                <a:cs typeface="Calibri" pitchFamily="34" charset="-120"/>
              </a:rPr>
              <a:t>Three moves place AMB where the shortlist is built</a:t>
            </a:r>
            <a:endParaRPr lang="en-US" sz="1500" dirty="0"/>
          </a:p>
        </p:txBody>
      </p:sp>
      <p:sp>
        <p:nvSpPr>
          <p:cNvPr id="18" name="Text 12"/>
          <p:cNvSpPr txBox="1"/>
          <p:nvPr/>
        </p:nvSpPr>
        <p:spPr>
          <a:xfrm>
            <a:off x="1051560" y="3236976"/>
            <a:ext cx="7635240" cy="475488"/>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Make AMB easy to verify online; get it into the broker's working set; and give the 280,000 existing members a check-your-offer link to send a friend.</a:t>
            </a:r>
            <a:endParaRPr lang="en-US" sz="1300" dirty="0"/>
          </a:p>
        </p:txBody>
      </p:sp>
      <p:sp>
        <p:nvSpPr>
          <p:cNvPr id="19" name="Shape 13"/>
          <p:cNvSpPr/>
          <p:nvPr/>
        </p:nvSpPr>
        <p:spPr>
          <a:xfrm>
            <a:off x="1051560" y="3767328"/>
            <a:ext cx="7635240" cy="0"/>
          </a:xfrm>
          <a:prstGeom prst="line">
            <a:avLst/>
          </a:prstGeom>
          <a:noFill/>
          <a:ln w="9525">
            <a:solidFill>
              <a:srgbClr val="D9DEE7"/>
            </a:solidFill>
            <a:prstDash val="solid"/>
          </a:ln>
        </p:spPr>
      </p:sp>
      <p:sp>
        <p:nvSpPr>
          <p:cNvPr id="20" name="Shape 14"/>
          <p:cNvSpPr/>
          <p:nvPr/>
        </p:nvSpPr>
        <p:spPr>
          <a:xfrm>
            <a:off x="457200" y="3831336"/>
            <a:ext cx="420624" cy="420624"/>
          </a:xfrm>
          <a:prstGeom prst="ellipse">
            <a:avLst/>
          </a:prstGeom>
          <a:solidFill>
            <a:srgbClr val="152B56"/>
          </a:solidFill>
          <a:ln w="12700">
            <a:solidFill>
              <a:srgbClr val="152B56"/>
            </a:solidFill>
            <a:prstDash val="solid"/>
          </a:ln>
        </p:spPr>
      </p:sp>
      <p:pic>
        <p:nvPicPr>
          <p:cNvPr id="21" name="Image 3" descr="preencoded.png">    </p:cNvPr>
          <p:cNvPicPr>
            <a:picLocks noChangeAspect="1"/>
          </p:cNvPicPr>
          <p:nvPr/>
        </p:nvPicPr>
        <p:blipFill>
          <a:blip r:embed="rId4"/>
          <a:stretch>
            <a:fillRect/>
          </a:stretch>
        </p:blipFill>
        <p:spPr>
          <a:xfrm>
            <a:off x="558150" y="3932286"/>
            <a:ext cx="218724" cy="218724"/>
          </a:xfrm>
          <a:prstGeom prst="rect">
            <a:avLst/>
          </a:prstGeom>
        </p:spPr>
      </p:pic>
      <p:sp>
        <p:nvSpPr>
          <p:cNvPr id="22" name="Text 15"/>
          <p:cNvSpPr txBox="1"/>
          <p:nvPr/>
        </p:nvSpPr>
        <p:spPr>
          <a:xfrm>
            <a:off x="1051560" y="3813048"/>
            <a:ext cx="7635240" cy="256032"/>
          </a:xfrm>
          <a:prstGeom prst="rect">
            <a:avLst/>
          </a:prstGeom>
          <a:noFill/>
          <a:ln/>
        </p:spPr>
        <p:txBody>
          <a:bodyPr wrap="square" lIns="0" tIns="0" rIns="0" bIns="0" rtlCol="0" anchor="t"/>
          <a:lstStyle/>
          <a:p>
            <a:pPr indent="0" marL="0">
              <a:buNone/>
            </a:pPr>
            <a:r>
              <a:rPr lang="en-US" sz="1500" b="1" dirty="0">
                <a:solidFill>
                  <a:srgbClr val="152B56"/>
                </a:solidFill>
                <a:latin typeface="Calibri" pitchFamily="34" charset="0"/>
                <a:ea typeface="Calibri" pitchFamily="34" charset="-122"/>
                <a:cs typeface="Calibri" pitchFamily="34" charset="-120"/>
              </a:rPr>
              <a:t>Budget and return</a:t>
            </a:r>
            <a:endParaRPr lang="en-US" sz="1500" dirty="0"/>
          </a:p>
        </p:txBody>
      </p:sp>
      <p:sp>
        <p:nvSpPr>
          <p:cNvPr id="23" name="Text 16"/>
          <p:cNvSpPr txBox="1"/>
          <p:nvPr/>
        </p:nvSpPr>
        <p:spPr>
          <a:xfrm>
            <a:off x="1051560" y="4087368"/>
            <a:ext cx="7635240" cy="475488"/>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Indicative split 20 / 55 / 15 / 10 across the three moves and measurement, to be re-derived from cost per funded loan. Return of XXX times on lifetime margin per funded loan.</a:t>
            </a:r>
            <a:endParaRPr lang="en-US" sz="1300" dirty="0"/>
          </a:p>
        </p:txBody>
      </p:sp>
      <p:sp>
        <p:nvSpPr>
          <p:cNvPr id="24" name="Text 17"/>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b="1" dirty="0">
                <a:solidFill>
                  <a:srgbClr val="166257"/>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Open to all Australians since the 2026 merger, AMB has to win members who have no reason to know it exists</a:t>
            </a:r>
            <a:endParaRPr lang="en-US" sz="2000" dirty="0"/>
          </a:p>
        </p:txBody>
      </p:sp>
      <p:sp>
        <p:nvSpPr>
          <p:cNvPr id="5" name="Shape 2"/>
          <p:cNvSpPr/>
          <p:nvPr/>
        </p:nvSpPr>
        <p:spPr>
          <a:xfrm>
            <a:off x="457200" y="1325880"/>
            <a:ext cx="2651760" cy="3200400"/>
          </a:xfrm>
          <a:prstGeom prst="roundRect">
            <a:avLst>
              <a:gd name="adj" fmla="val 2759"/>
            </a:avLst>
          </a:prstGeom>
          <a:solidFill>
            <a:srgbClr val="F1F4F9"/>
          </a:solidFill>
          <a:ln w="12700">
            <a:solidFill>
              <a:srgbClr val="F1F4F9"/>
            </a:solidFill>
            <a:prstDash val="solid"/>
          </a:ln>
        </p:spPr>
      </p:sp>
      <p:sp>
        <p:nvSpPr>
          <p:cNvPr id="6" name="Shape 3"/>
          <p:cNvSpPr/>
          <p:nvPr/>
        </p:nvSpPr>
        <p:spPr>
          <a:xfrm>
            <a:off x="685800" y="1554480"/>
            <a:ext cx="502920" cy="502920"/>
          </a:xfrm>
          <a:prstGeom prst="ellipse">
            <a:avLst/>
          </a:prstGeom>
          <a:solidFill>
            <a:srgbClr val="152B56"/>
          </a:solidFill>
          <a:ln w="12700">
            <a:solidFill>
              <a:srgbClr val="152B56"/>
            </a:solidFill>
            <a:prstDash val="solid"/>
          </a:ln>
        </p:spPr>
      </p:sp>
      <p:pic>
        <p:nvPicPr>
          <p:cNvPr id="7" name="Image 0" descr="preencoded.png">    </p:cNvPr>
          <p:cNvPicPr>
            <a:picLocks noChangeAspect="1"/>
          </p:cNvPicPr>
          <p:nvPr/>
        </p:nvPicPr>
        <p:blipFill>
          <a:blip r:embed="rId1"/>
          <a:stretch>
            <a:fillRect/>
          </a:stretch>
        </p:blipFill>
        <p:spPr>
          <a:xfrm>
            <a:off x="806501" y="1675181"/>
            <a:ext cx="261518" cy="261518"/>
          </a:xfrm>
          <a:prstGeom prst="rect">
            <a:avLst/>
          </a:prstGeom>
        </p:spPr>
      </p:pic>
      <p:sp>
        <p:nvSpPr>
          <p:cNvPr id="8" name="Text 4"/>
          <p:cNvSpPr txBox="1"/>
          <p:nvPr/>
        </p:nvSpPr>
        <p:spPr>
          <a:xfrm>
            <a:off x="685800" y="2194560"/>
            <a:ext cx="2240280" cy="548640"/>
          </a:xfrm>
          <a:prstGeom prst="rect">
            <a:avLst/>
          </a:prstGeom>
          <a:noFill/>
          <a:ln/>
        </p:spPr>
        <p:txBody>
          <a:bodyPr wrap="square" lIns="0" tIns="0" rIns="0" bIns="0" rtlCol="0" anchor="t"/>
          <a:lstStyle/>
          <a:p>
            <a:pPr indent="0" marL="0">
              <a:buNone/>
            </a:pPr>
            <a:r>
              <a:rPr lang="en-US" sz="1600" b="1" dirty="0">
                <a:solidFill>
                  <a:srgbClr val="152B56"/>
                </a:solidFill>
                <a:latin typeface="Calibri" pitchFamily="34" charset="0"/>
                <a:ea typeface="Calibri" pitchFamily="34" charset="-122"/>
                <a:cs typeface="Calibri" pitchFamily="34" charset="-120"/>
              </a:rPr>
              <a:t>The client</a:t>
            </a:r>
            <a:endParaRPr lang="en-US" sz="1600" dirty="0"/>
          </a:p>
        </p:txBody>
      </p:sp>
      <p:sp>
        <p:nvSpPr>
          <p:cNvPr id="9" name="Text 5"/>
          <p:cNvSpPr txBox="1"/>
          <p:nvPr/>
        </p:nvSpPr>
        <p:spPr>
          <a:xfrm>
            <a:off x="685800" y="2788920"/>
            <a:ext cx="2240280" cy="1645920"/>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Australian Mutual Bank, the open-eligibility brand of Teachers Mutual Bank Limited after the merger took effect on 1 May 2026. About 280,000 members across the merged group, concentrated in teaching, health and emergency services.</a:t>
            </a:r>
            <a:endParaRPr lang="en-US" sz="1300" dirty="0"/>
          </a:p>
        </p:txBody>
      </p:sp>
      <p:sp>
        <p:nvSpPr>
          <p:cNvPr id="10" name="Shape 6"/>
          <p:cNvSpPr/>
          <p:nvPr/>
        </p:nvSpPr>
        <p:spPr>
          <a:xfrm>
            <a:off x="3246120" y="1325880"/>
            <a:ext cx="2651760" cy="3200400"/>
          </a:xfrm>
          <a:prstGeom prst="roundRect">
            <a:avLst>
              <a:gd name="adj" fmla="val 2759"/>
            </a:avLst>
          </a:prstGeom>
          <a:solidFill>
            <a:srgbClr val="F1F4F9"/>
          </a:solidFill>
          <a:ln w="12700">
            <a:solidFill>
              <a:srgbClr val="F1F4F9"/>
            </a:solidFill>
            <a:prstDash val="solid"/>
          </a:ln>
        </p:spPr>
      </p:sp>
      <p:sp>
        <p:nvSpPr>
          <p:cNvPr id="11" name="Shape 7"/>
          <p:cNvSpPr/>
          <p:nvPr/>
        </p:nvSpPr>
        <p:spPr>
          <a:xfrm>
            <a:off x="3474720" y="1554480"/>
            <a:ext cx="502920" cy="502920"/>
          </a:xfrm>
          <a:prstGeom prst="ellipse">
            <a:avLst/>
          </a:prstGeom>
          <a:solidFill>
            <a:srgbClr val="152B56"/>
          </a:solidFill>
          <a:ln w="12700">
            <a:solidFill>
              <a:srgbClr val="152B56"/>
            </a:solidFill>
            <a:prstDash val="solid"/>
          </a:ln>
        </p:spPr>
      </p:sp>
      <p:pic>
        <p:nvPicPr>
          <p:cNvPr id="12" name="Image 1" descr="preencoded.png">    </p:cNvPr>
          <p:cNvPicPr>
            <a:picLocks noChangeAspect="1"/>
          </p:cNvPicPr>
          <p:nvPr/>
        </p:nvPicPr>
        <p:blipFill>
          <a:blip r:embed="rId2"/>
          <a:stretch>
            <a:fillRect/>
          </a:stretch>
        </p:blipFill>
        <p:spPr>
          <a:xfrm>
            <a:off x="3595421" y="1675181"/>
            <a:ext cx="261518" cy="261518"/>
          </a:xfrm>
          <a:prstGeom prst="rect">
            <a:avLst/>
          </a:prstGeom>
        </p:spPr>
      </p:pic>
      <p:sp>
        <p:nvSpPr>
          <p:cNvPr id="13" name="Text 8"/>
          <p:cNvSpPr txBox="1"/>
          <p:nvPr/>
        </p:nvSpPr>
        <p:spPr>
          <a:xfrm>
            <a:off x="3474720" y="2194560"/>
            <a:ext cx="2240280" cy="548640"/>
          </a:xfrm>
          <a:prstGeom prst="rect">
            <a:avLst/>
          </a:prstGeom>
          <a:noFill/>
          <a:ln/>
        </p:spPr>
        <p:txBody>
          <a:bodyPr wrap="square" lIns="0" tIns="0" rIns="0" bIns="0" rtlCol="0" anchor="t"/>
          <a:lstStyle/>
          <a:p>
            <a:pPr indent="0" marL="0">
              <a:buNone/>
            </a:pPr>
            <a:r>
              <a:rPr lang="en-US" sz="1600" b="1" dirty="0">
                <a:solidFill>
                  <a:srgbClr val="152B56"/>
                </a:solidFill>
                <a:latin typeface="Calibri" pitchFamily="34" charset="0"/>
                <a:ea typeface="Calibri" pitchFamily="34" charset="-122"/>
                <a:cs typeface="Calibri" pitchFamily="34" charset="-120"/>
              </a:rPr>
              <a:t>The ask</a:t>
            </a:r>
            <a:endParaRPr lang="en-US" sz="1600" dirty="0"/>
          </a:p>
        </p:txBody>
      </p:sp>
      <p:sp>
        <p:nvSpPr>
          <p:cNvPr id="14" name="Text 9"/>
          <p:cNvSpPr txBox="1"/>
          <p:nvPr/>
        </p:nvSpPr>
        <p:spPr>
          <a:xfrm>
            <a:off x="3474720" y="2788920"/>
            <a:ext cx="2240280" cy="1645920"/>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A digital acquisition strategy for home loans with a $750k budget, including metrics of success and an estimate of return on the investment.</a:t>
            </a:r>
            <a:endParaRPr lang="en-US" sz="1300" dirty="0"/>
          </a:p>
        </p:txBody>
      </p:sp>
      <p:sp>
        <p:nvSpPr>
          <p:cNvPr id="15" name="Shape 10"/>
          <p:cNvSpPr/>
          <p:nvPr/>
        </p:nvSpPr>
        <p:spPr>
          <a:xfrm>
            <a:off x="6035040" y="1325880"/>
            <a:ext cx="2651760" cy="3200400"/>
          </a:xfrm>
          <a:prstGeom prst="roundRect">
            <a:avLst>
              <a:gd name="adj" fmla="val 2759"/>
            </a:avLst>
          </a:prstGeom>
          <a:solidFill>
            <a:srgbClr val="152B56"/>
          </a:solidFill>
          <a:ln w="12700">
            <a:solidFill>
              <a:srgbClr val="152B56"/>
            </a:solidFill>
            <a:prstDash val="solid"/>
          </a:ln>
        </p:spPr>
      </p:sp>
      <p:sp>
        <p:nvSpPr>
          <p:cNvPr id="16" name="Shape 11"/>
          <p:cNvSpPr/>
          <p:nvPr/>
        </p:nvSpPr>
        <p:spPr>
          <a:xfrm>
            <a:off x="6263640" y="1554480"/>
            <a:ext cx="502920" cy="502920"/>
          </a:xfrm>
          <a:prstGeom prst="ellipse">
            <a:avLst/>
          </a:prstGeom>
          <a:solidFill>
            <a:srgbClr val="1F8F74"/>
          </a:solidFill>
          <a:ln w="12700">
            <a:solidFill>
              <a:srgbClr val="1F8F74"/>
            </a:solidFill>
            <a:prstDash val="solid"/>
          </a:ln>
        </p:spPr>
      </p:sp>
      <p:pic>
        <p:nvPicPr>
          <p:cNvPr id="17" name="Image 2" descr="preencoded.png">    </p:cNvPr>
          <p:cNvPicPr>
            <a:picLocks noChangeAspect="1"/>
          </p:cNvPicPr>
          <p:nvPr/>
        </p:nvPicPr>
        <p:blipFill>
          <a:blip r:embed="rId3"/>
          <a:stretch>
            <a:fillRect/>
          </a:stretch>
        </p:blipFill>
        <p:spPr>
          <a:xfrm>
            <a:off x="6384341" y="1675181"/>
            <a:ext cx="261518" cy="261518"/>
          </a:xfrm>
          <a:prstGeom prst="rect">
            <a:avLst/>
          </a:prstGeom>
        </p:spPr>
      </p:pic>
      <p:sp>
        <p:nvSpPr>
          <p:cNvPr id="18" name="Text 12"/>
          <p:cNvSpPr txBox="1"/>
          <p:nvPr/>
        </p:nvSpPr>
        <p:spPr>
          <a:xfrm>
            <a:off x="6263640" y="2194560"/>
            <a:ext cx="2240280" cy="5486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The issue, stated so AMB can act on it</a:t>
            </a:r>
            <a:endParaRPr lang="en-US" sz="1600" dirty="0"/>
          </a:p>
        </p:txBody>
      </p:sp>
      <p:sp>
        <p:nvSpPr>
          <p:cNvPr id="19" name="Text 13"/>
          <p:cNvSpPr txBox="1"/>
          <p:nvPr/>
        </p:nvSpPr>
        <p:spPr>
          <a:xfrm>
            <a:off x="6263640" y="2788920"/>
            <a:ext cx="2240280" cy="1645920"/>
          </a:xfrm>
          <a:prstGeom prst="rect">
            <a:avLst/>
          </a:prstGeom>
          <a:noFill/>
          <a:ln/>
        </p:spPr>
        <p:txBody>
          <a:bodyPr wrap="square" lIns="0" tIns="0" rIns="0" bIns="0" rtlCol="0" anchor="t"/>
          <a:lstStyle/>
          <a:p>
            <a:pPr indent="0" marL="0">
              <a:buNone/>
            </a:pPr>
            <a:r>
              <a:rPr lang="en-US" sz="1300" dirty="0">
                <a:solidFill>
                  <a:srgbClr val="C9D6E8"/>
                </a:solidFill>
                <a:latin typeface="Calibri" pitchFamily="34" charset="0"/>
                <a:ea typeface="Calibri" pitchFamily="34" charset="-122"/>
                <a:cs typeface="Calibri" pitchFamily="34" charset="-120"/>
              </a:rPr>
              <a:t>Borrowers and brokers screen out lenders they do not already trust before comparing rates. AMB has to pass that screen in the two places it happens: the borrower's own search and the broker's shortlist.</a:t>
            </a:r>
            <a:endParaRPr lang="en-US" sz="1300" dirty="0"/>
          </a:p>
        </p:txBody>
      </p:sp>
      <p:sp>
        <p:nvSpPr>
          <p:cNvPr id="20" name="Text 14"/>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Three sources of evidence: six journey maps, 17 questionnaire responses and five industry datasets</a:t>
            </a:r>
            <a:endParaRPr lang="en-US" sz="2000" dirty="0"/>
          </a:p>
        </p:txBody>
      </p:sp>
      <p:sp>
        <p:nvSpPr>
          <p:cNvPr id="23" name="Text 17"/>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Method sits in the What is stage of the design thinking process (Liedtka and Ogilvie, 2011). Journey maps completed September 2026; questionnaire fielded 30 September to 1 October 2026.</a:t>
            </a:r>
            <a:endParaRPr lang="en-US" sz="1000" dirty="0"/>
          </a:p>
        </p:txBody>
      </p:sp>
      <p:sp>
        <p:nvSpPr>
          <p:cNvPr id="24" name="Text 1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4</a:t>
            </a:r>
            <a:endParaRPr lang="en-US" sz="1000" dirty="0"/>
          </a:p>
        </p:txBody>
      </p:sp>
      <p:sp>
        <p:nvSpPr>
          <p:cNvPr id="26" name="TextBox 25"/>
          <p:cNvSpPr txBox="1"/>
          <p:nvPr/>
        </p:nvSpPr>
        <p:spPr>
          <a:xfrm>
            <a:off x="2537200" y="1190000"/>
            <a:ext cx="1200000" cy="1080000"/>
          </a:xfrm>
          <a:prstGeom prst="rect">
            <a:avLst/>
          </a:prstGeom>
          <a:noFill/>
        </p:spPr>
        <p:txBody>
          <a:bodyPr wrap="square">
            <a:spAutoFit/>
          </a:bodyPr>
          <a:lstStyle/>
          <a:p>
            <a:r>
              <a:rPr sz="4000" b="1">
                <a:solidFill>
                  <a:srgbClr val="152B56"/>
                </a:solidFill>
                <a:latin typeface="Cambria"/>
              </a:rPr>
              <a:t>6</a:t>
            </a:r>
          </a:p>
        </p:txBody>
      </p:sp>
      <p:sp>
        <p:nvSpPr>
          <p:cNvPr id="27" name="TextBox 26"/>
          <p:cNvSpPr txBox="1"/>
          <p:nvPr/>
        </p:nvSpPr>
        <p:spPr>
          <a:xfrm>
            <a:off x="3837200" y="1250000"/>
            <a:ext cx="4849600" cy="1080000"/>
          </a:xfrm>
          <a:prstGeom prst="rect">
            <a:avLst/>
          </a:prstGeom>
          <a:noFill/>
        </p:spPr>
        <p:txBody>
          <a:bodyPr wrap="square">
            <a:spAutoFit/>
          </a:bodyPr>
          <a:lstStyle/>
          <a:p>
            <a:pPr>
              <a:defRPr sz="1400" b="1">
                <a:solidFill>
                  <a:srgbClr val="166257"/>
                </a:solidFill>
                <a:latin typeface="Calibri"/>
              </a:defRPr>
            </a:pPr>
            <a:r>
              <a:t>customer journey maps</a:t>
            </a:r>
          </a:p>
          <a:p>
            <a:pPr>
              <a:spcBef>
                <a:spcPts val="400"/>
              </a:spcBef>
              <a:defRPr sz="1050">
                <a:solidFill>
                  <a:srgbClr val="556070"/>
                </a:solidFill>
                <a:latin typeface="Calibri"/>
              </a:defRPr>
            </a:pPr>
            <a:r>
              <a:t>One borrower group each. We wrote the map we assumed, did primary research, then rewrote it. Combined primary sample of 42 across the six.</a:t>
            </a:r>
          </a:p>
        </p:txBody>
      </p:sp>
      <p:sp>
        <p:nvSpPr>
          <p:cNvPr id="28" name="Rectangle 27"/>
          <p:cNvSpPr/>
          <p:nvPr/>
        </p:nvSpPr>
        <p:spPr>
          <a:xfrm>
            <a:off x="457200" y="2365000"/>
            <a:ext cx="8229600" cy="10000"/>
          </a:xfrm>
          <a:prstGeom prst="rect">
            <a:avLst/>
          </a:prstGeom>
          <a:solidFill>
            <a:srgbClr val="D9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4_row2.jpg"/>
          <p:cNvPicPr>
            <a:picLocks noChangeAspect="1"/>
          </p:cNvPicPr>
          <p:nvPr/>
        </p:nvPicPr>
        <p:blipFill>
          <a:blip r:embed="rId7"/>
          <a:stretch>
            <a:fillRect/>
          </a:stretch>
        </p:blipFill>
        <p:spPr>
          <a:xfrm>
            <a:off x="457200" y="2400000"/>
            <a:ext cx="1618983" cy="1080000"/>
          </a:xfrm>
          <a:prstGeom prst="rect">
            <a:avLst/>
          </a:prstGeom>
        </p:spPr>
      </p:pic>
      <p:sp>
        <p:nvSpPr>
          <p:cNvPr id="30" name="TextBox 29"/>
          <p:cNvSpPr txBox="1"/>
          <p:nvPr/>
        </p:nvSpPr>
        <p:spPr>
          <a:xfrm>
            <a:off x="2537200" y="2340000"/>
            <a:ext cx="1200000" cy="1080000"/>
          </a:xfrm>
          <a:prstGeom prst="rect">
            <a:avLst/>
          </a:prstGeom>
          <a:noFill/>
        </p:spPr>
        <p:txBody>
          <a:bodyPr wrap="square">
            <a:spAutoFit/>
          </a:bodyPr>
          <a:lstStyle/>
          <a:p>
            <a:r>
              <a:rPr sz="4000" b="1">
                <a:solidFill>
                  <a:srgbClr val="152B56"/>
                </a:solidFill>
                <a:latin typeface="Cambria"/>
              </a:rPr>
              <a:t>17</a:t>
            </a:r>
          </a:p>
        </p:txBody>
      </p:sp>
      <p:sp>
        <p:nvSpPr>
          <p:cNvPr id="31" name="TextBox 30"/>
          <p:cNvSpPr txBox="1"/>
          <p:nvPr/>
        </p:nvSpPr>
        <p:spPr>
          <a:xfrm>
            <a:off x="3837200" y="2400000"/>
            <a:ext cx="4849600" cy="1080000"/>
          </a:xfrm>
          <a:prstGeom prst="rect">
            <a:avLst/>
          </a:prstGeom>
          <a:noFill/>
        </p:spPr>
        <p:txBody>
          <a:bodyPr wrap="square">
            <a:spAutoFit/>
          </a:bodyPr>
          <a:lstStyle/>
          <a:p>
            <a:pPr>
              <a:defRPr sz="1400" b="1">
                <a:solidFill>
                  <a:srgbClr val="166257"/>
                </a:solidFill>
                <a:latin typeface="Calibri"/>
              </a:defRPr>
            </a:pPr>
            <a:r>
              <a:t>questionnaire responses</a:t>
            </a:r>
          </a:p>
          <a:p>
            <a:pPr>
              <a:spcBef>
                <a:spcPts val="400"/>
              </a:spcBef>
              <a:defRPr sz="1050">
                <a:solidFill>
                  <a:srgbClr val="556070"/>
                </a:solidFill>
                <a:latin typeface="Calibri"/>
              </a:defRPr>
            </a:pPr>
            <a:r>
              <a:t>One shared questionnaire across the two priority groups: 10 DIY borrowers, 4 broker-placed borrowers, plus 3 broker-side interviews (XXX to be added).</a:t>
            </a:r>
          </a:p>
        </p:txBody>
      </p:sp>
      <p:sp>
        <p:nvSpPr>
          <p:cNvPr id="32" name="Rectangle 31"/>
          <p:cNvSpPr/>
          <p:nvPr/>
        </p:nvSpPr>
        <p:spPr>
          <a:xfrm>
            <a:off x="457200" y="3515000"/>
            <a:ext cx="8229600" cy="10000"/>
          </a:xfrm>
          <a:prstGeom prst="rect">
            <a:avLst/>
          </a:prstGeom>
          <a:solidFill>
            <a:srgbClr val="D9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4_row3.jpg"/>
          <p:cNvPicPr>
            <a:picLocks noChangeAspect="1"/>
          </p:cNvPicPr>
          <p:nvPr/>
        </p:nvPicPr>
        <p:blipFill>
          <a:blip r:embed="rId8"/>
          <a:stretch>
            <a:fillRect/>
          </a:stretch>
        </p:blipFill>
        <p:spPr>
          <a:xfrm>
            <a:off x="457200" y="3550000"/>
            <a:ext cx="1620976" cy="1080000"/>
          </a:xfrm>
          <a:prstGeom prst="rect">
            <a:avLst/>
          </a:prstGeom>
        </p:spPr>
      </p:pic>
      <p:sp>
        <p:nvSpPr>
          <p:cNvPr id="34" name="TextBox 33"/>
          <p:cNvSpPr txBox="1"/>
          <p:nvPr/>
        </p:nvSpPr>
        <p:spPr>
          <a:xfrm>
            <a:off x="2537200" y="3490000"/>
            <a:ext cx="1200000" cy="1080000"/>
          </a:xfrm>
          <a:prstGeom prst="rect">
            <a:avLst/>
          </a:prstGeom>
          <a:noFill/>
        </p:spPr>
        <p:txBody>
          <a:bodyPr wrap="square">
            <a:spAutoFit/>
          </a:bodyPr>
          <a:lstStyle/>
          <a:p>
            <a:r>
              <a:rPr sz="4000" b="1">
                <a:solidFill>
                  <a:srgbClr val="152B56"/>
                </a:solidFill>
                <a:latin typeface="Cambria"/>
              </a:rPr>
              <a:t>5</a:t>
            </a:r>
          </a:p>
        </p:txBody>
      </p:sp>
      <p:sp>
        <p:nvSpPr>
          <p:cNvPr id="35" name="TextBox 34"/>
          <p:cNvSpPr txBox="1"/>
          <p:nvPr/>
        </p:nvSpPr>
        <p:spPr>
          <a:xfrm>
            <a:off x="3837200" y="3550000"/>
            <a:ext cx="4849600" cy="1080000"/>
          </a:xfrm>
          <a:prstGeom prst="rect">
            <a:avLst/>
          </a:prstGeom>
          <a:noFill/>
        </p:spPr>
        <p:txBody>
          <a:bodyPr wrap="square">
            <a:spAutoFit/>
          </a:bodyPr>
          <a:lstStyle/>
          <a:p>
            <a:pPr>
              <a:defRPr sz="1400" b="1">
                <a:solidFill>
                  <a:srgbClr val="166257"/>
                </a:solidFill>
                <a:latin typeface="Calibri"/>
              </a:defRPr>
            </a:pPr>
            <a:r>
              <a:t>industry datasets</a:t>
            </a:r>
          </a:p>
          <a:p>
            <a:pPr>
              <a:spcBef>
                <a:spcPts val="400"/>
              </a:spcBef>
              <a:defRPr sz="1050">
                <a:solidFill>
                  <a:srgbClr val="556070"/>
                </a:solidFill>
                <a:latin typeface="Calibri"/>
              </a:defRPr>
            </a:pPr>
            <a:r>
              <a:t>MFAA broker share, ACCC home loan pricing inquiry, COBA and Roy Morgan trust data, ASIC consumer research.</a:t>
            </a:r>
          </a:p>
        </p:txBody>
      </p:sp>
      <p:pic>
        <p:nvPicPr>
          <p:cNvPr id="36" name="Picture 35" descr="s4_row1.jpg"/>
          <p:cNvPicPr>
            <a:picLocks noChangeAspect="1"/>
          </p:cNvPicPr>
          <p:nvPr/>
        </p:nvPicPr>
        <p:blipFill>
          <a:blip r:embed="rId9"/>
          <a:stretch>
            <a:fillRect/>
          </a:stretch>
        </p:blipFill>
        <p:spPr>
          <a:xfrm>
            <a:off x="457200" y="1250000"/>
            <a:ext cx="1620000" cy="108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Brokers now write 81.6% of new home loans, and mutual banks receive 3.7% of what brokers place</a:t>
            </a:r>
            <a:endParaRPr lang="en-US" sz="2000" dirty="0"/>
          </a:p>
        </p:txBody>
      </p:sp>
      <p:graphicFrame>
        <p:nvGraphicFramePr>
          <p:cNvPr id="5" name="Chart 0" descr=""/>
          <p:cNvGraphicFramePr/>
          <p:nvPr/>
        </p:nvGraphicFramePr>
        <p:xfrm>
          <a:off x="365760" y="1234440"/>
          <a:ext cx="4572000" cy="32461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212080" y="1325880"/>
            <a:ext cx="3474720" cy="3108960"/>
          </a:xfrm>
          <a:prstGeom prst="roundRect">
            <a:avLst>
              <a:gd name="adj" fmla="val 2353"/>
            </a:avLst>
          </a:prstGeom>
          <a:solidFill>
            <a:srgbClr val="F1F4F9"/>
          </a:solidFill>
          <a:ln w="12700">
            <a:solidFill>
              <a:srgbClr val="F1F4F9"/>
            </a:solidFill>
            <a:prstDash val="solid"/>
          </a:ln>
        </p:spPr>
      </p:sp>
      <p:sp>
        <p:nvSpPr>
          <p:cNvPr id="7" name="Text 3"/>
          <p:cNvSpPr txBox="1"/>
          <p:nvPr/>
        </p:nvSpPr>
        <p:spPr>
          <a:xfrm>
            <a:off x="5440680" y="1463040"/>
            <a:ext cx="3017520" cy="777240"/>
          </a:xfrm>
          <a:prstGeom prst="rect">
            <a:avLst/>
          </a:prstGeom>
          <a:noFill/>
          <a:ln/>
        </p:spPr>
        <p:txBody>
          <a:bodyPr wrap="square" lIns="0" tIns="0" rIns="0" bIns="0" rtlCol="0" anchor="ctr"/>
          <a:lstStyle/>
          <a:p>
            <a:pPr indent="0" marL="0">
              <a:buNone/>
            </a:pPr>
            <a:r>
              <a:rPr lang="en-US" sz="4800" b="1" dirty="0">
                <a:solidFill>
                  <a:srgbClr val="166257"/>
                </a:solidFill>
                <a:latin typeface="Cambria" pitchFamily="34" charset="0"/>
                <a:ea typeface="Cambria" pitchFamily="34" charset="-122"/>
                <a:cs typeface="Cambria" pitchFamily="34" charset="-120"/>
              </a:rPr>
              <a:t>3.7%</a:t>
            </a:r>
            <a:endParaRPr lang="en-US" sz="4800" dirty="0"/>
          </a:p>
        </p:txBody>
      </p:sp>
      <p:sp>
        <p:nvSpPr>
          <p:cNvPr id="8" name="Text 4"/>
          <p:cNvSpPr txBox="1"/>
          <p:nvPr/>
        </p:nvSpPr>
        <p:spPr>
          <a:xfrm>
            <a:off x="5440680" y="2240280"/>
            <a:ext cx="3017520" cy="822960"/>
          </a:xfrm>
          <a:prstGeom prst="rect">
            <a:avLst/>
          </a:prstGeom>
          <a:noFill/>
          <a:ln/>
        </p:spPr>
        <p:txBody>
          <a:bodyPr wrap="square" lIns="0" tIns="0" rIns="0" bIns="0" rtlCol="0" anchor="t"/>
          <a:lstStyle/>
          <a:p>
            <a:pPr indent="0" marL="0">
              <a:buNone/>
            </a:pPr>
            <a:r>
              <a:rPr lang="en-US" sz="1400" dirty="0">
                <a:solidFill>
                  <a:srgbClr val="1E2633"/>
                </a:solidFill>
                <a:latin typeface="Calibri" pitchFamily="34" charset="0"/>
                <a:ea typeface="Calibri" pitchFamily="34" charset="-122"/>
                <a:cs typeface="Calibri" pitchFamily="34" charset="-120"/>
              </a:rPr>
              <a:t>of broker-originated lending went to mutual banks in 2024, against 39.9% to the major banks</a:t>
            </a:r>
            <a:endParaRPr lang="en-US" sz="1400" dirty="0"/>
          </a:p>
        </p:txBody>
      </p:sp>
      <p:sp>
        <p:nvSpPr>
          <p:cNvPr id="9" name="Shape 5"/>
          <p:cNvSpPr/>
          <p:nvPr/>
        </p:nvSpPr>
        <p:spPr>
          <a:xfrm>
            <a:off x="5440680" y="3154680"/>
            <a:ext cx="3017520" cy="0"/>
          </a:xfrm>
          <a:prstGeom prst="line">
            <a:avLst/>
          </a:prstGeom>
          <a:noFill/>
          <a:ln w="9525">
            <a:solidFill>
              <a:srgbClr val="D9DEE7"/>
            </a:solidFill>
            <a:prstDash val="solid"/>
          </a:ln>
        </p:spPr>
      </p:sp>
      <p:sp>
        <p:nvSpPr>
          <p:cNvPr id="10" name="Text 6"/>
          <p:cNvSpPr txBox="1"/>
          <p:nvPr/>
        </p:nvSpPr>
        <p:spPr>
          <a:xfrm>
            <a:off x="5440680" y="3291840"/>
            <a:ext cx="3017520" cy="1051560"/>
          </a:xfrm>
          <a:prstGeom prst="rect">
            <a:avLst/>
          </a:prstGeom>
          <a:noFill/>
          <a:ln/>
        </p:spPr>
        <p:txBody>
          <a:bodyPr wrap="square" lIns="0" tIns="0" rIns="0" bIns="0" rtlCol="0" anchor="t"/>
          <a:lstStyle/>
          <a:p>
            <a:pPr indent="0" marL="0">
              <a:buNone/>
            </a:pPr>
            <a:r>
              <a:rPr lang="en-US" sz="1400" dirty="0">
                <a:solidFill>
                  <a:srgbClr val="1E2633"/>
                </a:solidFill>
                <a:latin typeface="Calibri" pitchFamily="34" charset="0"/>
                <a:ea typeface="Calibri" pitchFamily="34" charset="-122"/>
                <a:cs typeface="Calibri" pitchFamily="34" charset="-120"/>
              </a:rPr>
              <a:t>74% of Australians cannot say what a customer-owned bank is, although the sector has been the most trusted in banking for two years running.</a:t>
            </a:r>
            <a:endParaRPr lang="en-US" sz="1400" dirty="0"/>
          </a:p>
        </p:txBody>
      </p:sp>
      <p:sp>
        <p:nvSpPr>
          <p:cNvPr id="11" name="Text 7"/>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MFAA quarterly market share: Jun 2018 and Jun 2026 (MFAA, Sep 2026), Mar 2026 (MFAA, Jun 2026), Sep 2024 (MFAA, 2024); MFAA Industry Intelligence Service (2024); COBA (2026); COBA (2025), citing Roy Morgan Risk Monitor.</a:t>
            </a:r>
            <a:endParaRPr lang="en-US" sz="1000" dirty="0"/>
          </a:p>
        </p:txBody>
      </p:sp>
      <p:sp>
        <p:nvSpPr>
          <p:cNvPr id="12"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All six journey maps found the same mechanism: the shortlist was built from familiar names before any rate was compared</a:t>
            </a:r>
            <a:endParaRPr lang="en-US" sz="2000" dirty="0"/>
          </a:p>
        </p:txBody>
      </p:sp>
      <p:sp>
        <p:nvSpPr>
          <p:cNvPr id="6" name="Text 2"/>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Six individual customer journey maps, FMBA5007 Assignment 1, September 2026. n is the primary research sample in each report.</a:t>
            </a:r>
            <a:endParaRPr lang="en-US" sz="1000" dirty="0"/>
          </a:p>
        </p:txBody>
      </p:sp>
      <p:sp>
        <p:nvSpPr>
          <p:cNvPr id="7"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6</a:t>
            </a:r>
            <a:endParaRPr lang="en-US" sz="1000" dirty="0"/>
          </a:p>
        </p:txBody>
      </p:sp>
      <p:sp>
        <p:nvSpPr>
          <p:cNvPr id="8" name="Rectangle 7"/>
          <p:cNvSpPr/>
          <p:nvPr/>
        </p:nvSpPr>
        <p:spPr>
          <a:xfrm>
            <a:off x="457200" y="1230000"/>
            <a:ext cx="1500000" cy="330000"/>
          </a:xfrm>
          <a:prstGeom prst="rect">
            <a:avLst/>
          </a:prstGeom>
          <a:solidFill>
            <a:srgbClr val="152B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50" b="1">
                <a:solidFill>
                  <a:srgbClr val="FFFFFF"/>
                </a:solidFill>
                <a:latin typeface="Calibri"/>
              </a:defRPr>
            </a:pPr>
            <a:r>
              <a:t>Borrower group</a:t>
            </a:r>
          </a:p>
        </p:txBody>
      </p:sp>
      <p:sp>
        <p:nvSpPr>
          <p:cNvPr id="9" name="Rectangle 8"/>
          <p:cNvSpPr/>
          <p:nvPr/>
        </p:nvSpPr>
        <p:spPr>
          <a:xfrm>
            <a:off x="1957200" y="1230000"/>
            <a:ext cx="500000" cy="330000"/>
          </a:xfrm>
          <a:prstGeom prst="rect">
            <a:avLst/>
          </a:prstGeom>
          <a:solidFill>
            <a:srgbClr val="152B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50" b="1">
                <a:solidFill>
                  <a:srgbClr val="FFFFFF"/>
                </a:solidFill>
                <a:latin typeface="Calibri"/>
              </a:defRPr>
            </a:pPr>
            <a:r>
              <a:t>n</a:t>
            </a:r>
          </a:p>
        </p:txBody>
      </p:sp>
      <p:sp>
        <p:nvSpPr>
          <p:cNvPr id="10" name="Rectangle 9"/>
          <p:cNvSpPr/>
          <p:nvPr/>
        </p:nvSpPr>
        <p:spPr>
          <a:xfrm>
            <a:off x="2457200" y="1230000"/>
            <a:ext cx="4200000" cy="330000"/>
          </a:xfrm>
          <a:prstGeom prst="rect">
            <a:avLst/>
          </a:prstGeom>
          <a:solidFill>
            <a:srgbClr val="152B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50" b="1">
                <a:solidFill>
                  <a:srgbClr val="FFFFFF"/>
                </a:solidFill>
                <a:latin typeface="Calibri"/>
              </a:defRPr>
            </a:pPr>
            <a:r>
              <a:t>What the research found</a:t>
            </a:r>
          </a:p>
        </p:txBody>
      </p:sp>
      <p:sp>
        <p:nvSpPr>
          <p:cNvPr id="11" name="Rectangle 10"/>
          <p:cNvSpPr/>
          <p:nvPr/>
        </p:nvSpPr>
        <p:spPr>
          <a:xfrm>
            <a:off x="6657200" y="1230000"/>
            <a:ext cx="2029600" cy="330000"/>
          </a:xfrm>
          <a:prstGeom prst="rect">
            <a:avLst/>
          </a:prstGeom>
          <a:solidFill>
            <a:srgbClr val="152B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50" b="1">
                <a:solidFill>
                  <a:srgbClr val="FFFFFF"/>
                </a:solidFill>
                <a:latin typeface="Calibri"/>
              </a:defRPr>
            </a:pPr>
            <a:r>
              <a:t>Where AMB is lost</a:t>
            </a:r>
          </a:p>
        </p:txBody>
      </p:sp>
      <p:sp>
        <p:nvSpPr>
          <p:cNvPr id="12" name="Rectangle 11"/>
          <p:cNvSpPr/>
          <p:nvPr/>
        </p:nvSpPr>
        <p:spPr>
          <a:xfrm>
            <a:off x="457200" y="1560000"/>
            <a:ext cx="15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00" b="1">
                <a:solidFill>
                  <a:srgbClr val="152B56"/>
                </a:solidFill>
                <a:latin typeface="Calibri"/>
              </a:defRPr>
            </a:pPr>
            <a:r>
              <a:t>Direct to big four</a:t>
            </a:r>
          </a:p>
        </p:txBody>
      </p:sp>
      <p:sp>
        <p:nvSpPr>
          <p:cNvPr id="13" name="Rectangle 12"/>
          <p:cNvSpPr/>
          <p:nvPr/>
        </p:nvSpPr>
        <p:spPr>
          <a:xfrm>
            <a:off x="1957200" y="1560000"/>
            <a:ext cx="5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00" b="0">
                <a:solidFill>
                  <a:srgbClr val="556070"/>
                </a:solidFill>
                <a:latin typeface="Calibri"/>
              </a:defRPr>
            </a:pPr>
            <a:r>
              <a:t>6</a:t>
            </a:r>
          </a:p>
        </p:txBody>
      </p:sp>
      <p:sp>
        <p:nvSpPr>
          <p:cNvPr id="14" name="Rectangle 13"/>
          <p:cNvSpPr/>
          <p:nvPr/>
        </p:nvSpPr>
        <p:spPr>
          <a:xfrm>
            <a:off x="2457200" y="1560000"/>
            <a:ext cx="42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00" b="0">
                <a:solidFill>
                  <a:srgbClr val="556070"/>
                </a:solidFill>
                <a:latin typeface="Calibri"/>
              </a:defRPr>
            </a:pPr>
            <a:r>
              <a:t>The household decides. "Alternatives" only ever meant another big-four bank.</a:t>
            </a:r>
          </a:p>
        </p:txBody>
      </p:sp>
      <p:sp>
        <p:nvSpPr>
          <p:cNvPr id="15" name="Rectangle 14"/>
          <p:cNvSpPr/>
          <p:nvPr/>
        </p:nvSpPr>
        <p:spPr>
          <a:xfrm>
            <a:off x="6657200" y="1560000"/>
            <a:ext cx="20296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50" b="1">
                <a:solidFill>
                  <a:srgbClr val="166257"/>
                </a:solidFill>
                <a:latin typeface="Calibri"/>
              </a:defRPr>
            </a:pPr>
            <a:r>
              <a:t>Never evaluated</a:t>
            </a:r>
          </a:p>
        </p:txBody>
      </p:sp>
      <p:sp>
        <p:nvSpPr>
          <p:cNvPr id="16" name="Rectangle 15"/>
          <p:cNvSpPr/>
          <p:nvPr/>
        </p:nvSpPr>
        <p:spPr>
          <a:xfrm>
            <a:off x="457200" y="2060000"/>
            <a:ext cx="15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00" b="1">
                <a:solidFill>
                  <a:srgbClr val="152B56"/>
                </a:solidFill>
                <a:latin typeface="Calibri"/>
              </a:defRPr>
            </a:pPr>
            <a:r>
              <a:t>Broker-placed</a:t>
            </a:r>
          </a:p>
        </p:txBody>
      </p:sp>
      <p:sp>
        <p:nvSpPr>
          <p:cNvPr id="17" name="Rectangle 16"/>
          <p:cNvSpPr/>
          <p:nvPr/>
        </p:nvSpPr>
        <p:spPr>
          <a:xfrm>
            <a:off x="1957200" y="2060000"/>
            <a:ext cx="5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00" b="0">
                <a:solidFill>
                  <a:srgbClr val="556070"/>
                </a:solidFill>
                <a:latin typeface="Calibri"/>
              </a:defRPr>
            </a:pPr>
            <a:r>
              <a:t>8</a:t>
            </a:r>
          </a:p>
        </p:txBody>
      </p:sp>
      <p:sp>
        <p:nvSpPr>
          <p:cNvPr id="18" name="Rectangle 17"/>
          <p:cNvSpPr/>
          <p:nvPr/>
        </p:nvSpPr>
        <p:spPr>
          <a:xfrm>
            <a:off x="2457200" y="2060000"/>
            <a:ext cx="42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00" b="0">
                <a:solidFill>
                  <a:srgbClr val="556070"/>
                </a:solidFill>
                <a:latin typeface="Calibri"/>
              </a:defRPr>
            </a:pPr>
            <a:r>
              <a:t>The market was the two to four lenders the broker presented. No one recalled AMB in that set.</a:t>
            </a:r>
          </a:p>
        </p:txBody>
      </p:sp>
      <p:sp>
        <p:nvSpPr>
          <p:cNvPr id="19" name="Rectangle 18"/>
          <p:cNvSpPr/>
          <p:nvPr/>
        </p:nvSpPr>
        <p:spPr>
          <a:xfrm>
            <a:off x="6657200" y="2060000"/>
            <a:ext cx="20296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50" b="1">
                <a:solidFill>
                  <a:srgbClr val="166257"/>
                </a:solidFill>
                <a:latin typeface="Calibri"/>
              </a:defRPr>
            </a:pPr>
            <a:r>
              <a:t>Absent from working set</a:t>
            </a:r>
          </a:p>
        </p:txBody>
      </p:sp>
      <p:sp>
        <p:nvSpPr>
          <p:cNvPr id="20" name="Rectangle 19"/>
          <p:cNvSpPr/>
          <p:nvPr/>
        </p:nvSpPr>
        <p:spPr>
          <a:xfrm>
            <a:off x="457200" y="2560000"/>
            <a:ext cx="15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00" b="1">
                <a:solidFill>
                  <a:srgbClr val="152B56"/>
                </a:solidFill>
                <a:latin typeface="Calibri"/>
              </a:defRPr>
            </a:pPr>
            <a:r>
              <a:t>DIY online</a:t>
            </a:r>
          </a:p>
        </p:txBody>
      </p:sp>
      <p:sp>
        <p:nvSpPr>
          <p:cNvPr id="21" name="Rectangle 20"/>
          <p:cNvSpPr/>
          <p:nvPr/>
        </p:nvSpPr>
        <p:spPr>
          <a:xfrm>
            <a:off x="1957200" y="2560000"/>
            <a:ext cx="5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00" b="0">
                <a:solidFill>
                  <a:srgbClr val="556070"/>
                </a:solidFill>
                <a:latin typeface="Calibri"/>
              </a:defRPr>
            </a:pPr>
            <a:r>
              <a:t>9</a:t>
            </a:r>
          </a:p>
        </p:txBody>
      </p:sp>
      <p:sp>
        <p:nvSpPr>
          <p:cNvPr id="22" name="Rectangle 21"/>
          <p:cNvSpPr/>
          <p:nvPr/>
        </p:nvSpPr>
        <p:spPr>
          <a:xfrm>
            <a:off x="2457200" y="2560000"/>
            <a:ext cx="42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00" b="0">
                <a:solidFill>
                  <a:srgbClr val="556070"/>
                </a:solidFill>
                <a:latin typeface="Calibri"/>
              </a:defRPr>
            </a:pPr>
            <a:r>
              <a:t>Search starts with friends and the existing bank's app. All seven who chose went to a big-four bank.</a:t>
            </a:r>
          </a:p>
        </p:txBody>
      </p:sp>
      <p:sp>
        <p:nvSpPr>
          <p:cNvPr id="23" name="Rectangle 22"/>
          <p:cNvSpPr/>
          <p:nvPr/>
        </p:nvSpPr>
        <p:spPr>
          <a:xfrm>
            <a:off x="6657200" y="2560000"/>
            <a:ext cx="20296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50" b="1">
                <a:solidFill>
                  <a:srgbClr val="166257"/>
                </a:solidFill>
                <a:latin typeface="Calibri"/>
              </a:defRPr>
            </a:pPr>
            <a:r>
              <a:t>Scrolled past</a:t>
            </a:r>
          </a:p>
        </p:txBody>
      </p:sp>
      <p:sp>
        <p:nvSpPr>
          <p:cNvPr id="24" name="Rectangle 23"/>
          <p:cNvSpPr/>
          <p:nvPr/>
        </p:nvSpPr>
        <p:spPr>
          <a:xfrm>
            <a:off x="457200" y="3060000"/>
            <a:ext cx="15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00" b="1">
                <a:solidFill>
                  <a:srgbClr val="152B56"/>
                </a:solidFill>
                <a:latin typeface="Calibri"/>
              </a:defRPr>
            </a:pPr>
            <a:r>
              <a:t>Refinancers</a:t>
            </a:r>
          </a:p>
        </p:txBody>
      </p:sp>
      <p:sp>
        <p:nvSpPr>
          <p:cNvPr id="25" name="Rectangle 24"/>
          <p:cNvSpPr/>
          <p:nvPr/>
        </p:nvSpPr>
        <p:spPr>
          <a:xfrm>
            <a:off x="1957200" y="3060000"/>
            <a:ext cx="5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00" b="0">
                <a:solidFill>
                  <a:srgbClr val="556070"/>
                </a:solidFill>
                <a:latin typeface="Calibri"/>
              </a:defRPr>
            </a:pPr>
            <a:r>
              <a:t>9</a:t>
            </a:r>
          </a:p>
        </p:txBody>
      </p:sp>
      <p:sp>
        <p:nvSpPr>
          <p:cNvPr id="26" name="Rectangle 25"/>
          <p:cNvSpPr/>
          <p:nvPr/>
        </p:nvSpPr>
        <p:spPr>
          <a:xfrm>
            <a:off x="2457200" y="3060000"/>
            <a:ext cx="42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00" b="0">
                <a:solidFill>
                  <a:srgbClr val="556070"/>
                </a:solidFill>
                <a:latin typeface="Calibri"/>
              </a:defRPr>
            </a:pPr>
            <a:r>
              <a:t>Ads and comparison sites trigger the search; brand recognition was the top factor in the choice.</a:t>
            </a:r>
          </a:p>
        </p:txBody>
      </p:sp>
      <p:sp>
        <p:nvSpPr>
          <p:cNvPr id="27" name="Rectangle 26"/>
          <p:cNvSpPr/>
          <p:nvPr/>
        </p:nvSpPr>
        <p:spPr>
          <a:xfrm>
            <a:off x="6657200" y="3060000"/>
            <a:ext cx="20296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50" b="1">
                <a:solidFill>
                  <a:srgbClr val="166257"/>
                </a:solidFill>
                <a:latin typeface="Calibri"/>
              </a:defRPr>
            </a:pPr>
            <a:r>
              <a:t>Not recognised</a:t>
            </a:r>
          </a:p>
        </p:txBody>
      </p:sp>
      <p:sp>
        <p:nvSpPr>
          <p:cNvPr id="28" name="Rectangle 27"/>
          <p:cNvSpPr/>
          <p:nvPr/>
        </p:nvSpPr>
        <p:spPr>
          <a:xfrm>
            <a:off x="457200" y="3560000"/>
            <a:ext cx="15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00" b="1">
                <a:solidFill>
                  <a:srgbClr val="152B56"/>
                </a:solidFill>
                <a:latin typeface="Calibri"/>
              </a:defRPr>
            </a:pPr>
            <a:r>
              <a:t>Upgraders</a:t>
            </a:r>
          </a:p>
        </p:txBody>
      </p:sp>
      <p:sp>
        <p:nvSpPr>
          <p:cNvPr id="29" name="Rectangle 28"/>
          <p:cNvSpPr/>
          <p:nvPr/>
        </p:nvSpPr>
        <p:spPr>
          <a:xfrm>
            <a:off x="1957200" y="3560000"/>
            <a:ext cx="5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00" b="0">
                <a:solidFill>
                  <a:srgbClr val="556070"/>
                </a:solidFill>
                <a:latin typeface="Calibri"/>
              </a:defRPr>
            </a:pPr>
            <a:r>
              <a:t>6</a:t>
            </a:r>
          </a:p>
        </p:txBody>
      </p:sp>
      <p:sp>
        <p:nvSpPr>
          <p:cNvPr id="30" name="Rectangle 29"/>
          <p:cNvSpPr/>
          <p:nvPr/>
        </p:nvSpPr>
        <p:spPr>
          <a:xfrm>
            <a:off x="2457200" y="3560000"/>
            <a:ext cx="42000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00" b="0">
                <a:solidFill>
                  <a:srgbClr val="556070"/>
                </a:solidFill>
                <a:latin typeface="Calibri"/>
              </a:defRPr>
            </a:pPr>
            <a:r>
              <a:t>Comparison sites build awareness, not trust. The old lender calls back on discharge with a better rate.</a:t>
            </a:r>
          </a:p>
        </p:txBody>
      </p:sp>
      <p:sp>
        <p:nvSpPr>
          <p:cNvPr id="31" name="Rectangle 30"/>
          <p:cNvSpPr/>
          <p:nvPr/>
        </p:nvSpPr>
        <p:spPr>
          <a:xfrm>
            <a:off x="6657200" y="3560000"/>
            <a:ext cx="2029600" cy="500000"/>
          </a:xfrm>
          <a:prstGeom prst="rect">
            <a:avLst/>
          </a:prstGeom>
          <a:solidFill>
            <a:srgbClr val="F1F4F9"/>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50" b="1">
                <a:solidFill>
                  <a:srgbClr val="166257"/>
                </a:solidFill>
                <a:latin typeface="Calibri"/>
              </a:defRPr>
            </a:pPr>
            <a:r>
              <a:t>Outbid at the close</a:t>
            </a:r>
          </a:p>
        </p:txBody>
      </p:sp>
      <p:sp>
        <p:nvSpPr>
          <p:cNvPr id="32" name="Rectangle 31"/>
          <p:cNvSpPr/>
          <p:nvPr/>
        </p:nvSpPr>
        <p:spPr>
          <a:xfrm>
            <a:off x="457200" y="4060000"/>
            <a:ext cx="15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1000" b="1">
                <a:solidFill>
                  <a:srgbClr val="152B56"/>
                </a:solidFill>
                <a:latin typeface="Calibri"/>
              </a:defRPr>
            </a:pPr>
            <a:r>
              <a:t>First-home buyers</a:t>
            </a:r>
          </a:p>
        </p:txBody>
      </p:sp>
      <p:sp>
        <p:nvSpPr>
          <p:cNvPr id="33" name="Rectangle 32"/>
          <p:cNvSpPr/>
          <p:nvPr/>
        </p:nvSpPr>
        <p:spPr>
          <a:xfrm>
            <a:off x="1957200" y="4060000"/>
            <a:ext cx="5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defRPr sz="1000" b="0">
                <a:solidFill>
                  <a:srgbClr val="556070"/>
                </a:solidFill>
                <a:latin typeface="Calibri"/>
              </a:defRPr>
            </a:pPr>
            <a:r>
              <a:t>4</a:t>
            </a:r>
          </a:p>
        </p:txBody>
      </p:sp>
      <p:sp>
        <p:nvSpPr>
          <p:cNvPr id="34" name="Rectangle 33"/>
          <p:cNvSpPr/>
          <p:nvPr/>
        </p:nvSpPr>
        <p:spPr>
          <a:xfrm>
            <a:off x="2457200" y="4060000"/>
            <a:ext cx="42000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00" b="0">
                <a:solidFill>
                  <a:srgbClr val="556070"/>
                </a:solidFill>
                <a:latin typeface="Calibri"/>
              </a:defRPr>
            </a:pPr>
            <a:r>
              <a:t>Discovery ran through a broker or a parent. None had heard of AMB.</a:t>
            </a:r>
          </a:p>
        </p:txBody>
      </p:sp>
      <p:sp>
        <p:nvSpPr>
          <p:cNvPr id="35" name="Rectangle 34"/>
          <p:cNvSpPr/>
          <p:nvPr/>
        </p:nvSpPr>
        <p:spPr>
          <a:xfrm>
            <a:off x="6657200" y="4060000"/>
            <a:ext cx="2029600" cy="50000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l">
              <a:defRPr sz="950" b="1">
                <a:solidFill>
                  <a:srgbClr val="166257"/>
                </a:solidFill>
                <a:latin typeface="Calibri"/>
              </a:defRPr>
            </a:pPr>
            <a:r>
              <a:t>Never heard of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DIY and broker-placed borrowers are prioritised because they are the only two groups whose shortlist a $750k budget can reach</a:t>
            </a:r>
            <a:endParaRPr lang="en-US" sz="2000" dirty="0"/>
          </a:p>
        </p:txBody>
      </p:sp>
      <p:sp>
        <p:nvSpPr>
          <p:cNvPr id="5" name="Shape 2"/>
          <p:cNvSpPr/>
          <p:nvPr/>
        </p:nvSpPr>
        <p:spPr>
          <a:xfrm>
            <a:off x="457200" y="1280160"/>
            <a:ext cx="4023360" cy="2468880"/>
          </a:xfrm>
          <a:prstGeom prst="roundRect">
            <a:avLst>
              <a:gd name="adj" fmla="val 2963"/>
            </a:avLst>
          </a:prstGeom>
          <a:solidFill>
            <a:srgbClr val="152B56"/>
          </a:solidFill>
          <a:ln w="12700">
            <a:solidFill>
              <a:srgbClr val="152B56"/>
            </a:solidFill>
            <a:prstDash val="solid"/>
          </a:ln>
        </p:spPr>
      </p:sp>
      <p:sp>
        <p:nvSpPr>
          <p:cNvPr id="6" name="Shape 3"/>
          <p:cNvSpPr/>
          <p:nvPr/>
        </p:nvSpPr>
        <p:spPr>
          <a:xfrm>
            <a:off x="685800" y="1463040"/>
            <a:ext cx="457200" cy="457200"/>
          </a:xfrm>
          <a:prstGeom prst="ellipse">
            <a:avLst/>
          </a:prstGeom>
          <a:solidFill>
            <a:srgbClr val="1F8F74"/>
          </a:solidFill>
          <a:ln w="12700">
            <a:solidFill>
              <a:srgbClr val="1F8F74"/>
            </a:solidFill>
            <a:prstDash val="solid"/>
          </a:ln>
        </p:spPr>
      </p:sp>
      <p:pic>
        <p:nvPicPr>
          <p:cNvPr id="7" name="Image 0" descr="preencoded.png">    </p:cNvPr>
          <p:cNvPicPr>
            <a:picLocks noChangeAspect="1"/>
          </p:cNvPicPr>
          <p:nvPr/>
        </p:nvPicPr>
        <p:blipFill>
          <a:blip r:embed="rId1"/>
          <a:stretch>
            <a:fillRect/>
          </a:stretch>
        </p:blipFill>
        <p:spPr>
          <a:xfrm>
            <a:off x="795528" y="1572768"/>
            <a:ext cx="237744" cy="237744"/>
          </a:xfrm>
          <a:prstGeom prst="rect">
            <a:avLst/>
          </a:prstGeom>
        </p:spPr>
      </p:pic>
      <p:sp>
        <p:nvSpPr>
          <p:cNvPr id="8" name="Shape 4"/>
          <p:cNvSpPr/>
          <p:nvPr/>
        </p:nvSpPr>
        <p:spPr>
          <a:xfrm>
            <a:off x="3291840" y="1508760"/>
            <a:ext cx="960120" cy="292608"/>
          </a:xfrm>
          <a:prstGeom prst="roundRect">
            <a:avLst>
              <a:gd name="adj" fmla="val 50000"/>
            </a:avLst>
          </a:prstGeom>
          <a:solidFill>
            <a:srgbClr val="1F8F74"/>
          </a:solidFill>
          <a:ln w="12700">
            <a:solidFill>
              <a:srgbClr val="1F8F74"/>
            </a:solidFill>
            <a:prstDash val="solid"/>
          </a:ln>
        </p:spPr>
      </p:sp>
      <p:sp>
        <p:nvSpPr>
          <p:cNvPr id="9" name="Text 5"/>
          <p:cNvSpPr txBox="1"/>
          <p:nvPr/>
        </p:nvSpPr>
        <p:spPr>
          <a:xfrm>
            <a:off x="3291840" y="1508760"/>
            <a:ext cx="960120" cy="292608"/>
          </a:xfrm>
          <a:prstGeom prst="rect">
            <a:avLst/>
          </a:prstGeom>
          <a:noFill/>
          <a:ln/>
        </p:spPr>
        <p:txBody>
          <a:bodyPr wrap="square" lIns="0" tIns="0" rIns="0" bIns="0" rtlCol="0" anchor="ctr"/>
          <a:lstStyle/>
          <a:p>
            <a:pPr algn="ctr" indent="0" marL="0">
              <a:buNone/>
            </a:pPr>
            <a:r>
              <a:rPr lang="en-US" sz="1100" b="1" dirty="0">
                <a:solidFill>
                  <a:srgbClr val="152B56"/>
                </a:solidFill>
                <a:latin typeface="Calibri" pitchFamily="34" charset="0"/>
                <a:ea typeface="Calibri" pitchFamily="34" charset="-122"/>
                <a:cs typeface="Calibri" pitchFamily="34" charset="-120"/>
              </a:rPr>
              <a:t>Priority 1</a:t>
            </a:r>
            <a:endParaRPr lang="en-US" sz="1100" dirty="0"/>
          </a:p>
        </p:txBody>
      </p:sp>
      <p:sp>
        <p:nvSpPr>
          <p:cNvPr id="10" name="Text 6"/>
          <p:cNvSpPr txBox="1"/>
          <p:nvPr/>
        </p:nvSpPr>
        <p:spPr>
          <a:xfrm>
            <a:off x="685800" y="2029968"/>
            <a:ext cx="356616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DIY online borrowers</a:t>
            </a:r>
            <a:endParaRPr lang="en-US" sz="1700" dirty="0"/>
          </a:p>
        </p:txBody>
      </p:sp>
      <p:sp>
        <p:nvSpPr>
          <p:cNvPr id="11" name="Text 7"/>
          <p:cNvSpPr txBox="1"/>
          <p:nvPr/>
        </p:nvSpPr>
        <p:spPr>
          <a:xfrm>
            <a:off x="685800" y="2377440"/>
            <a:ext cx="3566160" cy="960120"/>
          </a:xfrm>
          <a:prstGeom prst="rect">
            <a:avLst/>
          </a:prstGeom>
          <a:noFill/>
          <a:ln/>
        </p:spPr>
        <p:txBody>
          <a:bodyPr wrap="square" lIns="0" tIns="0" rIns="0" bIns="0" rtlCol="0" anchor="t"/>
          <a:lstStyle/>
          <a:p>
            <a:pPr indent="0" marL="0">
              <a:buNone/>
            </a:pPr>
            <a:r>
              <a:rPr lang="en-US" sz="1300" dirty="0">
                <a:solidFill>
                  <a:srgbClr val="C9D6E8"/>
                </a:solidFill>
                <a:latin typeface="Calibri" pitchFamily="34" charset="0"/>
                <a:ea typeface="Calibri" pitchFamily="34" charset="-122"/>
                <a:cs typeface="Calibri" pitchFamily="34" charset="-120"/>
              </a:rPr>
              <a:t>Build their own shortlist in search, comparison sites and AI tools, the channels a digital budget touches directly. Refinancers and upgraders behave the same way once a trigger fires.</a:t>
            </a:r>
            <a:endParaRPr lang="en-US" sz="1300" dirty="0"/>
          </a:p>
        </p:txBody>
      </p:sp>
      <p:sp>
        <p:nvSpPr>
          <p:cNvPr id="12" name="Text 8"/>
          <p:cNvSpPr txBox="1"/>
          <p:nvPr/>
        </p:nvSpPr>
        <p:spPr>
          <a:xfrm>
            <a:off x="685800" y="3273552"/>
            <a:ext cx="3566160" cy="411480"/>
          </a:xfrm>
          <a:prstGeom prst="rect">
            <a:avLst/>
          </a:prstGeom>
          <a:noFill/>
          <a:ln/>
        </p:spPr>
        <p:txBody>
          <a:bodyPr wrap="square" lIns="0" tIns="0" rIns="0" bIns="0" rtlCol="0" anchor="t"/>
          <a:lstStyle/>
          <a:p>
            <a:pPr indent="0" marL="0">
              <a:buNone/>
            </a:pPr>
            <a:r>
              <a:rPr lang="en-US" sz="1200" b="1" dirty="0">
                <a:solidFill>
                  <a:srgbClr val="1F8F74"/>
                </a:solidFill>
                <a:latin typeface="Calibri" pitchFamily="34" charset="0"/>
                <a:ea typeface="Calibri" pitchFamily="34" charset="-122"/>
                <a:cs typeface="Calibri" pitchFamily="34" charset="-120"/>
              </a:rPr>
              <a:t>Job to be done: </a:t>
            </a:r>
            <a:pPr indent="0" marL="0">
              <a:buNone/>
            </a:pPr>
            <a:r>
              <a:rPr lang="en-US" sz="1200" dirty="0">
                <a:solidFill>
                  <a:srgbClr val="1F8F74"/>
                </a:solidFill>
                <a:latin typeface="Calibri" pitchFamily="34" charset="0"/>
                <a:ea typeface="Calibri" pitchFamily="34" charset="-122"/>
                <a:cs typeface="Calibri" pitchFamily="34" charset="-120"/>
              </a:rPr>
              <a:t>Confirm a better deal is safe before committing</a:t>
            </a:r>
            <a:endParaRPr lang="en-US" sz="1200" dirty="0"/>
          </a:p>
        </p:txBody>
      </p:sp>
      <p:sp>
        <p:nvSpPr>
          <p:cNvPr id="13" name="Shape 9"/>
          <p:cNvSpPr/>
          <p:nvPr/>
        </p:nvSpPr>
        <p:spPr>
          <a:xfrm>
            <a:off x="4663440" y="1280160"/>
            <a:ext cx="4023360" cy="2468880"/>
          </a:xfrm>
          <a:prstGeom prst="roundRect">
            <a:avLst>
              <a:gd name="adj" fmla="val 2963"/>
            </a:avLst>
          </a:prstGeom>
          <a:solidFill>
            <a:srgbClr val="152B56"/>
          </a:solidFill>
          <a:ln w="12700">
            <a:solidFill>
              <a:srgbClr val="152B56"/>
            </a:solidFill>
            <a:prstDash val="solid"/>
          </a:ln>
        </p:spPr>
      </p:sp>
      <p:sp>
        <p:nvSpPr>
          <p:cNvPr id="14" name="Shape 10"/>
          <p:cNvSpPr/>
          <p:nvPr/>
        </p:nvSpPr>
        <p:spPr>
          <a:xfrm>
            <a:off x="4892040" y="1463040"/>
            <a:ext cx="457200" cy="457200"/>
          </a:xfrm>
          <a:prstGeom prst="ellipse">
            <a:avLst/>
          </a:prstGeom>
          <a:solidFill>
            <a:srgbClr val="1F8F74"/>
          </a:solidFill>
          <a:ln w="12700">
            <a:solidFill>
              <a:srgbClr val="1F8F74"/>
            </a:solidFill>
            <a:prstDash val="solid"/>
          </a:ln>
        </p:spPr>
      </p:sp>
      <p:pic>
        <p:nvPicPr>
          <p:cNvPr id="15" name="Image 1" descr="preencoded.png">    </p:cNvPr>
          <p:cNvPicPr>
            <a:picLocks noChangeAspect="1"/>
          </p:cNvPicPr>
          <p:nvPr/>
        </p:nvPicPr>
        <p:blipFill>
          <a:blip r:embed="rId2"/>
          <a:stretch>
            <a:fillRect/>
          </a:stretch>
        </p:blipFill>
        <p:spPr>
          <a:xfrm>
            <a:off x="5001768" y="1572768"/>
            <a:ext cx="237744" cy="237744"/>
          </a:xfrm>
          <a:prstGeom prst="rect">
            <a:avLst/>
          </a:prstGeom>
        </p:spPr>
      </p:pic>
      <p:sp>
        <p:nvSpPr>
          <p:cNvPr id="16" name="Shape 11"/>
          <p:cNvSpPr/>
          <p:nvPr/>
        </p:nvSpPr>
        <p:spPr>
          <a:xfrm>
            <a:off x="7498080" y="1508760"/>
            <a:ext cx="960120" cy="292608"/>
          </a:xfrm>
          <a:prstGeom prst="roundRect">
            <a:avLst>
              <a:gd name="adj" fmla="val 50000"/>
            </a:avLst>
          </a:prstGeom>
          <a:solidFill>
            <a:srgbClr val="1F8F74"/>
          </a:solidFill>
          <a:ln w="12700">
            <a:solidFill>
              <a:srgbClr val="1F8F74"/>
            </a:solidFill>
            <a:prstDash val="solid"/>
          </a:ln>
        </p:spPr>
      </p:sp>
      <p:sp>
        <p:nvSpPr>
          <p:cNvPr id="17" name="Text 12"/>
          <p:cNvSpPr txBox="1"/>
          <p:nvPr/>
        </p:nvSpPr>
        <p:spPr>
          <a:xfrm>
            <a:off x="7498080" y="1508760"/>
            <a:ext cx="960120" cy="292608"/>
          </a:xfrm>
          <a:prstGeom prst="rect">
            <a:avLst/>
          </a:prstGeom>
          <a:noFill/>
          <a:ln/>
        </p:spPr>
        <p:txBody>
          <a:bodyPr wrap="square" lIns="0" tIns="0" rIns="0" bIns="0" rtlCol="0" anchor="ctr"/>
          <a:lstStyle/>
          <a:p>
            <a:pPr algn="ctr" indent="0" marL="0">
              <a:buNone/>
            </a:pPr>
            <a:r>
              <a:rPr lang="en-US" sz="1100" b="1" dirty="0">
                <a:solidFill>
                  <a:srgbClr val="152B56"/>
                </a:solidFill>
                <a:latin typeface="Calibri" pitchFamily="34" charset="0"/>
                <a:ea typeface="Calibri" pitchFamily="34" charset="-122"/>
                <a:cs typeface="Calibri" pitchFamily="34" charset="-120"/>
              </a:rPr>
              <a:t>Priority 2</a:t>
            </a:r>
            <a:endParaRPr lang="en-US" sz="1100" dirty="0"/>
          </a:p>
        </p:txBody>
      </p:sp>
      <p:sp>
        <p:nvSpPr>
          <p:cNvPr id="18" name="Text 13"/>
          <p:cNvSpPr txBox="1"/>
          <p:nvPr/>
        </p:nvSpPr>
        <p:spPr>
          <a:xfrm>
            <a:off x="4892040" y="2029968"/>
            <a:ext cx="356616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Broker-placed borrowers</a:t>
            </a:r>
            <a:endParaRPr lang="en-US" sz="1700" dirty="0"/>
          </a:p>
        </p:txBody>
      </p:sp>
      <p:sp>
        <p:nvSpPr>
          <p:cNvPr id="19" name="Text 14"/>
          <p:cNvSpPr txBox="1"/>
          <p:nvPr/>
        </p:nvSpPr>
        <p:spPr>
          <a:xfrm>
            <a:off x="4892040" y="2377440"/>
            <a:ext cx="3566160" cy="960120"/>
          </a:xfrm>
          <a:prstGeom prst="rect">
            <a:avLst/>
          </a:prstGeom>
          <a:noFill/>
          <a:ln/>
        </p:spPr>
        <p:txBody>
          <a:bodyPr wrap="square" lIns="0" tIns="0" rIns="0" bIns="0" rtlCol="0" anchor="t"/>
          <a:lstStyle/>
          <a:p>
            <a:pPr indent="0" marL="0">
              <a:buNone/>
            </a:pPr>
            <a:r>
              <a:rPr lang="en-US" sz="1300" dirty="0">
                <a:solidFill>
                  <a:srgbClr val="C9D6E8"/>
                </a:solidFill>
                <a:latin typeface="Calibri" pitchFamily="34" charset="0"/>
                <a:ea typeface="Calibri" pitchFamily="34" charset="-122"/>
                <a:cs typeface="Calibri" pitchFamily="34" charset="-120"/>
              </a:rPr>
              <a:t>Four in five loans. The broker builds the shortlist from lenders they know and can place quickly. Brokers do not need to hear of AMB; they need a reason to swap a familiar name for it.</a:t>
            </a:r>
            <a:endParaRPr lang="en-US" sz="1300" dirty="0"/>
          </a:p>
        </p:txBody>
      </p:sp>
      <p:sp>
        <p:nvSpPr>
          <p:cNvPr id="20" name="Text 15"/>
          <p:cNvSpPr txBox="1"/>
          <p:nvPr/>
        </p:nvSpPr>
        <p:spPr>
          <a:xfrm>
            <a:off x="4892040" y="3273552"/>
            <a:ext cx="3566160" cy="411480"/>
          </a:xfrm>
          <a:prstGeom prst="rect">
            <a:avLst/>
          </a:prstGeom>
          <a:noFill/>
          <a:ln/>
        </p:spPr>
        <p:txBody>
          <a:bodyPr wrap="square" lIns="0" tIns="0" rIns="0" bIns="0" rtlCol="0" anchor="t"/>
          <a:lstStyle/>
          <a:p>
            <a:pPr indent="0" marL="0">
              <a:buNone/>
            </a:pPr>
            <a:r>
              <a:rPr lang="en-US" sz="1200" b="1" dirty="0">
                <a:solidFill>
                  <a:srgbClr val="1F8F74"/>
                </a:solidFill>
                <a:latin typeface="Calibri" pitchFamily="34" charset="0"/>
                <a:ea typeface="Calibri" pitchFamily="34" charset="-122"/>
                <a:cs typeface="Calibri" pitchFamily="34" charset="-120"/>
              </a:rPr>
              <a:t>Job to be done: </a:t>
            </a:r>
            <a:pPr indent="0" marL="0">
              <a:buNone/>
            </a:pPr>
            <a:r>
              <a:rPr lang="en-US" sz="1200" dirty="0">
                <a:solidFill>
                  <a:srgbClr val="1F8F74"/>
                </a:solidFill>
                <a:latin typeface="Calibri" pitchFamily="34" charset="0"/>
                <a:ea typeface="Calibri" pitchFamily="34" charset="-122"/>
                <a:cs typeface="Calibri" pitchFamily="34" charset="-120"/>
              </a:rPr>
              <a:t>Get a loan sorted without becoming an expert</a:t>
            </a:r>
            <a:endParaRPr lang="en-US" sz="1200" dirty="0"/>
          </a:p>
        </p:txBody>
      </p:sp>
      <p:sp>
        <p:nvSpPr>
          <p:cNvPr id="21" name="Shape 16"/>
          <p:cNvSpPr/>
          <p:nvPr/>
        </p:nvSpPr>
        <p:spPr>
          <a:xfrm>
            <a:off x="457200" y="3858768"/>
            <a:ext cx="8229600" cy="731520"/>
          </a:xfrm>
          <a:prstGeom prst="roundRect">
            <a:avLst>
              <a:gd name="adj" fmla="val 10000"/>
            </a:avLst>
          </a:prstGeom>
          <a:solidFill>
            <a:srgbClr val="F1F4F9"/>
          </a:solidFill>
          <a:ln w="12700">
            <a:solidFill>
              <a:srgbClr val="F1F4F9"/>
            </a:solidFill>
            <a:prstDash val="solid"/>
          </a:ln>
        </p:spPr>
      </p:sp>
      <p:sp>
        <p:nvSpPr>
          <p:cNvPr id="22" name="Shape 17"/>
          <p:cNvSpPr/>
          <p:nvPr/>
        </p:nvSpPr>
        <p:spPr>
          <a:xfrm>
            <a:off x="640080" y="3995928"/>
            <a:ext cx="457200" cy="457200"/>
          </a:xfrm>
          <a:prstGeom prst="ellipse">
            <a:avLst/>
          </a:prstGeom>
          <a:solidFill>
            <a:srgbClr val="8A94A6"/>
          </a:solidFill>
          <a:ln w="12700">
            <a:solidFill>
              <a:srgbClr val="8A94A6"/>
            </a:solidFill>
            <a:prstDash val="solid"/>
          </a:ln>
        </p:spPr>
      </p:sp>
      <p:pic>
        <p:nvPicPr>
          <p:cNvPr id="23" name="Image 2" descr="preencoded.png">    </p:cNvPr>
          <p:cNvPicPr>
            <a:picLocks noChangeAspect="1"/>
          </p:cNvPicPr>
          <p:nvPr/>
        </p:nvPicPr>
        <p:blipFill>
          <a:blip r:embed="rId3"/>
          <a:stretch>
            <a:fillRect/>
          </a:stretch>
        </p:blipFill>
        <p:spPr>
          <a:xfrm>
            <a:off x="749808" y="4105656"/>
            <a:ext cx="237744" cy="237744"/>
          </a:xfrm>
          <a:prstGeom prst="rect">
            <a:avLst/>
          </a:prstGeom>
        </p:spPr>
      </p:pic>
      <p:sp>
        <p:nvSpPr>
          <p:cNvPr id="24" name="Text 18"/>
          <p:cNvSpPr txBox="1"/>
          <p:nvPr/>
        </p:nvSpPr>
        <p:spPr>
          <a:xfrm>
            <a:off x="1234440" y="3886200"/>
            <a:ext cx="7315200" cy="676656"/>
          </a:xfrm>
          <a:prstGeom prst="rect">
            <a:avLst/>
          </a:prstGeom>
          <a:noFill/>
          <a:ln/>
        </p:spPr>
        <p:txBody>
          <a:bodyPr wrap="square" lIns="0" tIns="0" rIns="0" bIns="0" rtlCol="0" anchor="ctr"/>
          <a:lstStyle/>
          <a:p>
            <a:pPr indent="0" marL="0">
              <a:buNone/>
            </a:pPr>
            <a:r>
              <a:rPr lang="en-US" sz="1200" b="1" dirty="0">
                <a:solidFill>
                  <a:srgbClr val="152B56"/>
                </a:solidFill>
                <a:latin typeface="Calibri" pitchFamily="34" charset="0"/>
                <a:ea typeface="Calibri" pitchFamily="34" charset="-122"/>
                <a:cs typeface="Calibri" pitchFamily="34" charset="-120"/>
              </a:rPr>
              <a:t>Not prioritised  </a:t>
            </a:r>
            <a:pPr indent="0" marL="0">
              <a:buNone/>
            </a:pPr>
            <a:r>
              <a:rPr lang="en-US" sz="1200" dirty="0">
                <a:solidFill>
                  <a:srgbClr val="1E2633"/>
                </a:solidFill>
                <a:latin typeface="Calibri" pitchFamily="34" charset="0"/>
                <a:ea typeface="Calibri" pitchFamily="34" charset="-122"/>
                <a:cs typeface="Calibri" pitchFamily="34" charset="-120"/>
              </a:rPr>
              <a:t>Borrowers who go straight to the family's big-four bank have no evaluation step to intercept. First-home, refinance and upgrade are triggers rather than channels: when they fire, the person either searches online or calls a broker, so the two moves above reach them.</a:t>
            </a:r>
            <a:endParaRPr lang="en-US" sz="1200" dirty="0"/>
          </a:p>
        </p:txBody>
      </p:sp>
      <p:sp>
        <p:nvSpPr>
          <p:cNvPr id="25" name="Text 19"/>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Among DIY borrowers a friend's experience moved 10 of 10, while a better rate alone moved only 3 of 10 past their own checks</a:t>
            </a:r>
            <a:endParaRPr lang="en-US" sz="2000" dirty="0"/>
          </a:p>
        </p:txBody>
      </p:sp>
      <p:graphicFrame>
        <p:nvGraphicFramePr>
          <p:cNvPr id="5" name="Chart 0" descr=""/>
          <p:cNvGraphicFramePr/>
          <p:nvPr/>
        </p:nvGraphicFramePr>
        <p:xfrm>
          <a:off x="365760" y="1188720"/>
          <a:ext cx="5120640" cy="19659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65760" y="3200400"/>
          <a:ext cx="5120640" cy="128016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669280" y="1280160"/>
            <a:ext cx="3017520" cy="3200400"/>
          </a:xfrm>
          <a:prstGeom prst="roundRect">
            <a:avLst>
              <a:gd name="adj" fmla="val 2424"/>
            </a:avLst>
          </a:prstGeom>
          <a:solidFill>
            <a:srgbClr val="F1F4F9"/>
          </a:solidFill>
          <a:ln w="12700">
            <a:solidFill>
              <a:srgbClr val="F1F4F9"/>
            </a:solidFill>
            <a:prstDash val="solid"/>
          </a:ln>
        </p:spPr>
      </p:sp>
      <p:sp>
        <p:nvSpPr>
          <p:cNvPr id="8" name="Shape 3"/>
          <p:cNvSpPr/>
          <p:nvPr/>
        </p:nvSpPr>
        <p:spPr>
          <a:xfrm>
            <a:off x="5852160" y="1444752"/>
            <a:ext cx="384048" cy="384048"/>
          </a:xfrm>
          <a:prstGeom prst="ellipse">
            <a:avLst/>
          </a:prstGeom>
          <a:solidFill>
            <a:srgbClr val="152B56"/>
          </a:solidFill>
          <a:ln w="12700">
            <a:solidFill>
              <a:srgbClr val="152B56"/>
            </a:solidFill>
            <a:prstDash val="solid"/>
          </a:ln>
        </p:spPr>
      </p:sp>
      <p:pic>
        <p:nvPicPr>
          <p:cNvPr id="9" name="Image 0" descr="preencoded.png">    </p:cNvPr>
          <p:cNvPicPr>
            <a:picLocks noChangeAspect="1"/>
          </p:cNvPicPr>
          <p:nvPr/>
        </p:nvPicPr>
        <p:blipFill>
          <a:blip r:embed="rId3"/>
          <a:stretch>
            <a:fillRect/>
          </a:stretch>
        </p:blipFill>
        <p:spPr>
          <a:xfrm>
            <a:off x="5944332" y="1536924"/>
            <a:ext cx="199705" cy="199705"/>
          </a:xfrm>
          <a:prstGeom prst="rect">
            <a:avLst/>
          </a:prstGeom>
        </p:spPr>
      </p:pic>
      <p:sp>
        <p:nvSpPr>
          <p:cNvPr id="10" name="Text 4"/>
          <p:cNvSpPr txBox="1"/>
          <p:nvPr/>
        </p:nvSpPr>
        <p:spPr>
          <a:xfrm>
            <a:off x="6355080" y="1444752"/>
            <a:ext cx="2240280" cy="411480"/>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What would make them comfortable</a:t>
            </a:r>
            <a:endParaRPr lang="en-US" sz="1350" dirty="0"/>
          </a:p>
        </p:txBody>
      </p:sp>
      <p:sp>
        <p:nvSpPr>
          <p:cNvPr id="11" name="Text 5"/>
          <p:cNvSpPr txBox="1"/>
          <p:nvPr/>
        </p:nvSpPr>
        <p:spPr>
          <a:xfrm>
            <a:off x="5852160" y="1920240"/>
            <a:ext cx="2697480"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633"/>
                </a:solidFill>
                <a:latin typeface="Calibri" pitchFamily="34" charset="0"/>
                <a:ea typeface="Calibri" pitchFamily="34" charset="-122"/>
                <a:cs typeface="Calibri" pitchFamily="34" charset="-120"/>
              </a:rPr>
              <a:t>Real rate, fees and approval time up front (7 of 8)</a:t>
            </a:r>
            <a:endParaRPr lang="en-US" sz="1200" dirty="0"/>
          </a:p>
          <a:p>
            <a:pPr marL="342900" indent="-342900">
              <a:spcAft>
                <a:spcPts val="400"/>
              </a:spcAft>
              <a:buSzPct val="100000"/>
              <a:buChar char="•"/>
            </a:pPr>
            <a:r>
              <a:rPr lang="en-US" sz="1200" dirty="0">
                <a:solidFill>
                  <a:srgbClr val="1E2633"/>
                </a:solidFill>
                <a:latin typeface="Calibri" pitchFamily="34" charset="0"/>
                <a:ea typeface="Calibri" pitchFamily="34" charset="-122"/>
                <a:cs typeface="Calibri" pitchFamily="34" charset="-120"/>
              </a:rPr>
              <a:t>Knowing someone like them had used it (6 of 8)</a:t>
            </a:r>
            <a:endParaRPr lang="en-US" sz="1200" dirty="0"/>
          </a:p>
          <a:p>
            <a:pPr marL="342900" indent="-342900">
              <a:spcAft>
                <a:spcPts val="400"/>
              </a:spcAft>
              <a:buSzPct val="100000"/>
              <a:buChar char="•"/>
            </a:pPr>
            <a:r>
              <a:rPr lang="en-US" sz="1200" dirty="0">
                <a:solidFill>
                  <a:srgbClr val="1E2633"/>
                </a:solidFill>
                <a:latin typeface="Calibri" pitchFamily="34" charset="0"/>
                <a:ea typeface="Calibri" pitchFamily="34" charset="-122"/>
                <a:cs typeface="Calibri" pitchFamily="34" charset="-120"/>
              </a:rPr>
              <a:t>Independent reviews or ratings (6 of 8)</a:t>
            </a:r>
            <a:endParaRPr lang="en-US" sz="1200" dirty="0"/>
          </a:p>
          <a:p>
            <a:pPr marL="342900" indent="-342900">
              <a:spcAft>
                <a:spcPts val="400"/>
              </a:spcAft>
              <a:buSzPct val="100000"/>
              <a:buChar char="•"/>
            </a:pPr>
            <a:r>
              <a:rPr lang="en-US" sz="1200" dirty="0">
                <a:solidFill>
                  <a:srgbClr val="1E2633"/>
                </a:solidFill>
                <a:latin typeface="Calibri" pitchFamily="34" charset="0"/>
                <a:ea typeface="Calibri" pitchFamily="34" charset="-122"/>
                <a:cs typeface="Calibri" pitchFamily="34" charset="-120"/>
              </a:rPr>
              <a:t>A quantified, easy-to-verify advantage (6 of 8)</a:t>
            </a:r>
            <a:endParaRPr lang="en-US" sz="1200" dirty="0"/>
          </a:p>
        </p:txBody>
      </p:sp>
      <p:sp>
        <p:nvSpPr>
          <p:cNvPr id="12" name="Text 6"/>
          <p:cNvSpPr txBox="1"/>
          <p:nvPr/>
        </p:nvSpPr>
        <p:spPr>
          <a:xfrm>
            <a:off x="5852160" y="3675888"/>
            <a:ext cx="2697480" cy="777240"/>
          </a:xfrm>
          <a:prstGeom prst="rect">
            <a:avLst/>
          </a:prstGeom>
          <a:noFill/>
          <a:ln/>
        </p:spPr>
        <p:txBody>
          <a:bodyPr wrap="square" lIns="0" tIns="0" rIns="0" bIns="0" rtlCol="0" anchor="t"/>
          <a:lstStyle/>
          <a:p>
            <a:pPr indent="0" marL="0">
              <a:buNone/>
            </a:pPr>
            <a:r>
              <a:rPr lang="en-US" sz="1100" i="1" dirty="0">
                <a:solidFill>
                  <a:srgbClr val="556070"/>
                </a:solidFill>
                <a:latin typeface="Calibri" pitchFamily="34" charset="0"/>
                <a:ea typeface="Calibri" pitchFamily="34" charset="-122"/>
                <a:cs typeface="Calibri" pitchFamily="34" charset="-120"/>
              </a:rPr>
              <a:t>The customer-owned label appealed to the three respondents who had never taken a loan and moved two of the seven who had.</a:t>
            </a:r>
            <a:endParaRPr lang="en-US" sz="1100" dirty="0"/>
          </a:p>
        </p:txBody>
      </p:sp>
      <p:sp>
        <p:nvSpPr>
          <p:cNvPr id="13" name="Text 7"/>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Shared questionnaire, 30 Sep to 1 Oct 2026, DIY instrument, n=10, collected by three team members; comfort factors from 8 responses. Three of ten had no loan in five years (fail Q1 screener) and are kept as prospective borrowers.</a:t>
            </a:r>
            <a:endParaRPr lang="en-US" sz="1000" dirty="0"/>
          </a:p>
        </p:txBody>
      </p:sp>
      <p:sp>
        <p:nvSpPr>
          <p:cNvPr id="14"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Broker-placed borrowers still verify a recommended lender themselves, and most read a rate-match guarantee as a warning sign</a:t>
            </a:r>
            <a:endParaRPr lang="en-US" sz="2000" dirty="0"/>
          </a:p>
        </p:txBody>
      </p:sp>
      <p:sp>
        <p:nvSpPr>
          <p:cNvPr id="5" name="Shape 2"/>
          <p:cNvSpPr/>
          <p:nvPr/>
        </p:nvSpPr>
        <p:spPr>
          <a:xfrm>
            <a:off x="457200" y="1325880"/>
            <a:ext cx="1920240" cy="1783080"/>
          </a:xfrm>
          <a:prstGeom prst="roundRect">
            <a:avLst>
              <a:gd name="adj" fmla="val 4103"/>
            </a:avLst>
          </a:prstGeom>
          <a:solidFill>
            <a:srgbClr val="F1F4F9"/>
          </a:solidFill>
          <a:ln w="12700">
            <a:solidFill>
              <a:srgbClr val="F1F4F9"/>
            </a:solidFill>
            <a:prstDash val="solid"/>
          </a:ln>
        </p:spPr>
      </p:sp>
      <p:sp>
        <p:nvSpPr>
          <p:cNvPr id="6" name="Text 3"/>
          <p:cNvSpPr txBox="1"/>
          <p:nvPr/>
        </p:nvSpPr>
        <p:spPr>
          <a:xfrm>
            <a:off x="640080" y="1417320"/>
            <a:ext cx="1645920" cy="640080"/>
          </a:xfrm>
          <a:prstGeom prst="rect">
            <a:avLst/>
          </a:prstGeom>
          <a:noFill/>
          <a:ln/>
        </p:spPr>
        <p:txBody>
          <a:bodyPr wrap="square" lIns="0" tIns="0" rIns="0" bIns="0" rtlCol="0" anchor="ctr"/>
          <a:lstStyle/>
          <a:p>
            <a:pPr indent="0" marL="0">
              <a:buNone/>
            </a:pPr>
            <a:r>
              <a:rPr lang="en-US" sz="3200" b="1" dirty="0">
                <a:solidFill>
                  <a:srgbClr val="152B56"/>
                </a:solidFill>
                <a:latin typeface="Cambria" pitchFamily="34" charset="0"/>
                <a:ea typeface="Cambria" pitchFamily="34" charset="-122"/>
                <a:cs typeface="Cambria" pitchFamily="34" charset="-120"/>
              </a:rPr>
              <a:t>3 of 4</a:t>
            </a:r>
            <a:endParaRPr lang="en-US" sz="3200" dirty="0"/>
          </a:p>
        </p:txBody>
      </p:sp>
      <p:sp>
        <p:nvSpPr>
          <p:cNvPr id="7" name="Text 4"/>
          <p:cNvSpPr txBox="1"/>
          <p:nvPr/>
        </p:nvSpPr>
        <p:spPr>
          <a:xfrm>
            <a:off x="640080" y="2084832"/>
            <a:ext cx="1600200" cy="987552"/>
          </a:xfrm>
          <a:prstGeom prst="rect">
            <a:avLst/>
          </a:prstGeom>
          <a:noFill/>
          <a:ln/>
        </p:spPr>
        <p:txBody>
          <a:bodyPr wrap="square" lIns="0" tIns="0" rIns="0" bIns="0" rtlCol="0" anchor="t"/>
          <a:lstStyle/>
          <a:p>
            <a:pPr indent="0" marL="0">
              <a:buNone/>
            </a:pPr>
            <a:r>
              <a:rPr lang="en-US" sz="1200" dirty="0">
                <a:solidFill>
                  <a:srgbClr val="1E2633"/>
                </a:solidFill>
                <a:latin typeface="Calibri" pitchFamily="34" charset="0"/>
                <a:ea typeface="Calibri" pitchFamily="34" charset="-122"/>
                <a:cs typeface="Calibri" pitchFamily="34" charset="-120"/>
              </a:rPr>
              <a:t>would check AMB themselves after a trusted broker recommended it</a:t>
            </a:r>
            <a:endParaRPr lang="en-US" sz="1200" dirty="0"/>
          </a:p>
        </p:txBody>
      </p:sp>
      <p:sp>
        <p:nvSpPr>
          <p:cNvPr id="8" name="Shape 5"/>
          <p:cNvSpPr/>
          <p:nvPr/>
        </p:nvSpPr>
        <p:spPr>
          <a:xfrm>
            <a:off x="2560320" y="1325880"/>
            <a:ext cx="1920240" cy="1783080"/>
          </a:xfrm>
          <a:prstGeom prst="roundRect">
            <a:avLst>
              <a:gd name="adj" fmla="val 4103"/>
            </a:avLst>
          </a:prstGeom>
          <a:solidFill>
            <a:srgbClr val="F1F4F9"/>
          </a:solidFill>
          <a:ln w="12700">
            <a:solidFill>
              <a:srgbClr val="F1F4F9"/>
            </a:solidFill>
            <a:prstDash val="solid"/>
          </a:ln>
        </p:spPr>
      </p:sp>
      <p:sp>
        <p:nvSpPr>
          <p:cNvPr id="9" name="Text 6"/>
          <p:cNvSpPr txBox="1"/>
          <p:nvPr/>
        </p:nvSpPr>
        <p:spPr>
          <a:xfrm>
            <a:off x="2743200" y="1417320"/>
            <a:ext cx="1645920" cy="640080"/>
          </a:xfrm>
          <a:prstGeom prst="rect">
            <a:avLst/>
          </a:prstGeom>
          <a:noFill/>
          <a:ln/>
        </p:spPr>
        <p:txBody>
          <a:bodyPr wrap="square" lIns="0" tIns="0" rIns="0" bIns="0" rtlCol="0" anchor="ctr"/>
          <a:lstStyle/>
          <a:p>
            <a:pPr indent="0" marL="0">
              <a:buNone/>
            </a:pPr>
            <a:r>
              <a:rPr lang="en-US" sz="3200" b="1" dirty="0">
                <a:solidFill>
                  <a:srgbClr val="166257"/>
                </a:solidFill>
                <a:latin typeface="Cambria" pitchFamily="34" charset="0"/>
                <a:ea typeface="Cambria" pitchFamily="34" charset="-122"/>
                <a:cs typeface="Cambria" pitchFamily="34" charset="-120"/>
              </a:rPr>
              <a:t>3 of 4</a:t>
            </a:r>
            <a:endParaRPr lang="en-US" sz="3200" dirty="0"/>
          </a:p>
        </p:txBody>
      </p:sp>
      <p:sp>
        <p:nvSpPr>
          <p:cNvPr id="10" name="Text 7"/>
          <p:cNvSpPr txBox="1"/>
          <p:nvPr/>
        </p:nvSpPr>
        <p:spPr>
          <a:xfrm>
            <a:off x="2743200" y="2084832"/>
            <a:ext cx="1600200" cy="987552"/>
          </a:xfrm>
          <a:prstGeom prst="rect">
            <a:avLst/>
          </a:prstGeom>
          <a:noFill/>
          <a:ln/>
        </p:spPr>
        <p:txBody>
          <a:bodyPr wrap="square" lIns="0" tIns="0" rIns="0" bIns="0" rtlCol="0" anchor="t"/>
          <a:lstStyle/>
          <a:p>
            <a:pPr indent="0" marL="0">
              <a:buNone/>
            </a:pPr>
            <a:r>
              <a:rPr lang="en-US" sz="1200" dirty="0">
                <a:solidFill>
                  <a:srgbClr val="1E2633"/>
                </a:solidFill>
                <a:latin typeface="Calibri" pitchFamily="34" charset="0"/>
                <a:ea typeface="Calibri" pitchFamily="34" charset="-122"/>
                <a:cs typeface="Calibri" pitchFamily="34" charset="-120"/>
              </a:rPr>
              <a:t>said a written guarantee to match a big-four rate made them suspicious of the lender</a:t>
            </a:r>
            <a:endParaRPr lang="en-US" sz="1200" dirty="0"/>
          </a:p>
        </p:txBody>
      </p:sp>
      <p:sp>
        <p:nvSpPr>
          <p:cNvPr id="11" name="Shape 8"/>
          <p:cNvSpPr/>
          <p:nvPr/>
        </p:nvSpPr>
        <p:spPr>
          <a:xfrm>
            <a:off x="4663440" y="1325880"/>
            <a:ext cx="1920240" cy="1783080"/>
          </a:xfrm>
          <a:prstGeom prst="roundRect">
            <a:avLst>
              <a:gd name="adj" fmla="val 4103"/>
            </a:avLst>
          </a:prstGeom>
          <a:solidFill>
            <a:srgbClr val="F1F4F9"/>
          </a:solidFill>
          <a:ln w="12700">
            <a:solidFill>
              <a:srgbClr val="F1F4F9"/>
            </a:solidFill>
            <a:prstDash val="solid"/>
          </a:ln>
        </p:spPr>
      </p:sp>
      <p:sp>
        <p:nvSpPr>
          <p:cNvPr id="12" name="Text 9"/>
          <p:cNvSpPr txBox="1"/>
          <p:nvPr/>
        </p:nvSpPr>
        <p:spPr>
          <a:xfrm>
            <a:off x="4846320" y="1417320"/>
            <a:ext cx="1645920" cy="640080"/>
          </a:xfrm>
          <a:prstGeom prst="rect">
            <a:avLst/>
          </a:prstGeom>
          <a:noFill/>
          <a:ln/>
        </p:spPr>
        <p:txBody>
          <a:bodyPr wrap="square" lIns="0" tIns="0" rIns="0" bIns="0" rtlCol="0" anchor="ctr"/>
          <a:lstStyle/>
          <a:p>
            <a:pPr indent="0" marL="0">
              <a:buNone/>
            </a:pPr>
            <a:r>
              <a:rPr lang="en-US" sz="3200" b="1" dirty="0">
                <a:solidFill>
                  <a:srgbClr val="152B56"/>
                </a:solidFill>
                <a:latin typeface="Cambria" pitchFamily="34" charset="0"/>
                <a:ea typeface="Cambria" pitchFamily="34" charset="-122"/>
                <a:cs typeface="Cambria" pitchFamily="34" charset="-120"/>
              </a:rPr>
              <a:t>1 of 4</a:t>
            </a:r>
            <a:endParaRPr lang="en-US" sz="3200" dirty="0"/>
          </a:p>
        </p:txBody>
      </p:sp>
      <p:sp>
        <p:nvSpPr>
          <p:cNvPr id="13" name="Text 10"/>
          <p:cNvSpPr txBox="1"/>
          <p:nvPr/>
        </p:nvSpPr>
        <p:spPr>
          <a:xfrm>
            <a:off x="4846320" y="2084832"/>
            <a:ext cx="1600200" cy="987552"/>
          </a:xfrm>
          <a:prstGeom prst="rect">
            <a:avLst/>
          </a:prstGeom>
          <a:noFill/>
          <a:ln/>
        </p:spPr>
        <p:txBody>
          <a:bodyPr wrap="square" lIns="0" tIns="0" rIns="0" bIns="0" rtlCol="0" anchor="t"/>
          <a:lstStyle/>
          <a:p>
            <a:pPr indent="0" marL="0">
              <a:buNone/>
            </a:pPr>
            <a:r>
              <a:rPr lang="en-US" sz="1200" dirty="0">
                <a:solidFill>
                  <a:srgbClr val="1E2633"/>
                </a:solidFill>
                <a:latin typeface="Calibri" pitchFamily="34" charset="0"/>
                <a:ea typeface="Calibri" pitchFamily="34" charset="-122"/>
                <a:cs typeface="Calibri" pitchFamily="34" charset="-120"/>
              </a:rPr>
              <a:t>had heard of AMB, and none said being customer-owned made them more likely to consider it</a:t>
            </a:r>
            <a:endParaRPr lang="en-US" sz="1200" dirty="0"/>
          </a:p>
        </p:txBody>
      </p:sp>
      <p:sp>
        <p:nvSpPr>
          <p:cNvPr id="14" name="Shape 11"/>
          <p:cNvSpPr/>
          <p:nvPr/>
        </p:nvSpPr>
        <p:spPr>
          <a:xfrm>
            <a:off x="6766560" y="1325880"/>
            <a:ext cx="1920240" cy="1783080"/>
          </a:xfrm>
          <a:prstGeom prst="roundRect">
            <a:avLst>
              <a:gd name="adj" fmla="val 4103"/>
            </a:avLst>
          </a:prstGeom>
          <a:solidFill>
            <a:srgbClr val="F1F4F9"/>
          </a:solidFill>
          <a:ln w="12700">
            <a:solidFill>
              <a:srgbClr val="F1F4F9"/>
            </a:solidFill>
            <a:prstDash val="solid"/>
          </a:ln>
        </p:spPr>
      </p:sp>
      <p:sp>
        <p:nvSpPr>
          <p:cNvPr id="15" name="Text 12"/>
          <p:cNvSpPr txBox="1"/>
          <p:nvPr/>
        </p:nvSpPr>
        <p:spPr>
          <a:xfrm>
            <a:off x="6949440" y="1417320"/>
            <a:ext cx="1645920" cy="640080"/>
          </a:xfrm>
          <a:prstGeom prst="rect">
            <a:avLst/>
          </a:prstGeom>
          <a:noFill/>
          <a:ln/>
        </p:spPr>
        <p:txBody>
          <a:bodyPr wrap="square" lIns="0" tIns="0" rIns="0" bIns="0" rtlCol="0" anchor="ctr"/>
          <a:lstStyle/>
          <a:p>
            <a:pPr indent="0" marL="0">
              <a:buNone/>
            </a:pPr>
            <a:r>
              <a:rPr lang="en-US" sz="2600" b="1" dirty="0">
                <a:solidFill>
                  <a:srgbClr val="152B56"/>
                </a:solidFill>
                <a:latin typeface="Cambria" pitchFamily="34" charset="0"/>
                <a:ea typeface="Cambria" pitchFamily="34" charset="-122"/>
                <a:cs typeface="Cambria" pitchFamily="34" charset="-120"/>
              </a:rPr>
              <a:t>XXX of 4</a:t>
            </a:r>
            <a:endParaRPr lang="en-US" sz="2600" dirty="0"/>
          </a:p>
        </p:txBody>
      </p:sp>
      <p:sp>
        <p:nvSpPr>
          <p:cNvPr id="16" name="Text 13"/>
          <p:cNvSpPr txBox="1"/>
          <p:nvPr/>
        </p:nvSpPr>
        <p:spPr>
          <a:xfrm>
            <a:off x="6949440" y="2084832"/>
            <a:ext cx="1600200" cy="987552"/>
          </a:xfrm>
          <a:prstGeom prst="rect">
            <a:avLst/>
          </a:prstGeom>
          <a:noFill/>
          <a:ln/>
        </p:spPr>
        <p:txBody>
          <a:bodyPr wrap="square" lIns="0" tIns="0" rIns="0" bIns="0" rtlCol="0" anchor="t"/>
          <a:lstStyle/>
          <a:p>
            <a:pPr indent="0" marL="0">
              <a:buNone/>
            </a:pPr>
            <a:r>
              <a:rPr lang="en-US" sz="1200" dirty="0">
                <a:solidFill>
                  <a:srgbClr val="1E2633"/>
                </a:solidFill>
                <a:latin typeface="Calibri" pitchFamily="34" charset="0"/>
                <a:ea typeface="Calibri" pitchFamily="34" charset="-122"/>
                <a:cs typeface="Calibri" pitchFamily="34" charset="-120"/>
              </a:rPr>
              <a:t>said a friend's good experience with AMB would make them more likely to consider it</a:t>
            </a:r>
            <a:endParaRPr lang="en-US" sz="1200" dirty="0"/>
          </a:p>
        </p:txBody>
      </p:sp>
      <p:sp>
        <p:nvSpPr>
          <p:cNvPr id="17" name="Shape 14"/>
          <p:cNvSpPr/>
          <p:nvPr/>
        </p:nvSpPr>
        <p:spPr>
          <a:xfrm>
            <a:off x="457200" y="3246120"/>
            <a:ext cx="8229600" cy="1234440"/>
          </a:xfrm>
          <a:prstGeom prst="roundRect">
            <a:avLst>
              <a:gd name="adj" fmla="val 5926"/>
            </a:avLst>
          </a:prstGeom>
          <a:solidFill>
            <a:srgbClr val="152B56"/>
          </a:solidFill>
          <a:ln w="12700">
            <a:solidFill>
              <a:srgbClr val="152B56"/>
            </a:solidFill>
            <a:prstDash val="solid"/>
          </a:ln>
        </p:spPr>
      </p:sp>
      <p:sp>
        <p:nvSpPr>
          <p:cNvPr id="18" name="Shape 15"/>
          <p:cNvSpPr/>
          <p:nvPr/>
        </p:nvSpPr>
        <p:spPr>
          <a:xfrm>
            <a:off x="685800" y="3520440"/>
            <a:ext cx="457200" cy="457200"/>
          </a:xfrm>
          <a:prstGeom prst="ellipse">
            <a:avLst/>
          </a:prstGeom>
          <a:solidFill>
            <a:srgbClr val="1F8F74"/>
          </a:solidFill>
          <a:ln w="12700">
            <a:solidFill>
              <a:srgbClr val="1F8F74"/>
            </a:solidFill>
            <a:prstDash val="solid"/>
          </a:ln>
        </p:spPr>
      </p:sp>
      <p:pic>
        <p:nvPicPr>
          <p:cNvPr id="19" name="Image 0" descr="preencoded.png">    </p:cNvPr>
          <p:cNvPicPr>
            <a:picLocks noChangeAspect="1"/>
          </p:cNvPicPr>
          <p:nvPr/>
        </p:nvPicPr>
        <p:blipFill>
          <a:blip r:embed="rId1"/>
          <a:stretch>
            <a:fillRect/>
          </a:stretch>
        </p:blipFill>
        <p:spPr>
          <a:xfrm>
            <a:off x="795528" y="3630168"/>
            <a:ext cx="237744" cy="237744"/>
          </a:xfrm>
          <a:prstGeom prst="rect">
            <a:avLst/>
          </a:prstGeom>
        </p:spPr>
      </p:pic>
      <p:sp>
        <p:nvSpPr>
          <p:cNvPr id="20" name="Text 16"/>
          <p:cNvSpPr txBox="1"/>
          <p:nvPr/>
        </p:nvSpPr>
        <p:spPr>
          <a:xfrm>
            <a:off x="1325880" y="3337560"/>
            <a:ext cx="71780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broker working set in one respondent: she trusts her broker completely, would take his word alone, and in three years he has never put a mutual bank in front of her. Comfort for the rest came from APRA regulation and an explanation of why the loan suits them.</a:t>
            </a:r>
            <a:endParaRPr lang="en-US" sz="1350" dirty="0"/>
          </a:p>
        </p:txBody>
      </p:sp>
      <p:sp>
        <p:nvSpPr>
          <p:cNvPr id="21" name="Text 17"/>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Shared questionnaire, October 2026, broker instrument, n=4, collected by two team members. Three broker-side interviews to be added (XXX), combined n=7.</a:t>
            </a:r>
            <a:endParaRPr lang="en-US" sz="1000" dirty="0"/>
          </a:p>
        </p:txBody>
      </p:sp>
      <p:sp>
        <p:nvSpPr>
          <p:cNvPr id="22" name="Text 1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The pattern matches three established findings on how people choose: consideration sets, status quo bias and social proof</a:t>
            </a:r>
            <a:endParaRPr lang="en-US" sz="2000" dirty="0"/>
          </a:p>
        </p:txBody>
      </p:sp>
      <p:sp>
        <p:nvSpPr>
          <p:cNvPr id="5" name="Shape 2"/>
          <p:cNvSpPr/>
          <p:nvPr/>
        </p:nvSpPr>
        <p:spPr>
          <a:xfrm>
            <a:off x="457200" y="1280160"/>
            <a:ext cx="2651760" cy="2606040"/>
          </a:xfrm>
          <a:prstGeom prst="roundRect">
            <a:avLst>
              <a:gd name="adj" fmla="val 2807"/>
            </a:avLst>
          </a:prstGeom>
          <a:solidFill>
            <a:srgbClr val="F1F4F9"/>
          </a:solidFill>
          <a:ln w="12700">
            <a:solidFill>
              <a:srgbClr val="F1F4F9"/>
            </a:solidFill>
            <a:prstDash val="solid"/>
          </a:ln>
        </p:spPr>
      </p:sp>
      <p:sp>
        <p:nvSpPr>
          <p:cNvPr id="6" name="Shape 3"/>
          <p:cNvSpPr/>
          <p:nvPr/>
        </p:nvSpPr>
        <p:spPr>
          <a:xfrm>
            <a:off x="685800" y="1463040"/>
            <a:ext cx="438912" cy="438912"/>
          </a:xfrm>
          <a:prstGeom prst="ellipse">
            <a:avLst/>
          </a:prstGeom>
          <a:solidFill>
            <a:srgbClr val="152B56"/>
          </a:solidFill>
          <a:ln w="12700">
            <a:solidFill>
              <a:srgbClr val="152B56"/>
            </a:solidFill>
            <a:prstDash val="solid"/>
          </a:ln>
        </p:spPr>
      </p:sp>
      <p:pic>
        <p:nvPicPr>
          <p:cNvPr id="7" name="Image 0" descr="preencoded.png">    </p:cNvPr>
          <p:cNvPicPr>
            <a:picLocks noChangeAspect="1"/>
          </p:cNvPicPr>
          <p:nvPr/>
        </p:nvPicPr>
        <p:blipFill>
          <a:blip r:embed="rId1"/>
          <a:stretch>
            <a:fillRect/>
          </a:stretch>
        </p:blipFill>
        <p:spPr>
          <a:xfrm>
            <a:off x="791139" y="1568379"/>
            <a:ext cx="228234" cy="228234"/>
          </a:xfrm>
          <a:prstGeom prst="rect">
            <a:avLst/>
          </a:prstGeom>
        </p:spPr>
      </p:pic>
      <p:sp>
        <p:nvSpPr>
          <p:cNvPr id="8" name="Text 4"/>
          <p:cNvSpPr txBox="1"/>
          <p:nvPr/>
        </p:nvSpPr>
        <p:spPr>
          <a:xfrm>
            <a:off x="1234440" y="1463040"/>
            <a:ext cx="1737360" cy="438912"/>
          </a:xfrm>
          <a:prstGeom prst="rect">
            <a:avLst/>
          </a:prstGeom>
          <a:noFill/>
          <a:ln/>
        </p:spPr>
        <p:txBody>
          <a:bodyPr wrap="square" lIns="0" tIns="0" rIns="0" bIns="0" rtlCol="0" anchor="ctr"/>
          <a:lstStyle/>
          <a:p>
            <a:pPr indent="0" marL="0">
              <a:buNone/>
            </a:pPr>
            <a:r>
              <a:rPr lang="en-US" sz="1600" b="1" dirty="0">
                <a:solidFill>
                  <a:srgbClr val="152B56"/>
                </a:solidFill>
                <a:latin typeface="Calibri" pitchFamily="34" charset="0"/>
                <a:ea typeface="Calibri" pitchFamily="34" charset="-122"/>
                <a:cs typeface="Calibri" pitchFamily="34" charset="-120"/>
              </a:rPr>
              <a:t>Consideration set</a:t>
            </a:r>
            <a:endParaRPr lang="en-US" sz="1600" dirty="0"/>
          </a:p>
        </p:txBody>
      </p:sp>
      <p:sp>
        <p:nvSpPr>
          <p:cNvPr id="9" name="Text 5"/>
          <p:cNvSpPr txBox="1"/>
          <p:nvPr/>
        </p:nvSpPr>
        <p:spPr>
          <a:xfrm>
            <a:off x="685800" y="2029968"/>
            <a:ext cx="2240280" cy="868680"/>
          </a:xfrm>
          <a:prstGeom prst="rect">
            <a:avLst/>
          </a:prstGeom>
          <a:noFill/>
          <a:ln/>
        </p:spPr>
        <p:txBody>
          <a:bodyPr wrap="square" lIns="0" tIns="0" rIns="0" bIns="0" rtlCol="0" anchor="t"/>
          <a:lstStyle/>
          <a:p>
            <a:pPr indent="0" marL="0">
              <a:buNone/>
            </a:pPr>
            <a:r>
              <a:rPr lang="en-US" sz="1250" dirty="0">
                <a:solidFill>
                  <a:srgbClr val="556070"/>
                </a:solidFill>
                <a:latin typeface="Calibri" pitchFamily="34" charset="0"/>
                <a:ea typeface="Calibri" pitchFamily="34" charset="-122"/>
                <a:cs typeface="Calibri" pitchFamily="34" charset="-120"/>
              </a:rPr>
              <a:t>Brands outside the initial two to four names rarely win, whoever assembles the set (Court et al., 2009).</a:t>
            </a:r>
            <a:endParaRPr lang="en-US" sz="1250" dirty="0"/>
          </a:p>
        </p:txBody>
      </p:sp>
      <p:sp>
        <p:nvSpPr>
          <p:cNvPr id="10" name="Shape 6"/>
          <p:cNvSpPr/>
          <p:nvPr/>
        </p:nvSpPr>
        <p:spPr>
          <a:xfrm>
            <a:off x="685800" y="2926080"/>
            <a:ext cx="2240280" cy="0"/>
          </a:xfrm>
          <a:prstGeom prst="line">
            <a:avLst/>
          </a:prstGeom>
          <a:noFill/>
          <a:ln w="9525">
            <a:solidFill>
              <a:srgbClr val="D9DEE7"/>
            </a:solidFill>
            <a:prstDash val="solid"/>
          </a:ln>
        </p:spPr>
      </p:sp>
      <p:sp>
        <p:nvSpPr>
          <p:cNvPr id="11" name="Text 7"/>
          <p:cNvSpPr txBox="1"/>
          <p:nvPr/>
        </p:nvSpPr>
        <p:spPr>
          <a:xfrm>
            <a:off x="685800" y="2990088"/>
            <a:ext cx="2240280" cy="201168"/>
          </a:xfrm>
          <a:prstGeom prst="rect">
            <a:avLst/>
          </a:prstGeom>
          <a:noFill/>
          <a:ln/>
        </p:spPr>
        <p:txBody>
          <a:bodyPr wrap="square" lIns="0" tIns="0" rIns="0" bIns="0" rtlCol="0" anchor="t"/>
          <a:lstStyle/>
          <a:p>
            <a:pPr indent="0" marL="0">
              <a:buNone/>
            </a:pPr>
            <a:r>
              <a:rPr lang="en-US" sz="1000" b="1" spc="100" kern="0" dirty="0">
                <a:solidFill>
                  <a:srgbClr val="166257"/>
                </a:solidFill>
                <a:latin typeface="Calibri" pitchFamily="34" charset="0"/>
                <a:ea typeface="Calibri" pitchFamily="34" charset="-122"/>
                <a:cs typeface="Calibri" pitchFamily="34" charset="-120"/>
              </a:rPr>
              <a:t>WHAT WE SAW</a:t>
            </a:r>
            <a:endParaRPr lang="en-US" sz="1000" dirty="0"/>
          </a:p>
        </p:txBody>
      </p:sp>
      <p:sp>
        <p:nvSpPr>
          <p:cNvPr id="12" name="Text 8"/>
          <p:cNvSpPr txBox="1"/>
          <p:nvPr/>
        </p:nvSpPr>
        <p:spPr>
          <a:xfrm>
            <a:off x="685800" y="3200400"/>
            <a:ext cx="2240280" cy="548640"/>
          </a:xfrm>
          <a:prstGeom prst="rect">
            <a:avLst/>
          </a:prstGeom>
          <a:noFill/>
          <a:ln/>
        </p:spPr>
        <p:txBody>
          <a:bodyPr wrap="square" lIns="0" tIns="0" rIns="0" bIns="0" rtlCol="0" anchor="t"/>
          <a:lstStyle/>
          <a:p>
            <a:pPr indent="0" marL="0">
              <a:buNone/>
            </a:pPr>
            <a:r>
              <a:rPr lang="en-US" sz="1300" b="1" dirty="0">
                <a:solidFill>
                  <a:srgbClr val="1E2633"/>
                </a:solidFill>
                <a:latin typeface="Calibri" pitchFamily="34" charset="0"/>
                <a:ea typeface="Calibri" pitchFamily="34" charset="-122"/>
                <a:cs typeface="Calibri" pitchFamily="34" charset="-120"/>
              </a:rPr>
              <a:t>AMB is outside the set in every channel we studied.</a:t>
            </a:r>
            <a:endParaRPr lang="en-US" sz="1300" dirty="0"/>
          </a:p>
        </p:txBody>
      </p:sp>
      <p:sp>
        <p:nvSpPr>
          <p:cNvPr id="13" name="Shape 9"/>
          <p:cNvSpPr/>
          <p:nvPr/>
        </p:nvSpPr>
        <p:spPr>
          <a:xfrm>
            <a:off x="3246120" y="1280160"/>
            <a:ext cx="2651760" cy="2606040"/>
          </a:xfrm>
          <a:prstGeom prst="roundRect">
            <a:avLst>
              <a:gd name="adj" fmla="val 2807"/>
            </a:avLst>
          </a:prstGeom>
          <a:solidFill>
            <a:srgbClr val="F1F4F9"/>
          </a:solidFill>
          <a:ln w="12700">
            <a:solidFill>
              <a:srgbClr val="F1F4F9"/>
            </a:solidFill>
            <a:prstDash val="solid"/>
          </a:ln>
        </p:spPr>
      </p:sp>
      <p:sp>
        <p:nvSpPr>
          <p:cNvPr id="14" name="Shape 10"/>
          <p:cNvSpPr/>
          <p:nvPr/>
        </p:nvSpPr>
        <p:spPr>
          <a:xfrm>
            <a:off x="3474720" y="1463040"/>
            <a:ext cx="438912" cy="438912"/>
          </a:xfrm>
          <a:prstGeom prst="ellipse">
            <a:avLst/>
          </a:prstGeom>
          <a:solidFill>
            <a:srgbClr val="152B56"/>
          </a:solidFill>
          <a:ln w="12700">
            <a:solidFill>
              <a:srgbClr val="152B56"/>
            </a:solidFill>
            <a:prstDash val="solid"/>
          </a:ln>
        </p:spPr>
      </p:sp>
      <p:pic>
        <p:nvPicPr>
          <p:cNvPr id="15" name="Image 1" descr="preencoded.png">    </p:cNvPr>
          <p:cNvPicPr>
            <a:picLocks noChangeAspect="1"/>
          </p:cNvPicPr>
          <p:nvPr/>
        </p:nvPicPr>
        <p:blipFill>
          <a:blip r:embed="rId2"/>
          <a:stretch>
            <a:fillRect/>
          </a:stretch>
        </p:blipFill>
        <p:spPr>
          <a:xfrm>
            <a:off x="3580059" y="1568379"/>
            <a:ext cx="228234" cy="228234"/>
          </a:xfrm>
          <a:prstGeom prst="rect">
            <a:avLst/>
          </a:prstGeom>
        </p:spPr>
      </p:pic>
      <p:sp>
        <p:nvSpPr>
          <p:cNvPr id="16" name="Text 11"/>
          <p:cNvSpPr txBox="1"/>
          <p:nvPr/>
        </p:nvSpPr>
        <p:spPr>
          <a:xfrm>
            <a:off x="4023360" y="1463040"/>
            <a:ext cx="1737360" cy="438912"/>
          </a:xfrm>
          <a:prstGeom prst="rect">
            <a:avLst/>
          </a:prstGeom>
          <a:noFill/>
          <a:ln/>
        </p:spPr>
        <p:txBody>
          <a:bodyPr wrap="square" lIns="0" tIns="0" rIns="0" bIns="0" rtlCol="0" anchor="ctr"/>
          <a:lstStyle/>
          <a:p>
            <a:pPr indent="0" marL="0">
              <a:buNone/>
            </a:pPr>
            <a:r>
              <a:rPr lang="en-US" sz="1600" b="1" dirty="0">
                <a:solidFill>
                  <a:srgbClr val="152B56"/>
                </a:solidFill>
                <a:latin typeface="Calibri" pitchFamily="34" charset="0"/>
                <a:ea typeface="Calibri" pitchFamily="34" charset="-122"/>
                <a:cs typeface="Calibri" pitchFamily="34" charset="-120"/>
              </a:rPr>
              <a:t>Status quo bias</a:t>
            </a:r>
            <a:endParaRPr lang="en-US" sz="1600" dirty="0"/>
          </a:p>
        </p:txBody>
      </p:sp>
      <p:sp>
        <p:nvSpPr>
          <p:cNvPr id="17" name="Text 12"/>
          <p:cNvSpPr txBox="1"/>
          <p:nvPr/>
        </p:nvSpPr>
        <p:spPr>
          <a:xfrm>
            <a:off x="3474720" y="2029968"/>
            <a:ext cx="2240280" cy="868680"/>
          </a:xfrm>
          <a:prstGeom prst="rect">
            <a:avLst/>
          </a:prstGeom>
          <a:noFill/>
          <a:ln/>
        </p:spPr>
        <p:txBody>
          <a:bodyPr wrap="square" lIns="0" tIns="0" rIns="0" bIns="0" rtlCol="0" anchor="t"/>
          <a:lstStyle/>
          <a:p>
            <a:pPr indent="0" marL="0">
              <a:buNone/>
            </a:pPr>
            <a:r>
              <a:rPr lang="en-US" sz="1250" dirty="0">
                <a:solidFill>
                  <a:srgbClr val="556070"/>
                </a:solidFill>
                <a:latin typeface="Calibri" pitchFamily="34" charset="0"/>
                <a:ea typeface="Calibri" pitchFamily="34" charset="-122"/>
                <a:cs typeface="Calibri" pitchFamily="34" charset="-120"/>
              </a:rPr>
              <a:t>The familiar option holds unless a trigger and a reason arrive together (Samuelson and Zeckhauser, 1988).</a:t>
            </a:r>
            <a:endParaRPr lang="en-US" sz="1250" dirty="0"/>
          </a:p>
        </p:txBody>
      </p:sp>
      <p:sp>
        <p:nvSpPr>
          <p:cNvPr id="18" name="Shape 13"/>
          <p:cNvSpPr/>
          <p:nvPr/>
        </p:nvSpPr>
        <p:spPr>
          <a:xfrm>
            <a:off x="3474720" y="2926080"/>
            <a:ext cx="2240280" cy="0"/>
          </a:xfrm>
          <a:prstGeom prst="line">
            <a:avLst/>
          </a:prstGeom>
          <a:noFill/>
          <a:ln w="9525">
            <a:solidFill>
              <a:srgbClr val="D9DEE7"/>
            </a:solidFill>
            <a:prstDash val="solid"/>
          </a:ln>
        </p:spPr>
      </p:sp>
      <p:sp>
        <p:nvSpPr>
          <p:cNvPr id="19" name="Text 14"/>
          <p:cNvSpPr txBox="1"/>
          <p:nvPr/>
        </p:nvSpPr>
        <p:spPr>
          <a:xfrm>
            <a:off x="3474720" y="2990088"/>
            <a:ext cx="2240280" cy="201168"/>
          </a:xfrm>
          <a:prstGeom prst="rect">
            <a:avLst/>
          </a:prstGeom>
          <a:noFill/>
          <a:ln/>
        </p:spPr>
        <p:txBody>
          <a:bodyPr wrap="square" lIns="0" tIns="0" rIns="0" bIns="0" rtlCol="0" anchor="t"/>
          <a:lstStyle/>
          <a:p>
            <a:pPr indent="0" marL="0">
              <a:buNone/>
            </a:pPr>
            <a:r>
              <a:rPr lang="en-US" sz="1000" b="1" spc="100" kern="0" dirty="0">
                <a:solidFill>
                  <a:srgbClr val="166257"/>
                </a:solidFill>
                <a:latin typeface="Calibri" pitchFamily="34" charset="0"/>
                <a:ea typeface="Calibri" pitchFamily="34" charset="-122"/>
                <a:cs typeface="Calibri" pitchFamily="34" charset="-120"/>
              </a:rPr>
              <a:t>WHAT WE SAW</a:t>
            </a:r>
            <a:endParaRPr lang="en-US" sz="1000" dirty="0"/>
          </a:p>
        </p:txBody>
      </p:sp>
      <p:sp>
        <p:nvSpPr>
          <p:cNvPr id="20" name="Text 15"/>
          <p:cNvSpPr txBox="1"/>
          <p:nvPr/>
        </p:nvSpPr>
        <p:spPr>
          <a:xfrm>
            <a:off x="3474720" y="3200400"/>
            <a:ext cx="2240280" cy="548640"/>
          </a:xfrm>
          <a:prstGeom prst="rect">
            <a:avLst/>
          </a:prstGeom>
          <a:noFill/>
          <a:ln/>
        </p:spPr>
        <p:txBody>
          <a:bodyPr wrap="square" lIns="0" tIns="0" rIns="0" bIns="0" rtlCol="0" anchor="t"/>
          <a:lstStyle/>
          <a:p>
            <a:pPr indent="0" marL="0">
              <a:buNone/>
            </a:pPr>
            <a:r>
              <a:rPr lang="en-US" sz="1300" b="1" dirty="0">
                <a:solidFill>
                  <a:srgbClr val="1E2633"/>
                </a:solidFill>
                <a:latin typeface="Calibri" pitchFamily="34" charset="0"/>
                <a:ea typeface="Calibri" pitchFamily="34" charset="-122"/>
                <a:cs typeface="Calibri" pitchFamily="34" charset="-120"/>
              </a:rPr>
              <a:t>A better rate was not a sufficient reason for 7 of 10 DIY borrowers.</a:t>
            </a:r>
            <a:endParaRPr lang="en-US" sz="1300" dirty="0"/>
          </a:p>
        </p:txBody>
      </p:sp>
      <p:sp>
        <p:nvSpPr>
          <p:cNvPr id="21" name="Shape 16"/>
          <p:cNvSpPr/>
          <p:nvPr/>
        </p:nvSpPr>
        <p:spPr>
          <a:xfrm>
            <a:off x="6035040" y="1280160"/>
            <a:ext cx="2651760" cy="2606040"/>
          </a:xfrm>
          <a:prstGeom prst="roundRect">
            <a:avLst>
              <a:gd name="adj" fmla="val 2807"/>
            </a:avLst>
          </a:prstGeom>
          <a:solidFill>
            <a:srgbClr val="F1F4F9"/>
          </a:solidFill>
          <a:ln w="12700">
            <a:solidFill>
              <a:srgbClr val="F1F4F9"/>
            </a:solidFill>
            <a:prstDash val="solid"/>
          </a:ln>
        </p:spPr>
      </p:sp>
      <p:sp>
        <p:nvSpPr>
          <p:cNvPr id="22" name="Shape 17"/>
          <p:cNvSpPr/>
          <p:nvPr/>
        </p:nvSpPr>
        <p:spPr>
          <a:xfrm>
            <a:off x="6263640" y="1463040"/>
            <a:ext cx="438912" cy="438912"/>
          </a:xfrm>
          <a:prstGeom prst="ellipse">
            <a:avLst/>
          </a:prstGeom>
          <a:solidFill>
            <a:srgbClr val="152B56"/>
          </a:solidFill>
          <a:ln w="12700">
            <a:solidFill>
              <a:srgbClr val="152B56"/>
            </a:solidFill>
            <a:prstDash val="solid"/>
          </a:ln>
        </p:spPr>
      </p:sp>
      <p:pic>
        <p:nvPicPr>
          <p:cNvPr id="23" name="Image 2" descr="preencoded.png">    </p:cNvPr>
          <p:cNvPicPr>
            <a:picLocks noChangeAspect="1"/>
          </p:cNvPicPr>
          <p:nvPr/>
        </p:nvPicPr>
        <p:blipFill>
          <a:blip r:embed="rId3"/>
          <a:stretch>
            <a:fillRect/>
          </a:stretch>
        </p:blipFill>
        <p:spPr>
          <a:xfrm>
            <a:off x="6368979" y="1568379"/>
            <a:ext cx="228234" cy="228234"/>
          </a:xfrm>
          <a:prstGeom prst="rect">
            <a:avLst/>
          </a:prstGeom>
        </p:spPr>
      </p:pic>
      <p:sp>
        <p:nvSpPr>
          <p:cNvPr id="24" name="Text 18"/>
          <p:cNvSpPr txBox="1"/>
          <p:nvPr/>
        </p:nvSpPr>
        <p:spPr>
          <a:xfrm>
            <a:off x="6812280" y="1463040"/>
            <a:ext cx="1737360" cy="438912"/>
          </a:xfrm>
          <a:prstGeom prst="rect">
            <a:avLst/>
          </a:prstGeom>
          <a:noFill/>
          <a:ln/>
        </p:spPr>
        <p:txBody>
          <a:bodyPr wrap="square" lIns="0" tIns="0" rIns="0" bIns="0" rtlCol="0" anchor="ctr"/>
          <a:lstStyle/>
          <a:p>
            <a:pPr indent="0" marL="0">
              <a:buNone/>
            </a:pPr>
            <a:r>
              <a:rPr lang="en-US" sz="1600" b="1" dirty="0">
                <a:solidFill>
                  <a:srgbClr val="152B56"/>
                </a:solidFill>
                <a:latin typeface="Calibri" pitchFamily="34" charset="0"/>
                <a:ea typeface="Calibri" pitchFamily="34" charset="-122"/>
                <a:cs typeface="Calibri" pitchFamily="34" charset="-120"/>
              </a:rPr>
              <a:t>Social proof</a:t>
            </a:r>
            <a:endParaRPr lang="en-US" sz="1600" dirty="0"/>
          </a:p>
        </p:txBody>
      </p:sp>
      <p:sp>
        <p:nvSpPr>
          <p:cNvPr id="25" name="Text 19"/>
          <p:cNvSpPr txBox="1"/>
          <p:nvPr/>
        </p:nvSpPr>
        <p:spPr>
          <a:xfrm>
            <a:off x="6263640" y="2029968"/>
            <a:ext cx="2240280" cy="868680"/>
          </a:xfrm>
          <a:prstGeom prst="rect">
            <a:avLst/>
          </a:prstGeom>
          <a:noFill/>
          <a:ln/>
        </p:spPr>
        <p:txBody>
          <a:bodyPr wrap="square" lIns="0" tIns="0" rIns="0" bIns="0" rtlCol="0" anchor="t"/>
          <a:lstStyle/>
          <a:p>
            <a:pPr indent="0" marL="0">
              <a:buNone/>
            </a:pPr>
            <a:r>
              <a:rPr lang="en-US" sz="1250" dirty="0">
                <a:solidFill>
                  <a:srgbClr val="556070"/>
                </a:solidFill>
                <a:latin typeface="Calibri" pitchFamily="34" charset="0"/>
                <a:ea typeface="Calibri" pitchFamily="34" charset="-122"/>
                <a:cs typeface="Calibri" pitchFamily="34" charset="-120"/>
              </a:rPr>
              <a:t>People copy the choices of people like them, especially under uncertainty (Cialdini, 1984).</a:t>
            </a:r>
            <a:endParaRPr lang="en-US" sz="1250" dirty="0"/>
          </a:p>
        </p:txBody>
      </p:sp>
      <p:sp>
        <p:nvSpPr>
          <p:cNvPr id="26" name="Shape 20"/>
          <p:cNvSpPr/>
          <p:nvPr/>
        </p:nvSpPr>
        <p:spPr>
          <a:xfrm>
            <a:off x="6263640" y="2926080"/>
            <a:ext cx="2240280" cy="0"/>
          </a:xfrm>
          <a:prstGeom prst="line">
            <a:avLst/>
          </a:prstGeom>
          <a:noFill/>
          <a:ln w="9525">
            <a:solidFill>
              <a:srgbClr val="D9DEE7"/>
            </a:solidFill>
            <a:prstDash val="solid"/>
          </a:ln>
        </p:spPr>
      </p:sp>
      <p:sp>
        <p:nvSpPr>
          <p:cNvPr id="27" name="Text 21"/>
          <p:cNvSpPr txBox="1"/>
          <p:nvPr/>
        </p:nvSpPr>
        <p:spPr>
          <a:xfrm>
            <a:off x="6263640" y="2990088"/>
            <a:ext cx="2240280" cy="201168"/>
          </a:xfrm>
          <a:prstGeom prst="rect">
            <a:avLst/>
          </a:prstGeom>
          <a:noFill/>
          <a:ln/>
        </p:spPr>
        <p:txBody>
          <a:bodyPr wrap="square" lIns="0" tIns="0" rIns="0" bIns="0" rtlCol="0" anchor="t"/>
          <a:lstStyle/>
          <a:p>
            <a:pPr indent="0" marL="0">
              <a:buNone/>
            </a:pPr>
            <a:r>
              <a:rPr lang="en-US" sz="1000" b="1" spc="100" kern="0" dirty="0">
                <a:solidFill>
                  <a:srgbClr val="166257"/>
                </a:solidFill>
                <a:latin typeface="Calibri" pitchFamily="34" charset="0"/>
                <a:ea typeface="Calibri" pitchFamily="34" charset="-122"/>
                <a:cs typeface="Calibri" pitchFamily="34" charset="-120"/>
              </a:rPr>
              <a:t>WHAT WE SAW</a:t>
            </a:r>
            <a:endParaRPr lang="en-US" sz="1000" dirty="0"/>
          </a:p>
        </p:txBody>
      </p:sp>
      <p:sp>
        <p:nvSpPr>
          <p:cNvPr id="28" name="Text 22"/>
          <p:cNvSpPr txBox="1"/>
          <p:nvPr/>
        </p:nvSpPr>
        <p:spPr>
          <a:xfrm>
            <a:off x="6263640" y="3200400"/>
            <a:ext cx="2240280" cy="548640"/>
          </a:xfrm>
          <a:prstGeom prst="rect">
            <a:avLst/>
          </a:prstGeom>
          <a:noFill/>
          <a:ln/>
        </p:spPr>
        <p:txBody>
          <a:bodyPr wrap="square" lIns="0" tIns="0" rIns="0" bIns="0" rtlCol="0" anchor="t"/>
          <a:lstStyle/>
          <a:p>
            <a:pPr indent="0" marL="0">
              <a:buNone/>
            </a:pPr>
            <a:r>
              <a:rPr lang="en-US" sz="1300" b="1" dirty="0">
                <a:solidFill>
                  <a:srgbClr val="1E2633"/>
                </a:solidFill>
                <a:latin typeface="Calibri" pitchFamily="34" charset="0"/>
                <a:ea typeface="Calibri" pitchFamily="34" charset="-122"/>
                <a:cs typeface="Calibri" pitchFamily="34" charset="-120"/>
              </a:rPr>
              <a:t>A friend's experience was the strongest lever in both groups, XXX of 14.</a:t>
            </a:r>
            <a:endParaRPr lang="en-US" sz="1300" dirty="0"/>
          </a:p>
        </p:txBody>
      </p:sp>
      <p:sp>
        <p:nvSpPr>
          <p:cNvPr id="29" name="Shape 23"/>
          <p:cNvSpPr/>
          <p:nvPr/>
        </p:nvSpPr>
        <p:spPr>
          <a:xfrm>
            <a:off x="457200" y="3977640"/>
            <a:ext cx="8229600" cy="621792"/>
          </a:xfrm>
          <a:prstGeom prst="roundRect">
            <a:avLst>
              <a:gd name="adj" fmla="val 11765"/>
            </a:avLst>
          </a:prstGeom>
          <a:solidFill>
            <a:srgbClr val="E3F3EF"/>
          </a:solidFill>
          <a:ln w="12700">
            <a:solidFill>
              <a:srgbClr val="E3F3EF"/>
            </a:solidFill>
            <a:prstDash val="solid"/>
          </a:ln>
        </p:spPr>
      </p:sp>
      <p:sp>
        <p:nvSpPr>
          <p:cNvPr id="30" name="Text 24"/>
          <p:cNvSpPr txBox="1"/>
          <p:nvPr/>
        </p:nvSpPr>
        <p:spPr>
          <a:xfrm>
            <a:off x="640080" y="3995928"/>
            <a:ext cx="7863840" cy="585216"/>
          </a:xfrm>
          <a:prstGeom prst="rect">
            <a:avLst/>
          </a:prstGeom>
          <a:noFill/>
          <a:ln/>
        </p:spPr>
        <p:txBody>
          <a:bodyPr wrap="square" lIns="0" tIns="0" rIns="0" bIns="0" rtlCol="0" anchor="ctr"/>
          <a:lstStyle/>
          <a:p>
            <a:pPr indent="0" marL="0">
              <a:buNone/>
            </a:pPr>
            <a:r>
              <a:rPr lang="en-US" sz="1300" b="1" dirty="0">
                <a:solidFill>
                  <a:srgbClr val="166257"/>
                </a:solidFill>
                <a:latin typeface="Calibri" pitchFamily="34" charset="0"/>
                <a:ea typeface="Calibri" pitchFamily="34" charset="-122"/>
                <a:cs typeface="Calibri" pitchFamily="34" charset="-120"/>
              </a:rPr>
              <a:t>AMB's advertised variable rate is competitive with the big four's: 5.94% up to 60% LVR and 6.19% at 60 to 80%, against 6.09 to 6.25% (AMB, Mozo, Sep 2026). The problem is not the rate. It is that the rate is never weighed.</a:t>
            </a:r>
            <a:endParaRPr lang="en-US" sz="1300" dirty="0"/>
          </a:p>
        </p:txBody>
      </p:sp>
      <p:sp>
        <p:nvSpPr>
          <p:cNvPr id="31" name="Text 25"/>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Three moves place AMB where the shortlist is built, with the broker channel taking the largest share of the $750k</a:t>
            </a:r>
            <a:endParaRPr lang="en-US" sz="2000" dirty="0"/>
          </a:p>
        </p:txBody>
      </p:sp>
      <p:sp>
        <p:nvSpPr>
          <p:cNvPr id="5" name="Shape 2"/>
          <p:cNvSpPr/>
          <p:nvPr/>
        </p:nvSpPr>
        <p:spPr>
          <a:xfrm>
            <a:off x="457200" y="1234440"/>
            <a:ext cx="2651760" cy="3154680"/>
          </a:xfrm>
          <a:prstGeom prst="roundRect">
            <a:avLst>
              <a:gd name="adj" fmla="val 2759"/>
            </a:avLst>
          </a:prstGeom>
          <a:solidFill>
            <a:srgbClr val="F1F4F9"/>
          </a:solidFill>
          <a:ln w="12700">
            <a:solidFill>
              <a:srgbClr val="F1F4F9"/>
            </a:solidFill>
            <a:prstDash val="solid"/>
          </a:ln>
        </p:spPr>
      </p:sp>
      <p:sp>
        <p:nvSpPr>
          <p:cNvPr id="6" name="Shape 3"/>
          <p:cNvSpPr/>
          <p:nvPr/>
        </p:nvSpPr>
        <p:spPr>
          <a:xfrm>
            <a:off x="685800" y="1389888"/>
            <a:ext cx="420624" cy="420624"/>
          </a:xfrm>
          <a:prstGeom prst="ellipse">
            <a:avLst/>
          </a:prstGeom>
          <a:solidFill>
            <a:srgbClr val="152B56"/>
          </a:solidFill>
          <a:ln w="12700">
            <a:solidFill>
              <a:srgbClr val="152B56"/>
            </a:solidFill>
            <a:prstDash val="solid"/>
          </a:ln>
        </p:spPr>
      </p:sp>
      <p:pic>
        <p:nvPicPr>
          <p:cNvPr id="7" name="Image 0" descr="preencoded.png">    </p:cNvPr>
          <p:cNvPicPr>
            <a:picLocks noChangeAspect="1"/>
          </p:cNvPicPr>
          <p:nvPr/>
        </p:nvPicPr>
        <p:blipFill>
          <a:blip r:embed="rId1"/>
          <a:stretch>
            <a:fillRect/>
          </a:stretch>
        </p:blipFill>
        <p:spPr>
          <a:xfrm>
            <a:off x="786750" y="1490838"/>
            <a:ext cx="218724" cy="218724"/>
          </a:xfrm>
          <a:prstGeom prst="rect">
            <a:avLst/>
          </a:prstGeom>
        </p:spPr>
      </p:pic>
      <p:sp>
        <p:nvSpPr>
          <p:cNvPr id="8" name="Text 4"/>
          <p:cNvSpPr txBox="1"/>
          <p:nvPr/>
        </p:nvSpPr>
        <p:spPr>
          <a:xfrm>
            <a:off x="1554480" y="1298448"/>
            <a:ext cx="1371600" cy="457200"/>
          </a:xfrm>
          <a:prstGeom prst="rect">
            <a:avLst/>
          </a:prstGeom>
          <a:noFill/>
          <a:ln/>
        </p:spPr>
        <p:txBody>
          <a:bodyPr wrap="square" lIns="0" tIns="0" rIns="0" bIns="0" rtlCol="0" anchor="ctr"/>
          <a:lstStyle/>
          <a:p>
            <a:pPr algn="r" indent="0" marL="0">
              <a:buNone/>
            </a:pPr>
            <a:r>
              <a:rPr lang="en-US" sz="3000" b="1" dirty="0">
                <a:solidFill>
                  <a:srgbClr val="166257"/>
                </a:solidFill>
                <a:latin typeface="Cambria" pitchFamily="34" charset="0"/>
                <a:ea typeface="Cambria" pitchFamily="34" charset="-122"/>
                <a:cs typeface="Cambria" pitchFamily="34" charset="-120"/>
              </a:rPr>
              <a:t>20%</a:t>
            </a:r>
            <a:endParaRPr lang="en-US" sz="3000" dirty="0"/>
          </a:p>
        </p:txBody>
      </p:sp>
      <p:sp>
        <p:nvSpPr>
          <p:cNvPr id="9" name="Text 5"/>
          <p:cNvSpPr txBox="1"/>
          <p:nvPr/>
        </p:nvSpPr>
        <p:spPr>
          <a:xfrm>
            <a:off x="1188720" y="1737360"/>
            <a:ext cx="1737360" cy="228600"/>
          </a:xfrm>
          <a:prstGeom prst="rect">
            <a:avLst/>
          </a:prstGeom>
          <a:noFill/>
          <a:ln/>
        </p:spPr>
        <p:txBody>
          <a:bodyPr wrap="square" lIns="0" tIns="0" rIns="0" bIns="0" rtlCol="0" anchor="t"/>
          <a:lstStyle/>
          <a:p>
            <a:pPr algn="r" indent="0" marL="0">
              <a:buNone/>
            </a:pPr>
            <a:r>
              <a:rPr lang="en-US" sz="1100" dirty="0">
                <a:solidFill>
                  <a:srgbClr val="556070"/>
                </a:solidFill>
                <a:latin typeface="Calibri" pitchFamily="34" charset="0"/>
                <a:ea typeface="Calibri" pitchFamily="34" charset="-122"/>
                <a:cs typeface="Calibri" pitchFamily="34" charset="-120"/>
              </a:rPr>
              <a:t>$150k · owned + earned</a:t>
            </a:r>
            <a:endParaRPr lang="en-US" sz="1100" dirty="0"/>
          </a:p>
        </p:txBody>
      </p:sp>
      <p:sp>
        <p:nvSpPr>
          <p:cNvPr id="10" name="Text 6"/>
          <p:cNvSpPr txBox="1"/>
          <p:nvPr/>
        </p:nvSpPr>
        <p:spPr>
          <a:xfrm>
            <a:off x="685800" y="2029968"/>
            <a:ext cx="2240280" cy="457200"/>
          </a:xfrm>
          <a:prstGeom prst="rect">
            <a:avLst/>
          </a:prstGeom>
          <a:noFill/>
          <a:ln/>
        </p:spPr>
        <p:txBody>
          <a:bodyPr wrap="square" lIns="0" tIns="0" rIns="0" bIns="0" rtlCol="0" anchor="t"/>
          <a:lstStyle/>
          <a:p>
            <a:pPr indent="0" marL="0">
              <a:buNone/>
            </a:pPr>
            <a:r>
              <a:rPr lang="en-US" sz="1500" b="1" dirty="0">
                <a:solidFill>
                  <a:srgbClr val="152B56"/>
                </a:solidFill>
                <a:latin typeface="Calibri" pitchFamily="34" charset="0"/>
                <a:ea typeface="Calibri" pitchFamily="34" charset="-122"/>
                <a:cs typeface="Calibri" pitchFamily="34" charset="-120"/>
              </a:rPr>
              <a:t>Make AMB easy to verify</a:t>
            </a:r>
            <a:endParaRPr lang="en-US" sz="1500" dirty="0"/>
          </a:p>
        </p:txBody>
      </p:sp>
      <p:sp>
        <p:nvSpPr>
          <p:cNvPr id="11" name="Text 7"/>
          <p:cNvSpPr txBox="1"/>
          <p:nvPr/>
        </p:nvSpPr>
        <p:spPr>
          <a:xfrm>
            <a:off x="685800" y="2514600"/>
            <a:ext cx="2240280" cy="1325880"/>
          </a:xfrm>
          <a:prstGeom prst="rect">
            <a:avLst/>
          </a:prstGeom>
          <a:noFill/>
          <a:ln/>
        </p:spPr>
        <p:txBody>
          <a:bodyPr wrap="square" lIns="0" tIns="0" rIns="0" bIns="0" rtlCol="0" anchor="t"/>
          <a:lstStyle/>
          <a:p>
            <a:pPr indent="0" marL="0">
              <a:buNone/>
            </a:pPr>
            <a:r>
              <a:rPr lang="en-US" sz="1200" dirty="0">
                <a:solidFill>
                  <a:srgbClr val="1E2633"/>
                </a:solidFill>
                <a:latin typeface="Calibri" pitchFamily="34" charset="0"/>
                <a:ea typeface="Calibri" pitchFamily="34" charset="-122"/>
                <a:cs typeface="Calibri" pitchFamily="34" charset="-120"/>
              </a:rPr>
              <a:t>Reviews on Google and ProductReview, independent ratings, APRA and Roy Morgan proof, real rates, fees and approval times on the site; visible in search and AI answers.</a:t>
            </a:r>
            <a:endParaRPr lang="en-US" sz="1200" dirty="0"/>
          </a:p>
        </p:txBody>
      </p:sp>
      <p:sp>
        <p:nvSpPr>
          <p:cNvPr id="12" name="Text 8"/>
          <p:cNvSpPr txBox="1"/>
          <p:nvPr/>
        </p:nvSpPr>
        <p:spPr>
          <a:xfrm>
            <a:off x="685800" y="3931920"/>
            <a:ext cx="2240280" cy="365760"/>
          </a:xfrm>
          <a:prstGeom prst="rect">
            <a:avLst/>
          </a:prstGeom>
          <a:noFill/>
          <a:ln/>
        </p:spPr>
        <p:txBody>
          <a:bodyPr wrap="square" lIns="0" tIns="0" rIns="0" bIns="0" rtlCol="0" anchor="t"/>
          <a:lstStyle/>
          <a:p>
            <a:pPr indent="0" marL="0">
              <a:buNone/>
            </a:pPr>
            <a:r>
              <a:rPr lang="en-US" sz="1150" b="1" dirty="0">
                <a:solidFill>
                  <a:srgbClr val="166257"/>
                </a:solidFill>
                <a:latin typeface="Calibri" pitchFamily="34" charset="0"/>
                <a:ea typeface="Calibri" pitchFamily="34" charset="-122"/>
                <a:cs typeface="Calibri" pitchFamily="34" charset="-120"/>
              </a:rPr>
              <a:t>Acts on: </a:t>
            </a:r>
            <a:pPr indent="0" marL="0">
              <a:buNone/>
            </a:pPr>
            <a:r>
              <a:rPr lang="en-US" sz="1150" dirty="0">
                <a:solidFill>
                  <a:srgbClr val="166257"/>
                </a:solidFill>
                <a:latin typeface="Calibri" pitchFamily="34" charset="0"/>
                <a:ea typeface="Calibri" pitchFamily="34" charset="-122"/>
                <a:cs typeface="Calibri" pitchFamily="34" charset="-120"/>
              </a:rPr>
              <a:t>The borrower's own check</a:t>
            </a:r>
            <a:endParaRPr lang="en-US" sz="1150" dirty="0"/>
          </a:p>
        </p:txBody>
      </p:sp>
      <p:sp>
        <p:nvSpPr>
          <p:cNvPr id="13" name="Shape 9"/>
          <p:cNvSpPr/>
          <p:nvPr/>
        </p:nvSpPr>
        <p:spPr>
          <a:xfrm>
            <a:off x="3246120" y="1234440"/>
            <a:ext cx="2651760" cy="3154680"/>
          </a:xfrm>
          <a:prstGeom prst="roundRect">
            <a:avLst>
              <a:gd name="adj" fmla="val 2759"/>
            </a:avLst>
          </a:prstGeom>
          <a:solidFill>
            <a:srgbClr val="152B56"/>
          </a:solidFill>
          <a:ln w="12700">
            <a:solidFill>
              <a:srgbClr val="152B56"/>
            </a:solidFill>
            <a:prstDash val="solid"/>
          </a:ln>
        </p:spPr>
      </p:sp>
      <p:sp>
        <p:nvSpPr>
          <p:cNvPr id="14" name="Shape 10"/>
          <p:cNvSpPr/>
          <p:nvPr/>
        </p:nvSpPr>
        <p:spPr>
          <a:xfrm>
            <a:off x="3474720" y="1389888"/>
            <a:ext cx="420624" cy="420624"/>
          </a:xfrm>
          <a:prstGeom prst="ellipse">
            <a:avLst/>
          </a:prstGeom>
          <a:solidFill>
            <a:srgbClr val="1F8F74"/>
          </a:solidFill>
          <a:ln w="12700">
            <a:solidFill>
              <a:srgbClr val="1F8F74"/>
            </a:solidFill>
            <a:prstDash val="solid"/>
          </a:ln>
        </p:spPr>
      </p:sp>
      <p:pic>
        <p:nvPicPr>
          <p:cNvPr id="15" name="Image 1" descr="preencoded.png">    </p:cNvPr>
          <p:cNvPicPr>
            <a:picLocks noChangeAspect="1"/>
          </p:cNvPicPr>
          <p:nvPr/>
        </p:nvPicPr>
        <p:blipFill>
          <a:blip r:embed="rId2"/>
          <a:stretch>
            <a:fillRect/>
          </a:stretch>
        </p:blipFill>
        <p:spPr>
          <a:xfrm>
            <a:off x="3575670" y="1490838"/>
            <a:ext cx="218724" cy="218724"/>
          </a:xfrm>
          <a:prstGeom prst="rect">
            <a:avLst/>
          </a:prstGeom>
        </p:spPr>
      </p:pic>
      <p:sp>
        <p:nvSpPr>
          <p:cNvPr id="16" name="Text 11"/>
          <p:cNvSpPr txBox="1"/>
          <p:nvPr/>
        </p:nvSpPr>
        <p:spPr>
          <a:xfrm>
            <a:off x="4343400" y="1298448"/>
            <a:ext cx="1371600" cy="457200"/>
          </a:xfrm>
          <a:prstGeom prst="rect">
            <a:avLst/>
          </a:prstGeom>
          <a:noFill/>
          <a:ln/>
        </p:spPr>
        <p:txBody>
          <a:bodyPr wrap="square" lIns="0" tIns="0" rIns="0" bIns="0" rtlCol="0" anchor="ctr"/>
          <a:lstStyle/>
          <a:p>
            <a:pPr algn="r" indent="0" marL="0">
              <a:buNone/>
            </a:pPr>
            <a:r>
              <a:rPr lang="en-US" sz="3000" b="1" dirty="0">
                <a:solidFill>
                  <a:srgbClr val="1F8F74"/>
                </a:solidFill>
                <a:latin typeface="Cambria" pitchFamily="34" charset="0"/>
                <a:ea typeface="Cambria" pitchFamily="34" charset="-122"/>
                <a:cs typeface="Cambria" pitchFamily="34" charset="-120"/>
              </a:rPr>
              <a:t>55%</a:t>
            </a:r>
            <a:endParaRPr lang="en-US" sz="3000" dirty="0"/>
          </a:p>
        </p:txBody>
      </p:sp>
      <p:sp>
        <p:nvSpPr>
          <p:cNvPr id="17" name="Text 12"/>
          <p:cNvSpPr txBox="1"/>
          <p:nvPr/>
        </p:nvSpPr>
        <p:spPr>
          <a:xfrm>
            <a:off x="3977640" y="1737360"/>
            <a:ext cx="1737360" cy="228600"/>
          </a:xfrm>
          <a:prstGeom prst="rect">
            <a:avLst/>
          </a:prstGeom>
          <a:noFill/>
          <a:ln/>
        </p:spPr>
        <p:txBody>
          <a:bodyPr wrap="square" lIns="0" tIns="0" rIns="0" bIns="0" rtlCol="0" anchor="t"/>
          <a:lstStyle/>
          <a:p>
            <a:pPr algn="r" indent="0" marL="0">
              <a:buNone/>
            </a:pPr>
            <a:r>
              <a:rPr lang="en-US" sz="1100" dirty="0">
                <a:solidFill>
                  <a:srgbClr val="C9D6E8"/>
                </a:solidFill>
                <a:latin typeface="Calibri" pitchFamily="34" charset="0"/>
                <a:ea typeface="Calibri" pitchFamily="34" charset="-122"/>
                <a:cs typeface="Calibri" pitchFamily="34" charset="-120"/>
              </a:rPr>
              <a:t>$412.5k · paid + owned</a:t>
            </a:r>
            <a:endParaRPr lang="en-US" sz="1100" dirty="0"/>
          </a:p>
        </p:txBody>
      </p:sp>
      <p:sp>
        <p:nvSpPr>
          <p:cNvPr id="18" name="Text 13"/>
          <p:cNvSpPr txBox="1"/>
          <p:nvPr/>
        </p:nvSpPr>
        <p:spPr>
          <a:xfrm>
            <a:off x="3474720" y="2029968"/>
            <a:ext cx="224028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Enter the broker's working set</a:t>
            </a:r>
            <a:endParaRPr lang="en-US" sz="1500" dirty="0"/>
          </a:p>
        </p:txBody>
      </p:sp>
      <p:sp>
        <p:nvSpPr>
          <p:cNvPr id="19" name="Text 14"/>
          <p:cNvSpPr txBox="1"/>
          <p:nvPr/>
        </p:nvSpPr>
        <p:spPr>
          <a:xfrm>
            <a:off x="3474720" y="2514600"/>
            <a:ext cx="2240280" cy="132588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Confirm AMB brand accreditation on the major panels (XXX); a digital proof pack and listing on aggregator broker platforms; live tracking of a 48-hour turnaround commitment; BDM coverage behind it.</a:t>
            </a:r>
            <a:endParaRPr lang="en-US" sz="1200" dirty="0"/>
          </a:p>
        </p:txBody>
      </p:sp>
      <p:sp>
        <p:nvSpPr>
          <p:cNvPr id="20" name="Text 15"/>
          <p:cNvSpPr txBox="1"/>
          <p:nvPr/>
        </p:nvSpPr>
        <p:spPr>
          <a:xfrm>
            <a:off x="3474720" y="3931920"/>
            <a:ext cx="2240280" cy="365760"/>
          </a:xfrm>
          <a:prstGeom prst="rect">
            <a:avLst/>
          </a:prstGeom>
          <a:noFill/>
          <a:ln/>
        </p:spPr>
        <p:txBody>
          <a:bodyPr wrap="square" lIns="0" tIns="0" rIns="0" bIns="0" rtlCol="0" anchor="t"/>
          <a:lstStyle/>
          <a:p>
            <a:pPr indent="0" marL="0">
              <a:buNone/>
            </a:pPr>
            <a:r>
              <a:rPr lang="en-US" sz="1150" b="1" dirty="0">
                <a:solidFill>
                  <a:srgbClr val="1F8F74"/>
                </a:solidFill>
                <a:latin typeface="Calibri" pitchFamily="34" charset="0"/>
                <a:ea typeface="Calibri" pitchFamily="34" charset="-122"/>
                <a:cs typeface="Calibri" pitchFamily="34" charset="-120"/>
              </a:rPr>
              <a:t>Acts on: </a:t>
            </a:r>
            <a:pPr indent="0" marL="0">
              <a:buNone/>
            </a:pPr>
            <a:r>
              <a:rPr lang="en-US" sz="1150" dirty="0">
                <a:solidFill>
                  <a:srgbClr val="1F8F74"/>
                </a:solidFill>
                <a:latin typeface="Calibri" pitchFamily="34" charset="0"/>
                <a:ea typeface="Calibri" pitchFamily="34" charset="-122"/>
                <a:cs typeface="Calibri" pitchFamily="34" charset="-120"/>
              </a:rPr>
              <a:t>The broker's shortlist</a:t>
            </a:r>
            <a:endParaRPr lang="en-US" sz="1150" dirty="0"/>
          </a:p>
        </p:txBody>
      </p:sp>
      <p:sp>
        <p:nvSpPr>
          <p:cNvPr id="21" name="Shape 16"/>
          <p:cNvSpPr/>
          <p:nvPr/>
        </p:nvSpPr>
        <p:spPr>
          <a:xfrm>
            <a:off x="6035040" y="1234440"/>
            <a:ext cx="2651760" cy="3154680"/>
          </a:xfrm>
          <a:prstGeom prst="roundRect">
            <a:avLst>
              <a:gd name="adj" fmla="val 2759"/>
            </a:avLst>
          </a:prstGeom>
          <a:solidFill>
            <a:srgbClr val="F1F4F9"/>
          </a:solidFill>
          <a:ln w="12700">
            <a:solidFill>
              <a:srgbClr val="F1F4F9"/>
            </a:solidFill>
            <a:prstDash val="solid"/>
          </a:ln>
        </p:spPr>
      </p:sp>
      <p:sp>
        <p:nvSpPr>
          <p:cNvPr id="22" name="Shape 17"/>
          <p:cNvSpPr/>
          <p:nvPr/>
        </p:nvSpPr>
        <p:spPr>
          <a:xfrm>
            <a:off x="6263640" y="1389888"/>
            <a:ext cx="420624" cy="420624"/>
          </a:xfrm>
          <a:prstGeom prst="ellipse">
            <a:avLst/>
          </a:prstGeom>
          <a:solidFill>
            <a:srgbClr val="152B56"/>
          </a:solidFill>
          <a:ln w="12700">
            <a:solidFill>
              <a:srgbClr val="152B56"/>
            </a:solidFill>
            <a:prstDash val="solid"/>
          </a:ln>
        </p:spPr>
      </p:sp>
      <p:pic>
        <p:nvPicPr>
          <p:cNvPr id="23" name="Image 2" descr="preencoded.png">    </p:cNvPr>
          <p:cNvPicPr>
            <a:picLocks noChangeAspect="1"/>
          </p:cNvPicPr>
          <p:nvPr/>
        </p:nvPicPr>
        <p:blipFill>
          <a:blip r:embed="rId3"/>
          <a:stretch>
            <a:fillRect/>
          </a:stretch>
        </p:blipFill>
        <p:spPr>
          <a:xfrm>
            <a:off x="6364590" y="1490838"/>
            <a:ext cx="218724" cy="218724"/>
          </a:xfrm>
          <a:prstGeom prst="rect">
            <a:avLst/>
          </a:prstGeom>
        </p:spPr>
      </p:pic>
      <p:sp>
        <p:nvSpPr>
          <p:cNvPr id="24" name="Text 18"/>
          <p:cNvSpPr txBox="1"/>
          <p:nvPr/>
        </p:nvSpPr>
        <p:spPr>
          <a:xfrm>
            <a:off x="7132320" y="1298448"/>
            <a:ext cx="1371600" cy="457200"/>
          </a:xfrm>
          <a:prstGeom prst="rect">
            <a:avLst/>
          </a:prstGeom>
          <a:noFill/>
          <a:ln/>
        </p:spPr>
        <p:txBody>
          <a:bodyPr wrap="square" lIns="0" tIns="0" rIns="0" bIns="0" rtlCol="0" anchor="ctr"/>
          <a:lstStyle/>
          <a:p>
            <a:pPr algn="r" indent="0" marL="0">
              <a:buNone/>
            </a:pPr>
            <a:r>
              <a:rPr lang="en-US" sz="3000" b="1" dirty="0">
                <a:solidFill>
                  <a:srgbClr val="166257"/>
                </a:solidFill>
                <a:latin typeface="Cambria" pitchFamily="34" charset="0"/>
                <a:ea typeface="Cambria" pitchFamily="34" charset="-122"/>
                <a:cs typeface="Cambria" pitchFamily="34" charset="-120"/>
              </a:rPr>
              <a:t>15%</a:t>
            </a:r>
            <a:endParaRPr lang="en-US" sz="3000" dirty="0"/>
          </a:p>
        </p:txBody>
      </p:sp>
      <p:sp>
        <p:nvSpPr>
          <p:cNvPr id="25" name="Text 19"/>
          <p:cNvSpPr txBox="1"/>
          <p:nvPr/>
        </p:nvSpPr>
        <p:spPr>
          <a:xfrm>
            <a:off x="6766560" y="1737360"/>
            <a:ext cx="1737360" cy="228600"/>
          </a:xfrm>
          <a:prstGeom prst="rect">
            <a:avLst/>
          </a:prstGeom>
          <a:noFill/>
          <a:ln/>
        </p:spPr>
        <p:txBody>
          <a:bodyPr wrap="square" lIns="0" tIns="0" rIns="0" bIns="0" rtlCol="0" anchor="t"/>
          <a:lstStyle/>
          <a:p>
            <a:pPr algn="r" indent="0" marL="0">
              <a:buNone/>
            </a:pPr>
            <a:r>
              <a:rPr lang="en-US" sz="1100" dirty="0">
                <a:solidFill>
                  <a:srgbClr val="556070"/>
                </a:solidFill>
                <a:latin typeface="Calibri" pitchFamily="34" charset="0"/>
                <a:ea typeface="Calibri" pitchFamily="34" charset="-122"/>
                <a:cs typeface="Calibri" pitchFamily="34" charset="-120"/>
              </a:rPr>
              <a:t>$112.5k · earned</a:t>
            </a:r>
            <a:endParaRPr lang="en-US" sz="1100" dirty="0"/>
          </a:p>
        </p:txBody>
      </p:sp>
      <p:sp>
        <p:nvSpPr>
          <p:cNvPr id="26" name="Text 20"/>
          <p:cNvSpPr txBox="1"/>
          <p:nvPr/>
        </p:nvSpPr>
        <p:spPr>
          <a:xfrm>
            <a:off x="6263640" y="2029968"/>
            <a:ext cx="2240280" cy="457200"/>
          </a:xfrm>
          <a:prstGeom prst="rect">
            <a:avLst/>
          </a:prstGeom>
          <a:noFill/>
          <a:ln/>
        </p:spPr>
        <p:txBody>
          <a:bodyPr wrap="square" lIns="0" tIns="0" rIns="0" bIns="0" rtlCol="0" anchor="t"/>
          <a:lstStyle/>
          <a:p>
            <a:pPr indent="0" marL="0">
              <a:buNone/>
            </a:pPr>
            <a:r>
              <a:rPr lang="en-US" sz="1500" b="1" dirty="0">
                <a:solidFill>
                  <a:srgbClr val="152B56"/>
                </a:solidFill>
                <a:latin typeface="Calibri" pitchFamily="34" charset="0"/>
                <a:ea typeface="Calibri" pitchFamily="34" charset="-122"/>
                <a:cs typeface="Calibri" pitchFamily="34" charset="-120"/>
              </a:rPr>
              <a:t>Member check-your-offer link</a:t>
            </a:r>
            <a:endParaRPr lang="en-US" sz="1500" dirty="0"/>
          </a:p>
        </p:txBody>
      </p:sp>
      <p:sp>
        <p:nvSpPr>
          <p:cNvPr id="27" name="Text 21"/>
          <p:cNvSpPr txBox="1"/>
          <p:nvPr/>
        </p:nvSpPr>
        <p:spPr>
          <a:xfrm>
            <a:off x="6263640" y="2514600"/>
            <a:ext cx="2240280" cy="1325880"/>
          </a:xfrm>
          <a:prstGeom prst="rect">
            <a:avLst/>
          </a:prstGeom>
          <a:noFill/>
          <a:ln/>
        </p:spPr>
        <p:txBody>
          <a:bodyPr wrap="square" lIns="0" tIns="0" rIns="0" bIns="0" rtlCol="0" anchor="t"/>
          <a:lstStyle/>
          <a:p>
            <a:pPr indent="0" marL="0">
              <a:buNone/>
            </a:pPr>
            <a:r>
              <a:rPr lang="en-US" sz="1200" dirty="0">
                <a:solidFill>
                  <a:srgbClr val="1E2633"/>
                </a:solidFill>
                <a:latin typeface="Calibri" pitchFamily="34" charset="0"/>
                <a:ea typeface="Calibri" pitchFamily="34" charset="-122"/>
                <a:cs typeface="Calibri" pitchFamily="34" charset="-120"/>
              </a:rPr>
              <a:t>A member sends a friend one link; the friend uploads the offer they already have; AMB returns a firm rate within 24 hours. Tracked from link to settlement.</a:t>
            </a:r>
            <a:endParaRPr lang="en-US" sz="1200" dirty="0"/>
          </a:p>
        </p:txBody>
      </p:sp>
      <p:sp>
        <p:nvSpPr>
          <p:cNvPr id="28" name="Text 22"/>
          <p:cNvSpPr txBox="1"/>
          <p:nvPr/>
        </p:nvSpPr>
        <p:spPr>
          <a:xfrm>
            <a:off x="6263640" y="3931920"/>
            <a:ext cx="2240280" cy="365760"/>
          </a:xfrm>
          <a:prstGeom prst="rect">
            <a:avLst/>
          </a:prstGeom>
          <a:noFill/>
          <a:ln/>
        </p:spPr>
        <p:txBody>
          <a:bodyPr wrap="square" lIns="0" tIns="0" rIns="0" bIns="0" rtlCol="0" anchor="t"/>
          <a:lstStyle/>
          <a:p>
            <a:pPr indent="0" marL="0">
              <a:buNone/>
            </a:pPr>
            <a:r>
              <a:rPr lang="en-US" sz="1150" b="1" dirty="0">
                <a:solidFill>
                  <a:srgbClr val="166257"/>
                </a:solidFill>
                <a:latin typeface="Calibri" pitchFamily="34" charset="0"/>
                <a:ea typeface="Calibri" pitchFamily="34" charset="-122"/>
                <a:cs typeface="Calibri" pitchFamily="34" charset="-120"/>
              </a:rPr>
              <a:t>Acts on: </a:t>
            </a:r>
            <a:pPr indent="0" marL="0">
              <a:buNone/>
            </a:pPr>
            <a:r>
              <a:rPr lang="en-US" sz="1150" dirty="0">
                <a:solidFill>
                  <a:srgbClr val="166257"/>
                </a:solidFill>
                <a:latin typeface="Calibri" pitchFamily="34" charset="0"/>
                <a:ea typeface="Calibri" pitchFamily="34" charset="-122"/>
                <a:cs typeface="Calibri" pitchFamily="34" charset="-120"/>
              </a:rPr>
              <a:t>The friend's recommendation</a:t>
            </a:r>
            <a:endParaRPr lang="en-US" sz="1150" dirty="0"/>
          </a:p>
        </p:txBody>
      </p:sp>
      <p:sp>
        <p:nvSpPr>
          <p:cNvPr id="29" name="Text 23"/>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Remaining 10% to measurement and testing. Split is indicative and will be re-derived from cost per funded loan by channel once the pilot reports.</a:t>
            </a:r>
            <a:endParaRPr lang="en-US" sz="1000" dirty="0"/>
          </a:p>
        </p:txBody>
      </p:sp>
      <p:sp>
        <p:nvSpPr>
          <p:cNvPr id="30" name="Text 24"/>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Proof in the first 90 days, the broker push by day 180, and scaling of what converts in the second half of the year</a:t>
            </a:r>
            <a:endParaRPr lang="en-US" sz="2000" dirty="0"/>
          </a:p>
        </p:txBody>
      </p:sp>
      <p:sp>
        <p:nvSpPr>
          <p:cNvPr id="5" name="Text 2"/>
          <p:cNvSpPr txBox="1"/>
          <p:nvPr/>
        </p:nvSpPr>
        <p:spPr>
          <a:xfrm>
            <a:off x="2514600" y="1234440"/>
            <a:ext cx="1543050" cy="274320"/>
          </a:xfrm>
          <a:prstGeom prst="rect">
            <a:avLst/>
          </a:prstGeom>
          <a:noFill/>
          <a:ln/>
        </p:spPr>
        <p:txBody>
          <a:bodyPr wrap="square" lIns="0" tIns="0" rIns="0" bIns="0" rtlCol="0" anchor="t"/>
          <a:lstStyle/>
          <a:p>
            <a:pPr algn="ctr" indent="0" marL="0">
              <a:buNone/>
            </a:pPr>
            <a:r>
              <a:rPr lang="en-US" sz="1300" b="1" dirty="0">
                <a:solidFill>
                  <a:srgbClr val="556070"/>
                </a:solidFill>
                <a:latin typeface="Calibri" pitchFamily="34" charset="0"/>
                <a:ea typeface="Calibri" pitchFamily="34" charset="-122"/>
                <a:cs typeface="Calibri" pitchFamily="34" charset="-120"/>
              </a:rPr>
              <a:t>Q1</a:t>
            </a:r>
            <a:endParaRPr lang="en-US" sz="1300" dirty="0"/>
          </a:p>
        </p:txBody>
      </p:sp>
      <p:sp>
        <p:nvSpPr>
          <p:cNvPr id="6" name="Text 3"/>
          <p:cNvSpPr txBox="1"/>
          <p:nvPr/>
        </p:nvSpPr>
        <p:spPr>
          <a:xfrm>
            <a:off x="4057650" y="1234440"/>
            <a:ext cx="1543050" cy="274320"/>
          </a:xfrm>
          <a:prstGeom prst="rect">
            <a:avLst/>
          </a:prstGeom>
          <a:noFill/>
          <a:ln/>
        </p:spPr>
        <p:txBody>
          <a:bodyPr wrap="square" lIns="0" tIns="0" rIns="0" bIns="0" rtlCol="0" anchor="t"/>
          <a:lstStyle/>
          <a:p>
            <a:pPr algn="ctr" indent="0" marL="0">
              <a:buNone/>
            </a:pPr>
            <a:r>
              <a:rPr lang="en-US" sz="1300" b="1" dirty="0">
                <a:solidFill>
                  <a:srgbClr val="556070"/>
                </a:solidFill>
                <a:latin typeface="Calibri" pitchFamily="34" charset="0"/>
                <a:ea typeface="Calibri" pitchFamily="34" charset="-122"/>
                <a:cs typeface="Calibri" pitchFamily="34" charset="-120"/>
              </a:rPr>
              <a:t>Q2</a:t>
            </a:r>
            <a:endParaRPr lang="en-US" sz="1300" dirty="0"/>
          </a:p>
        </p:txBody>
      </p:sp>
      <p:sp>
        <p:nvSpPr>
          <p:cNvPr id="7" name="Text 4"/>
          <p:cNvSpPr txBox="1"/>
          <p:nvPr/>
        </p:nvSpPr>
        <p:spPr>
          <a:xfrm>
            <a:off x="5600700" y="1234440"/>
            <a:ext cx="1543050" cy="274320"/>
          </a:xfrm>
          <a:prstGeom prst="rect">
            <a:avLst/>
          </a:prstGeom>
          <a:noFill/>
          <a:ln/>
        </p:spPr>
        <p:txBody>
          <a:bodyPr wrap="square" lIns="0" tIns="0" rIns="0" bIns="0" rtlCol="0" anchor="t"/>
          <a:lstStyle/>
          <a:p>
            <a:pPr algn="ctr" indent="0" marL="0">
              <a:buNone/>
            </a:pPr>
            <a:r>
              <a:rPr lang="en-US" sz="1300" b="1" dirty="0">
                <a:solidFill>
                  <a:srgbClr val="556070"/>
                </a:solidFill>
                <a:latin typeface="Calibri" pitchFamily="34" charset="0"/>
                <a:ea typeface="Calibri" pitchFamily="34" charset="-122"/>
                <a:cs typeface="Calibri" pitchFamily="34" charset="-120"/>
              </a:rPr>
              <a:t>Q3</a:t>
            </a:r>
            <a:endParaRPr lang="en-US" sz="1300" dirty="0"/>
          </a:p>
        </p:txBody>
      </p:sp>
      <p:sp>
        <p:nvSpPr>
          <p:cNvPr id="8" name="Text 5"/>
          <p:cNvSpPr txBox="1"/>
          <p:nvPr/>
        </p:nvSpPr>
        <p:spPr>
          <a:xfrm>
            <a:off x="7143750" y="1234440"/>
            <a:ext cx="1543050" cy="274320"/>
          </a:xfrm>
          <a:prstGeom prst="rect">
            <a:avLst/>
          </a:prstGeom>
          <a:noFill/>
          <a:ln/>
        </p:spPr>
        <p:txBody>
          <a:bodyPr wrap="square" lIns="0" tIns="0" rIns="0" bIns="0" rtlCol="0" anchor="t"/>
          <a:lstStyle/>
          <a:p>
            <a:pPr algn="ctr" indent="0" marL="0">
              <a:buNone/>
            </a:pPr>
            <a:r>
              <a:rPr lang="en-US" sz="1300" b="1" dirty="0">
                <a:solidFill>
                  <a:srgbClr val="556070"/>
                </a:solidFill>
                <a:latin typeface="Calibri" pitchFamily="34" charset="0"/>
                <a:ea typeface="Calibri" pitchFamily="34" charset="-122"/>
                <a:cs typeface="Calibri" pitchFamily="34" charset="-120"/>
              </a:rPr>
              <a:t>Q4</a:t>
            </a:r>
            <a:endParaRPr lang="en-US" sz="1300" dirty="0"/>
          </a:p>
        </p:txBody>
      </p:sp>
      <p:sp>
        <p:nvSpPr>
          <p:cNvPr id="9" name="Shape 6"/>
          <p:cNvSpPr/>
          <p:nvPr/>
        </p:nvSpPr>
        <p:spPr>
          <a:xfrm>
            <a:off x="457200" y="1691640"/>
            <a:ext cx="384048" cy="384048"/>
          </a:xfrm>
          <a:prstGeom prst="ellipse">
            <a:avLst/>
          </a:prstGeom>
          <a:solidFill>
            <a:srgbClr val="152B56"/>
          </a:solidFill>
          <a:ln w="12700">
            <a:solidFill>
              <a:srgbClr val="152B56"/>
            </a:solidFill>
            <a:prstDash val="solid"/>
          </a:ln>
        </p:spPr>
      </p:sp>
      <p:pic>
        <p:nvPicPr>
          <p:cNvPr id="10" name="Image 0" descr="preencoded.png">    </p:cNvPr>
          <p:cNvPicPr>
            <a:picLocks noChangeAspect="1"/>
          </p:cNvPicPr>
          <p:nvPr/>
        </p:nvPicPr>
        <p:blipFill>
          <a:blip r:embed="rId1"/>
          <a:stretch>
            <a:fillRect/>
          </a:stretch>
        </p:blipFill>
        <p:spPr>
          <a:xfrm>
            <a:off x="549372" y="1783812"/>
            <a:ext cx="199705" cy="199705"/>
          </a:xfrm>
          <a:prstGeom prst="rect">
            <a:avLst/>
          </a:prstGeom>
        </p:spPr>
      </p:pic>
      <p:sp>
        <p:nvSpPr>
          <p:cNvPr id="11" name="Text 7"/>
          <p:cNvSpPr txBox="1"/>
          <p:nvPr/>
        </p:nvSpPr>
        <p:spPr>
          <a:xfrm>
            <a:off x="932688" y="1691640"/>
            <a:ext cx="1508760" cy="384048"/>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Verify online</a:t>
            </a:r>
            <a:endParaRPr lang="en-US" sz="1350" dirty="0"/>
          </a:p>
        </p:txBody>
      </p:sp>
      <p:sp>
        <p:nvSpPr>
          <p:cNvPr id="12" name="Shape 8"/>
          <p:cNvSpPr/>
          <p:nvPr/>
        </p:nvSpPr>
        <p:spPr>
          <a:xfrm>
            <a:off x="2551176" y="1645920"/>
            <a:ext cx="1469898" cy="502920"/>
          </a:xfrm>
          <a:prstGeom prst="roundRect">
            <a:avLst>
              <a:gd name="adj" fmla="val 10909"/>
            </a:avLst>
          </a:prstGeom>
          <a:solidFill>
            <a:srgbClr val="152B56"/>
          </a:solidFill>
          <a:ln w="12700">
            <a:solidFill>
              <a:srgbClr val="152B56"/>
            </a:solidFill>
            <a:prstDash val="solid"/>
          </a:ln>
        </p:spPr>
      </p:sp>
      <p:sp>
        <p:nvSpPr>
          <p:cNvPr id="13" name="Text 9"/>
          <p:cNvSpPr txBox="1"/>
          <p:nvPr/>
        </p:nvSpPr>
        <p:spPr>
          <a:xfrm>
            <a:off x="2624328" y="1645920"/>
            <a:ext cx="1323594"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Reviews, ratings, rate and fee pages live</a:t>
            </a:r>
            <a:endParaRPr lang="en-US" sz="1100" dirty="0"/>
          </a:p>
        </p:txBody>
      </p:sp>
      <p:sp>
        <p:nvSpPr>
          <p:cNvPr id="14" name="Shape 10"/>
          <p:cNvSpPr/>
          <p:nvPr/>
        </p:nvSpPr>
        <p:spPr>
          <a:xfrm>
            <a:off x="4094226" y="1645920"/>
            <a:ext cx="4555998" cy="502920"/>
          </a:xfrm>
          <a:prstGeom prst="roundRect">
            <a:avLst>
              <a:gd name="adj" fmla="val 10909"/>
            </a:avLst>
          </a:prstGeom>
          <a:solidFill>
            <a:srgbClr val="F1F4F9"/>
          </a:solidFill>
          <a:ln w="12700">
            <a:solidFill>
              <a:srgbClr val="F1F4F9"/>
            </a:solidFill>
            <a:prstDash val="solid"/>
          </a:ln>
        </p:spPr>
      </p:sp>
      <p:sp>
        <p:nvSpPr>
          <p:cNvPr id="15" name="Text 11"/>
          <p:cNvSpPr txBox="1"/>
          <p:nvPr/>
        </p:nvSpPr>
        <p:spPr>
          <a:xfrm>
            <a:off x="4240530" y="1645920"/>
            <a:ext cx="4263390" cy="502920"/>
          </a:xfrm>
          <a:prstGeom prst="rect">
            <a:avLst/>
          </a:prstGeom>
          <a:noFill/>
          <a:ln/>
        </p:spPr>
        <p:txBody>
          <a:bodyPr wrap="square" lIns="0" tIns="0" rIns="0" bIns="0" rtlCol="0" anchor="ctr"/>
          <a:lstStyle/>
          <a:p>
            <a:pPr indent="0" marL="0">
              <a:buNone/>
            </a:pPr>
            <a:r>
              <a:rPr lang="en-US" sz="1250" dirty="0">
                <a:solidFill>
                  <a:srgbClr val="1E2633"/>
                </a:solidFill>
                <a:latin typeface="Calibri" pitchFamily="34" charset="0"/>
                <a:ea typeface="Calibri" pitchFamily="34" charset="-122"/>
                <a:cs typeface="Calibri" pitchFamily="34" charset="-120"/>
              </a:rPr>
              <a:t>Search and AI visibility maintained</a:t>
            </a:r>
            <a:endParaRPr lang="en-US" sz="1250" dirty="0"/>
          </a:p>
        </p:txBody>
      </p:sp>
      <p:sp>
        <p:nvSpPr>
          <p:cNvPr id="16" name="Shape 12"/>
          <p:cNvSpPr/>
          <p:nvPr/>
        </p:nvSpPr>
        <p:spPr>
          <a:xfrm>
            <a:off x="457200" y="2423160"/>
            <a:ext cx="384048" cy="384048"/>
          </a:xfrm>
          <a:prstGeom prst="ellipse">
            <a:avLst/>
          </a:prstGeom>
          <a:solidFill>
            <a:srgbClr val="152B56"/>
          </a:solidFill>
          <a:ln w="12700">
            <a:solidFill>
              <a:srgbClr val="152B56"/>
            </a:solidFill>
            <a:prstDash val="solid"/>
          </a:ln>
        </p:spPr>
      </p:sp>
      <p:pic>
        <p:nvPicPr>
          <p:cNvPr id="17" name="Image 1" descr="preencoded.png">    </p:cNvPr>
          <p:cNvPicPr>
            <a:picLocks noChangeAspect="1"/>
          </p:cNvPicPr>
          <p:nvPr/>
        </p:nvPicPr>
        <p:blipFill>
          <a:blip r:embed="rId2"/>
          <a:stretch>
            <a:fillRect/>
          </a:stretch>
        </p:blipFill>
        <p:spPr>
          <a:xfrm>
            <a:off x="549372" y="2515332"/>
            <a:ext cx="199705" cy="199705"/>
          </a:xfrm>
          <a:prstGeom prst="rect">
            <a:avLst/>
          </a:prstGeom>
        </p:spPr>
      </p:pic>
      <p:sp>
        <p:nvSpPr>
          <p:cNvPr id="18" name="Text 13"/>
          <p:cNvSpPr txBox="1"/>
          <p:nvPr/>
        </p:nvSpPr>
        <p:spPr>
          <a:xfrm>
            <a:off x="932688" y="2423160"/>
            <a:ext cx="1508760" cy="384048"/>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Broker channel</a:t>
            </a:r>
            <a:endParaRPr lang="en-US" sz="1350" dirty="0"/>
          </a:p>
        </p:txBody>
      </p:sp>
      <p:sp>
        <p:nvSpPr>
          <p:cNvPr id="19" name="Shape 14"/>
          <p:cNvSpPr/>
          <p:nvPr/>
        </p:nvSpPr>
        <p:spPr>
          <a:xfrm>
            <a:off x="2551176" y="2377440"/>
            <a:ext cx="1469898" cy="502920"/>
          </a:xfrm>
          <a:prstGeom prst="roundRect">
            <a:avLst>
              <a:gd name="adj" fmla="val 10909"/>
            </a:avLst>
          </a:prstGeom>
          <a:solidFill>
            <a:srgbClr val="152B56"/>
          </a:solidFill>
          <a:ln w="12700">
            <a:solidFill>
              <a:srgbClr val="152B56"/>
            </a:solidFill>
            <a:prstDash val="solid"/>
          </a:ln>
        </p:spPr>
      </p:sp>
      <p:sp>
        <p:nvSpPr>
          <p:cNvPr id="20" name="Text 15"/>
          <p:cNvSpPr txBox="1"/>
          <p:nvPr/>
        </p:nvSpPr>
        <p:spPr>
          <a:xfrm>
            <a:off x="2624328" y="2377440"/>
            <a:ext cx="1323594"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Panel accreditation confirmed</a:t>
            </a:r>
            <a:endParaRPr lang="en-US" sz="1100" dirty="0"/>
          </a:p>
        </p:txBody>
      </p:sp>
      <p:sp>
        <p:nvSpPr>
          <p:cNvPr id="21" name="Shape 16"/>
          <p:cNvSpPr/>
          <p:nvPr/>
        </p:nvSpPr>
        <p:spPr>
          <a:xfrm>
            <a:off x="4094226" y="2377440"/>
            <a:ext cx="4555998" cy="502920"/>
          </a:xfrm>
          <a:prstGeom prst="roundRect">
            <a:avLst>
              <a:gd name="adj" fmla="val 10909"/>
            </a:avLst>
          </a:prstGeom>
          <a:solidFill>
            <a:srgbClr val="F1F4F9"/>
          </a:solidFill>
          <a:ln w="12700">
            <a:solidFill>
              <a:srgbClr val="F1F4F9"/>
            </a:solidFill>
            <a:prstDash val="solid"/>
          </a:ln>
        </p:spPr>
      </p:sp>
      <p:sp>
        <p:nvSpPr>
          <p:cNvPr id="22" name="Text 17"/>
          <p:cNvSpPr txBox="1"/>
          <p:nvPr/>
        </p:nvSpPr>
        <p:spPr>
          <a:xfrm>
            <a:off x="4240530" y="2377440"/>
            <a:ext cx="4263390" cy="502920"/>
          </a:xfrm>
          <a:prstGeom prst="rect">
            <a:avLst/>
          </a:prstGeom>
          <a:noFill/>
          <a:ln/>
        </p:spPr>
        <p:txBody>
          <a:bodyPr wrap="square" lIns="0" tIns="0" rIns="0" bIns="0" rtlCol="0" anchor="ctr"/>
          <a:lstStyle/>
          <a:p>
            <a:pPr indent="0" marL="0">
              <a:buNone/>
            </a:pPr>
            <a:r>
              <a:rPr lang="en-US" sz="1250" dirty="0">
                <a:solidFill>
                  <a:srgbClr val="1E2633"/>
                </a:solidFill>
                <a:latin typeface="Calibri" pitchFamily="34" charset="0"/>
                <a:ea typeface="Calibri" pitchFamily="34" charset="-122"/>
                <a:cs typeface="Calibri" pitchFamily="34" charset="-120"/>
              </a:rPr>
              <a:t>Digital proof pack, aggregator listing, BDMs</a:t>
            </a:r>
            <a:endParaRPr lang="en-US" sz="1250" dirty="0"/>
          </a:p>
        </p:txBody>
      </p:sp>
      <p:sp>
        <p:nvSpPr>
          <p:cNvPr id="23" name="Shape 18"/>
          <p:cNvSpPr/>
          <p:nvPr/>
        </p:nvSpPr>
        <p:spPr>
          <a:xfrm>
            <a:off x="457200" y="3154680"/>
            <a:ext cx="384048" cy="384048"/>
          </a:xfrm>
          <a:prstGeom prst="ellipse">
            <a:avLst/>
          </a:prstGeom>
          <a:solidFill>
            <a:srgbClr val="152B56"/>
          </a:solidFill>
          <a:ln w="12700">
            <a:solidFill>
              <a:srgbClr val="152B56"/>
            </a:solidFill>
            <a:prstDash val="solid"/>
          </a:ln>
        </p:spPr>
      </p:sp>
      <p:pic>
        <p:nvPicPr>
          <p:cNvPr id="24" name="Image 2" descr="preencoded.png">    </p:cNvPr>
          <p:cNvPicPr>
            <a:picLocks noChangeAspect="1"/>
          </p:cNvPicPr>
          <p:nvPr/>
        </p:nvPicPr>
        <p:blipFill>
          <a:blip r:embed="rId3"/>
          <a:stretch>
            <a:fillRect/>
          </a:stretch>
        </p:blipFill>
        <p:spPr>
          <a:xfrm>
            <a:off x="549372" y="3246852"/>
            <a:ext cx="199705" cy="199705"/>
          </a:xfrm>
          <a:prstGeom prst="rect">
            <a:avLst/>
          </a:prstGeom>
        </p:spPr>
      </p:pic>
      <p:sp>
        <p:nvSpPr>
          <p:cNvPr id="25" name="Text 19"/>
          <p:cNvSpPr txBox="1"/>
          <p:nvPr/>
        </p:nvSpPr>
        <p:spPr>
          <a:xfrm>
            <a:off x="932688" y="3154680"/>
            <a:ext cx="1508760" cy="384048"/>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Member referral</a:t>
            </a:r>
            <a:endParaRPr lang="en-US" sz="1350" dirty="0"/>
          </a:p>
        </p:txBody>
      </p:sp>
      <p:sp>
        <p:nvSpPr>
          <p:cNvPr id="26" name="Shape 20"/>
          <p:cNvSpPr/>
          <p:nvPr/>
        </p:nvSpPr>
        <p:spPr>
          <a:xfrm>
            <a:off x="2551176" y="3108960"/>
            <a:ext cx="1469898" cy="502920"/>
          </a:xfrm>
          <a:prstGeom prst="roundRect">
            <a:avLst>
              <a:gd name="adj" fmla="val 10909"/>
            </a:avLst>
          </a:prstGeom>
          <a:solidFill>
            <a:srgbClr val="152B56"/>
          </a:solidFill>
          <a:ln w="12700">
            <a:solidFill>
              <a:srgbClr val="152B56"/>
            </a:solidFill>
            <a:prstDash val="solid"/>
          </a:ln>
        </p:spPr>
      </p:sp>
      <p:sp>
        <p:nvSpPr>
          <p:cNvPr id="27" name="Text 21"/>
          <p:cNvSpPr txBox="1"/>
          <p:nvPr/>
        </p:nvSpPr>
        <p:spPr>
          <a:xfrm>
            <a:off x="2624328" y="3108960"/>
            <a:ext cx="1323594"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Pilot with XXX members</a:t>
            </a:r>
            <a:endParaRPr lang="en-US" sz="1100" dirty="0"/>
          </a:p>
        </p:txBody>
      </p:sp>
      <p:sp>
        <p:nvSpPr>
          <p:cNvPr id="28" name="Shape 22"/>
          <p:cNvSpPr/>
          <p:nvPr/>
        </p:nvSpPr>
        <p:spPr>
          <a:xfrm>
            <a:off x="4094226" y="3108960"/>
            <a:ext cx="4555998" cy="502920"/>
          </a:xfrm>
          <a:prstGeom prst="roundRect">
            <a:avLst>
              <a:gd name="adj" fmla="val 10909"/>
            </a:avLst>
          </a:prstGeom>
          <a:solidFill>
            <a:srgbClr val="F1F4F9"/>
          </a:solidFill>
          <a:ln w="12700">
            <a:solidFill>
              <a:srgbClr val="F1F4F9"/>
            </a:solidFill>
            <a:prstDash val="solid"/>
          </a:ln>
        </p:spPr>
      </p:sp>
      <p:sp>
        <p:nvSpPr>
          <p:cNvPr id="29" name="Text 23"/>
          <p:cNvSpPr txBox="1"/>
          <p:nvPr/>
        </p:nvSpPr>
        <p:spPr>
          <a:xfrm>
            <a:off x="4240530" y="3108960"/>
            <a:ext cx="4263390" cy="502920"/>
          </a:xfrm>
          <a:prstGeom prst="rect">
            <a:avLst/>
          </a:prstGeom>
          <a:noFill/>
          <a:ln/>
        </p:spPr>
        <p:txBody>
          <a:bodyPr wrap="square" lIns="0" tIns="0" rIns="0" bIns="0" rtlCol="0" anchor="ctr"/>
          <a:lstStyle/>
          <a:p>
            <a:pPr indent="0" marL="0">
              <a:buNone/>
            </a:pPr>
            <a:r>
              <a:rPr lang="en-US" sz="1250" dirty="0">
                <a:solidFill>
                  <a:srgbClr val="1E2633"/>
                </a:solidFill>
                <a:latin typeface="Calibri" pitchFamily="34" charset="0"/>
                <a:ea typeface="Calibri" pitchFamily="34" charset="-122"/>
                <a:cs typeface="Calibri" pitchFamily="34" charset="-120"/>
              </a:rPr>
              <a:t>Link to all members; scale if it converts</a:t>
            </a:r>
            <a:endParaRPr lang="en-US" sz="1250" dirty="0"/>
          </a:p>
        </p:txBody>
      </p:sp>
      <p:sp>
        <p:nvSpPr>
          <p:cNvPr id="30" name="Shape 24"/>
          <p:cNvSpPr/>
          <p:nvPr/>
        </p:nvSpPr>
        <p:spPr>
          <a:xfrm>
            <a:off x="457200" y="3886200"/>
            <a:ext cx="384048" cy="384048"/>
          </a:xfrm>
          <a:prstGeom prst="ellipse">
            <a:avLst/>
          </a:prstGeom>
          <a:solidFill>
            <a:srgbClr val="152B56"/>
          </a:solidFill>
          <a:ln w="12700">
            <a:solidFill>
              <a:srgbClr val="152B56"/>
            </a:solidFill>
            <a:prstDash val="solid"/>
          </a:ln>
        </p:spPr>
      </p:sp>
      <p:pic>
        <p:nvPicPr>
          <p:cNvPr id="31" name="Image 3" descr="preencoded.png">    </p:cNvPr>
          <p:cNvPicPr>
            <a:picLocks noChangeAspect="1"/>
          </p:cNvPicPr>
          <p:nvPr/>
        </p:nvPicPr>
        <p:blipFill>
          <a:blip r:embed="rId4"/>
          <a:stretch>
            <a:fillRect/>
          </a:stretch>
        </p:blipFill>
        <p:spPr>
          <a:xfrm>
            <a:off x="549372" y="3978372"/>
            <a:ext cx="199705" cy="199705"/>
          </a:xfrm>
          <a:prstGeom prst="rect">
            <a:avLst/>
          </a:prstGeom>
        </p:spPr>
      </p:pic>
      <p:sp>
        <p:nvSpPr>
          <p:cNvPr id="32" name="Text 25"/>
          <p:cNvSpPr txBox="1"/>
          <p:nvPr/>
        </p:nvSpPr>
        <p:spPr>
          <a:xfrm>
            <a:off x="932688" y="3886200"/>
            <a:ext cx="1508760" cy="384048"/>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Measurement</a:t>
            </a:r>
            <a:endParaRPr lang="en-US" sz="1350" dirty="0"/>
          </a:p>
        </p:txBody>
      </p:sp>
      <p:sp>
        <p:nvSpPr>
          <p:cNvPr id="33" name="Shape 26"/>
          <p:cNvSpPr/>
          <p:nvPr/>
        </p:nvSpPr>
        <p:spPr>
          <a:xfrm>
            <a:off x="2551176" y="3840480"/>
            <a:ext cx="1469898" cy="502920"/>
          </a:xfrm>
          <a:prstGeom prst="roundRect">
            <a:avLst>
              <a:gd name="adj" fmla="val 10909"/>
            </a:avLst>
          </a:prstGeom>
          <a:solidFill>
            <a:srgbClr val="152B56"/>
          </a:solidFill>
          <a:ln w="12700">
            <a:solidFill>
              <a:srgbClr val="152B56"/>
            </a:solidFill>
            <a:prstDash val="solid"/>
          </a:ln>
        </p:spPr>
      </p:sp>
      <p:sp>
        <p:nvSpPr>
          <p:cNvPr id="34" name="Text 27"/>
          <p:cNvSpPr txBox="1"/>
          <p:nvPr/>
        </p:nvSpPr>
        <p:spPr>
          <a:xfrm>
            <a:off x="2624328" y="3840480"/>
            <a:ext cx="1323594"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Baseline and dashboards</a:t>
            </a:r>
            <a:endParaRPr lang="en-US" sz="1100" dirty="0"/>
          </a:p>
        </p:txBody>
      </p:sp>
      <p:sp>
        <p:nvSpPr>
          <p:cNvPr id="35" name="Shape 28"/>
          <p:cNvSpPr/>
          <p:nvPr/>
        </p:nvSpPr>
        <p:spPr>
          <a:xfrm>
            <a:off x="4094226" y="3840480"/>
            <a:ext cx="4555998" cy="502920"/>
          </a:xfrm>
          <a:prstGeom prst="roundRect">
            <a:avLst>
              <a:gd name="adj" fmla="val 10909"/>
            </a:avLst>
          </a:prstGeom>
          <a:solidFill>
            <a:srgbClr val="F1F4F9"/>
          </a:solidFill>
          <a:ln w="12700">
            <a:solidFill>
              <a:srgbClr val="F1F4F9"/>
            </a:solidFill>
            <a:prstDash val="solid"/>
          </a:ln>
        </p:spPr>
      </p:sp>
      <p:sp>
        <p:nvSpPr>
          <p:cNvPr id="36" name="Text 29"/>
          <p:cNvSpPr txBox="1"/>
          <p:nvPr/>
        </p:nvSpPr>
        <p:spPr>
          <a:xfrm>
            <a:off x="4240530" y="3840480"/>
            <a:ext cx="4263390" cy="502920"/>
          </a:xfrm>
          <a:prstGeom prst="rect">
            <a:avLst/>
          </a:prstGeom>
          <a:noFill/>
          <a:ln/>
        </p:spPr>
        <p:txBody>
          <a:bodyPr wrap="square" lIns="0" tIns="0" rIns="0" bIns="0" rtlCol="0" anchor="ctr"/>
          <a:lstStyle/>
          <a:p>
            <a:pPr indent="0" marL="0">
              <a:buNone/>
            </a:pPr>
            <a:r>
              <a:rPr lang="en-US" sz="1250" dirty="0">
                <a:solidFill>
                  <a:srgbClr val="1E2633"/>
                </a:solidFill>
                <a:latin typeface="Calibri" pitchFamily="34" charset="0"/>
                <a:ea typeface="Calibri" pitchFamily="34" charset="-122"/>
                <a:cs typeface="Calibri" pitchFamily="34" charset="-120"/>
              </a:rPr>
              <a:t>Quarterly review; cut what does not convert</a:t>
            </a:r>
            <a:endParaRPr lang="en-US" sz="1250" dirty="0"/>
          </a:p>
        </p:txBody>
      </p:sp>
      <p:sp>
        <p:nvSpPr>
          <p:cNvPr id="37" name="Text 30"/>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Owners: digital marketing (verify online), third-party distribution (broker channel), member experience (referral), lending operations (the 24-hour firm rate).</a:t>
            </a:r>
            <a:endParaRPr lang="en-US" sz="1000" dirty="0"/>
          </a:p>
        </p:txBody>
      </p:sp>
      <p:sp>
        <p:nvSpPr>
          <p:cNvPr id="38" name="Text 31"/>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754880" y="109728"/>
            <a:ext cx="3931920" cy="256032"/>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Context</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Evidence</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dirty="0">
                <a:solidFill>
                  <a:srgbClr val="8A94A6"/>
                </a:solidFill>
                <a:latin typeface="Calibri" pitchFamily="34" charset="0"/>
                <a:ea typeface="Calibri" pitchFamily="34" charset="-122"/>
                <a:cs typeface="Calibri" pitchFamily="34" charset="-120"/>
              </a:rPr>
              <a:t>Strategy</a:t>
            </a:r>
            <a:pPr algn="r" indent="0" marL="0">
              <a:buNone/>
            </a:pPr>
            <a:r>
              <a:rPr lang="en-US" sz="1000" dirty="0">
                <a:solidFill>
                  <a:srgbClr val="000000"/>
                </a:solidFill>
                <a:latin typeface="Calibri" pitchFamily="34" charset="0"/>
                <a:ea typeface="Calibri" pitchFamily="34" charset="-122"/>
                <a:cs typeface="Calibri" pitchFamily="34" charset="-120"/>
              </a:rPr>
              <a:t>     </a:t>
            </a:r>
            <a:pPr algn="r" indent="0" marL="0">
              <a:buNone/>
            </a:pPr>
            <a:r>
              <a:rPr lang="en-US" sz="1000" b="1" dirty="0">
                <a:solidFill>
                  <a:srgbClr val="166257"/>
                </a:solidFill>
                <a:latin typeface="Calibri" pitchFamily="34" charset="0"/>
                <a:ea typeface="Calibri" pitchFamily="34" charset="-122"/>
                <a:cs typeface="Calibri" pitchFamily="34" charset="-120"/>
              </a:rPr>
              <a:t>Measures</a:t>
            </a:r>
            <a:endParaRPr lang="en-US" sz="1000" dirty="0"/>
          </a:p>
        </p:txBody>
      </p:sp>
      <p:sp>
        <p:nvSpPr>
          <p:cNvPr id="4" name="Text 1"/>
          <p:cNvSpPr txBox="1"/>
          <p:nvPr/>
        </p:nvSpPr>
        <p:spPr>
          <a:xfrm>
            <a:off x="457200" y="384048"/>
            <a:ext cx="8229600" cy="731520"/>
          </a:xfrm>
          <a:prstGeom prst="rect">
            <a:avLst/>
          </a:prstGeom>
          <a:noFill/>
          <a:ln/>
        </p:spPr>
        <p:txBody>
          <a:bodyPr wrap="square" lIns="0" tIns="0" rIns="0" bIns="0" rtlCol="0" anchor="t"/>
          <a:lstStyle/>
          <a:p>
            <a:pPr indent="0" marL="0">
              <a:buNone/>
            </a:pPr>
            <a:r>
              <a:rPr lang="en-US" sz="2000" b="1" dirty="0">
                <a:solidFill>
                  <a:srgbClr val="152B56"/>
                </a:solidFill>
                <a:latin typeface="Cambria" pitchFamily="34" charset="0"/>
                <a:ea typeface="Cambria" pitchFamily="34" charset="-122"/>
                <a:cs typeface="Cambria" pitchFamily="34" charset="-120"/>
              </a:rPr>
              <a:t>Lead indicators show within a quarter whether AMB is reaching shortlists; lag indicators show the cost of each funded loan</a:t>
            </a:r>
            <a:endParaRPr lang="en-US" sz="2000" dirty="0"/>
          </a:p>
        </p:txBody>
      </p:sp>
      <p:sp>
        <p:nvSpPr>
          <p:cNvPr id="5" name="Shape 2"/>
          <p:cNvSpPr/>
          <p:nvPr/>
        </p:nvSpPr>
        <p:spPr>
          <a:xfrm>
            <a:off x="457200" y="1280160"/>
            <a:ext cx="2697480" cy="3200400"/>
          </a:xfrm>
          <a:prstGeom prst="roundRect">
            <a:avLst>
              <a:gd name="adj" fmla="val 2712"/>
            </a:avLst>
          </a:prstGeom>
          <a:solidFill>
            <a:srgbClr val="F1F4F9"/>
          </a:solidFill>
          <a:ln w="12700">
            <a:solidFill>
              <a:srgbClr val="F1F4F9"/>
            </a:solidFill>
            <a:prstDash val="solid"/>
          </a:ln>
        </p:spPr>
      </p:sp>
      <p:sp>
        <p:nvSpPr>
          <p:cNvPr id="6" name="Shape 3"/>
          <p:cNvSpPr/>
          <p:nvPr/>
        </p:nvSpPr>
        <p:spPr>
          <a:xfrm>
            <a:off x="658368" y="1444752"/>
            <a:ext cx="384048" cy="384048"/>
          </a:xfrm>
          <a:prstGeom prst="ellipse">
            <a:avLst/>
          </a:prstGeom>
          <a:solidFill>
            <a:srgbClr val="152B56"/>
          </a:solidFill>
          <a:ln w="12700">
            <a:solidFill>
              <a:srgbClr val="152B56"/>
            </a:solidFill>
            <a:prstDash val="solid"/>
          </a:ln>
        </p:spPr>
      </p:sp>
      <p:pic>
        <p:nvPicPr>
          <p:cNvPr id="7" name="Image 0" descr="preencoded.png">    </p:cNvPr>
          <p:cNvPicPr>
            <a:picLocks noChangeAspect="1"/>
          </p:cNvPicPr>
          <p:nvPr/>
        </p:nvPicPr>
        <p:blipFill>
          <a:blip r:embed="rId1"/>
          <a:stretch>
            <a:fillRect/>
          </a:stretch>
        </p:blipFill>
        <p:spPr>
          <a:xfrm>
            <a:off x="750540" y="1536924"/>
            <a:ext cx="199705" cy="199705"/>
          </a:xfrm>
          <a:prstGeom prst="rect">
            <a:avLst/>
          </a:prstGeom>
        </p:spPr>
      </p:pic>
      <p:sp>
        <p:nvSpPr>
          <p:cNvPr id="8" name="Text 4"/>
          <p:cNvSpPr txBox="1"/>
          <p:nvPr/>
        </p:nvSpPr>
        <p:spPr>
          <a:xfrm>
            <a:off x="1143000" y="1444752"/>
            <a:ext cx="1920240" cy="384048"/>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Lead indicators (first quarter)</a:t>
            </a:r>
            <a:endParaRPr lang="en-US" sz="1350" dirty="0"/>
          </a:p>
        </p:txBody>
      </p:sp>
      <p:sp>
        <p:nvSpPr>
          <p:cNvPr id="9" name="Text 5"/>
          <p:cNvSpPr txBox="1"/>
          <p:nvPr/>
        </p:nvSpPr>
        <p:spPr>
          <a:xfrm>
            <a:off x="658368" y="1965960"/>
            <a:ext cx="2377440" cy="2423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Branded search volume; review count and average rating (target XXX)</a:t>
            </a:r>
            <a:endParaRPr lang="en-US" sz="1250" dirty="0"/>
          </a:p>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Broker accreditations live; submissions per broker per month</a:t>
            </a:r>
            <a:endParaRPr lang="en-US" sz="1250" dirty="0"/>
          </a:p>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Referral links sent; offers uploaded; firm rates issued</a:t>
            </a:r>
            <a:endParaRPr lang="en-US" sz="1250" dirty="0"/>
          </a:p>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Time to firm rate (target 24 hours); time to conditional approval (target 48 hours)</a:t>
            </a:r>
            <a:endParaRPr lang="en-US" sz="1250" dirty="0"/>
          </a:p>
        </p:txBody>
      </p:sp>
      <p:sp>
        <p:nvSpPr>
          <p:cNvPr id="10" name="Shape 6"/>
          <p:cNvSpPr/>
          <p:nvPr/>
        </p:nvSpPr>
        <p:spPr>
          <a:xfrm>
            <a:off x="3291840" y="1280160"/>
            <a:ext cx="2697480" cy="3200400"/>
          </a:xfrm>
          <a:prstGeom prst="roundRect">
            <a:avLst>
              <a:gd name="adj" fmla="val 2712"/>
            </a:avLst>
          </a:prstGeom>
          <a:solidFill>
            <a:srgbClr val="F1F4F9"/>
          </a:solidFill>
          <a:ln w="12700">
            <a:solidFill>
              <a:srgbClr val="F1F4F9"/>
            </a:solidFill>
            <a:prstDash val="solid"/>
          </a:ln>
        </p:spPr>
      </p:sp>
      <p:sp>
        <p:nvSpPr>
          <p:cNvPr id="11" name="Shape 7"/>
          <p:cNvSpPr/>
          <p:nvPr/>
        </p:nvSpPr>
        <p:spPr>
          <a:xfrm>
            <a:off x="3493008" y="1444752"/>
            <a:ext cx="384048" cy="384048"/>
          </a:xfrm>
          <a:prstGeom prst="ellipse">
            <a:avLst/>
          </a:prstGeom>
          <a:solidFill>
            <a:srgbClr val="152B56"/>
          </a:solidFill>
          <a:ln w="12700">
            <a:solidFill>
              <a:srgbClr val="152B56"/>
            </a:solidFill>
            <a:prstDash val="solid"/>
          </a:ln>
        </p:spPr>
      </p:sp>
      <p:pic>
        <p:nvPicPr>
          <p:cNvPr id="12" name="Image 1" descr="preencoded.png">    </p:cNvPr>
          <p:cNvPicPr>
            <a:picLocks noChangeAspect="1"/>
          </p:cNvPicPr>
          <p:nvPr/>
        </p:nvPicPr>
        <p:blipFill>
          <a:blip r:embed="rId2"/>
          <a:stretch>
            <a:fillRect/>
          </a:stretch>
        </p:blipFill>
        <p:spPr>
          <a:xfrm>
            <a:off x="3585180" y="1536924"/>
            <a:ext cx="199705" cy="199705"/>
          </a:xfrm>
          <a:prstGeom prst="rect">
            <a:avLst/>
          </a:prstGeom>
        </p:spPr>
      </p:pic>
      <p:sp>
        <p:nvSpPr>
          <p:cNvPr id="13" name="Text 8"/>
          <p:cNvSpPr txBox="1"/>
          <p:nvPr/>
        </p:nvSpPr>
        <p:spPr>
          <a:xfrm>
            <a:off x="3977640" y="1444752"/>
            <a:ext cx="1920240" cy="384048"/>
          </a:xfrm>
          <a:prstGeom prst="rect">
            <a:avLst/>
          </a:prstGeom>
          <a:noFill/>
          <a:ln/>
        </p:spPr>
        <p:txBody>
          <a:bodyPr wrap="square" lIns="0" tIns="0" rIns="0" bIns="0" rtlCol="0" anchor="ctr"/>
          <a:lstStyle/>
          <a:p>
            <a:pPr indent="0" marL="0">
              <a:buNone/>
            </a:pPr>
            <a:r>
              <a:rPr lang="en-US" sz="1350" b="1" dirty="0">
                <a:solidFill>
                  <a:srgbClr val="152B56"/>
                </a:solidFill>
                <a:latin typeface="Calibri" pitchFamily="34" charset="0"/>
                <a:ea typeface="Calibri" pitchFamily="34" charset="-122"/>
                <a:cs typeface="Calibri" pitchFamily="34" charset="-120"/>
              </a:rPr>
              <a:t>Lag indicators (first year)</a:t>
            </a:r>
            <a:endParaRPr lang="en-US" sz="1350" dirty="0"/>
          </a:p>
        </p:txBody>
      </p:sp>
      <p:sp>
        <p:nvSpPr>
          <p:cNvPr id="14" name="Text 9"/>
          <p:cNvSpPr txBox="1"/>
          <p:nvPr/>
        </p:nvSpPr>
        <p:spPr>
          <a:xfrm>
            <a:off x="3493008" y="1965960"/>
            <a:ext cx="2377440" cy="2423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Shortlist inclusion rate, from a quarterly shopper survey</a:t>
            </a:r>
            <a:endParaRPr lang="en-US" sz="1250" dirty="0"/>
          </a:p>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Conversion when AMB is shown, by channel</a:t>
            </a:r>
            <a:endParaRPr lang="en-US" sz="1250" dirty="0"/>
          </a:p>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Funded loans and cost per funded loan, by channel</a:t>
            </a:r>
            <a:endParaRPr lang="en-US" sz="1250" dirty="0"/>
          </a:p>
          <a:p>
            <a:pPr marL="342900" indent="-342900">
              <a:spcAft>
                <a:spcPts val="600"/>
              </a:spcAft>
              <a:buSzPct val="100000"/>
              <a:buChar char="•"/>
            </a:pPr>
            <a:r>
              <a:rPr lang="en-US" sz="1250" dirty="0">
                <a:solidFill>
                  <a:srgbClr val="1E2633"/>
                </a:solidFill>
                <a:latin typeface="Calibri" pitchFamily="34" charset="0"/>
                <a:ea typeface="Calibri" pitchFamily="34" charset="-122"/>
                <a:cs typeface="Calibri" pitchFamily="34" charset="-120"/>
              </a:rPr>
              <a:t>Members retained at 12 months; referrals per new member</a:t>
            </a:r>
            <a:endParaRPr lang="en-US" sz="1250" dirty="0"/>
          </a:p>
        </p:txBody>
      </p:sp>
      <p:sp>
        <p:nvSpPr>
          <p:cNvPr id="15" name="Shape 10"/>
          <p:cNvSpPr/>
          <p:nvPr/>
        </p:nvSpPr>
        <p:spPr>
          <a:xfrm>
            <a:off x="6172200" y="1280160"/>
            <a:ext cx="2514600" cy="3200400"/>
          </a:xfrm>
          <a:prstGeom prst="roundRect">
            <a:avLst>
              <a:gd name="adj" fmla="val 2909"/>
            </a:avLst>
          </a:prstGeom>
          <a:solidFill>
            <a:srgbClr val="152B56"/>
          </a:solidFill>
          <a:ln w="12700">
            <a:solidFill>
              <a:srgbClr val="152B56"/>
            </a:solidFill>
            <a:prstDash val="solid"/>
          </a:ln>
        </p:spPr>
      </p:sp>
      <p:sp>
        <p:nvSpPr>
          <p:cNvPr id="16" name="Text 11"/>
          <p:cNvSpPr txBox="1"/>
          <p:nvPr/>
        </p:nvSpPr>
        <p:spPr>
          <a:xfrm>
            <a:off x="6355080" y="1463040"/>
            <a:ext cx="214884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Return on the $750k</a:t>
            </a:r>
            <a:endParaRPr lang="en-US" sz="1400" dirty="0"/>
          </a:p>
        </p:txBody>
      </p:sp>
      <p:sp>
        <p:nvSpPr>
          <p:cNvPr id="17" name="Text 12"/>
          <p:cNvSpPr txBox="1"/>
          <p:nvPr/>
        </p:nvSpPr>
        <p:spPr>
          <a:xfrm>
            <a:off x="6355080" y="1828800"/>
            <a:ext cx="2148840" cy="685800"/>
          </a:xfrm>
          <a:prstGeom prst="rect">
            <a:avLst/>
          </a:prstGeom>
          <a:noFill/>
          <a:ln/>
        </p:spPr>
        <p:txBody>
          <a:bodyPr wrap="square" lIns="0" tIns="0" rIns="0" bIns="0" rtlCol="0" anchor="ctr"/>
          <a:lstStyle/>
          <a:p>
            <a:pPr indent="0" marL="0">
              <a:buNone/>
            </a:pPr>
            <a:r>
              <a:rPr lang="en-US" sz="3200" b="1" dirty="0">
                <a:solidFill>
                  <a:srgbClr val="1F8F74"/>
                </a:solidFill>
                <a:latin typeface="Cambria" pitchFamily="34" charset="0"/>
                <a:ea typeface="Cambria" pitchFamily="34" charset="-122"/>
                <a:cs typeface="Cambria" pitchFamily="34" charset="-120"/>
              </a:rPr>
              <a:t>XXX x</a:t>
            </a:r>
            <a:endParaRPr lang="en-US" sz="3200" dirty="0"/>
          </a:p>
        </p:txBody>
      </p:sp>
      <p:sp>
        <p:nvSpPr>
          <p:cNvPr id="18" name="Text 13"/>
          <p:cNvSpPr txBox="1"/>
          <p:nvPr/>
        </p:nvSpPr>
        <p:spPr>
          <a:xfrm>
            <a:off x="6355080" y="2606040"/>
            <a:ext cx="2148840" cy="178308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$750k ÷ cost per funded loan ($XXX) = XXX funded loans. Each loan: $614k average (ABS) × net interest margin (XXX%) × average life (XXX years) = $XXX lifetime margin. Return = total lifetime margin ÷ $750k.</a:t>
            </a:r>
            <a:endParaRPr lang="en-US" sz="1200" dirty="0"/>
          </a:p>
        </p:txBody>
      </p:sp>
      <p:sp>
        <p:nvSpPr>
          <p:cNvPr id="19" name="Text 14"/>
          <p:cNvSpPr txBox="1"/>
          <p:nvPr/>
        </p:nvSpPr>
        <p:spPr>
          <a:xfrm>
            <a:off x="457200" y="4645152"/>
            <a:ext cx="7680960" cy="347472"/>
          </a:xfrm>
          <a:prstGeom prst="rect">
            <a:avLst/>
          </a:prstGeom>
          <a:noFill/>
          <a:ln/>
        </p:spPr>
        <p:txBody>
          <a:bodyPr wrap="square" lIns="0" tIns="0" rIns="0" bIns="0" rtlCol="0" anchor="t"/>
          <a:lstStyle/>
          <a:p>
            <a:pPr indent="0" marL="0">
              <a:buNone/>
            </a:pPr>
            <a:r>
              <a:rPr lang="en-US" sz="1000" dirty="0">
                <a:solidFill>
                  <a:srgbClr val="556070"/>
                </a:solidFill>
                <a:latin typeface="Calibri" pitchFamily="34" charset="0"/>
                <a:ea typeface="Calibri" pitchFamily="34" charset="-122"/>
                <a:cs typeface="Calibri" pitchFamily="34" charset="-120"/>
              </a:rPr>
              <a:t>Lead and lag structure per brief step 8. ROI inputs to be sourced from AMB and ABS Lending Indicators before final submission.</a:t>
            </a:r>
            <a:endParaRPr lang="en-US" sz="1000" dirty="0"/>
          </a:p>
        </p:txBody>
      </p:sp>
      <p:sp>
        <p:nvSpPr>
          <p:cNvPr id="20" name="Text 15"/>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560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B56"/>
        </a:solidFill>
      </p:bgPr>
    </p:bg>
    <p:spTree>
      <p:nvGrpSpPr>
        <p:cNvPr id="1" name=""/>
        <p:cNvGrpSpPr/>
        <p:nvPr/>
      </p:nvGrpSpPr>
      <p:grpSpPr>
        <a:xfrm>
          <a:off x="0" y="0"/>
          <a:ext cx="0" cy="0"/>
          <a:chOff x="0" y="0"/>
          <a:chExt cx="0" cy="0"/>
        </a:xfrm>
      </p:grpSpPr>
      <p:pic>
        <p:nvPicPr>
          <p:cNvPr id="2" name="Picture 1" descr="slide14_bg.jpg"/>
          <p:cNvPicPr>
            <a:picLocks noChangeAspect="1"/>
          </p:cNvPicPr>
          <p:nvPr/>
        </p:nvPicPr>
        <p:blipFill>
          <a:blip r:embed="rId7"/>
          <a:stretch>
            <a:fillRect/>
          </a:stretch>
        </p:blipFill>
        <p:spPr>
          <a:xfrm>
            <a:off x="0" y="0"/>
            <a:ext cx="4572000" cy="5143500"/>
          </a:xfrm>
          <a:prstGeom prst="rect">
            <a:avLst/>
          </a:prstGeom>
        </p:spPr>
      </p:pic>
      <p:sp>
        <p:nvSpPr>
          <p:cNvPr id="3" name="Rectangle 2"/>
          <p:cNvSpPr/>
          <p:nvPr/>
        </p:nvSpPr>
        <p:spPr>
          <a:xfrm>
            <a:off x="4572000" y="0"/>
            <a:ext cx="4572000" cy="5143500"/>
          </a:xfrm>
          <a:prstGeom prst="rect">
            <a:avLst/>
          </a:prstGeom>
          <a:solidFill>
            <a:srgbClr val="152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8"/>
          <a:stretch>
            <a:fillRect/>
          </a:stretch>
        </p:blipFill>
        <p:spPr>
          <a:xfrm>
            <a:off x="4952000" y="380000"/>
            <a:ext cx="1074231" cy="330000"/>
          </a:xfrm>
          <a:prstGeom prst="rect">
            <a:avLst/>
          </a:prstGeom>
        </p:spPr>
      </p:pic>
      <p:sp>
        <p:nvSpPr>
          <p:cNvPr id="5" name="TextBox 4"/>
          <p:cNvSpPr txBox="1"/>
          <p:nvPr/>
        </p:nvSpPr>
        <p:spPr>
          <a:xfrm>
            <a:off x="4952000" y="130000"/>
            <a:ext cx="3812000" cy="200000"/>
          </a:xfrm>
          <a:prstGeom prst="rect">
            <a:avLst/>
          </a:prstGeom>
          <a:noFill/>
        </p:spPr>
        <p:txBody>
          <a:bodyPr wrap="none">
            <a:spAutoFit/>
          </a:bodyPr>
          <a:lstStyle/>
          <a:p>
            <a:pPr>
              <a:defRPr sz="900">
                <a:solidFill>
                  <a:srgbClr val="8FA3C4"/>
                </a:solidFill>
                <a:latin typeface="Calibri"/>
              </a:defRPr>
            </a:pPr>
            <a:r>
              <a:t>Context     Evidence     Strategy     Measures</a:t>
            </a:r>
          </a:p>
        </p:txBody>
      </p:sp>
      <p:sp>
        <p:nvSpPr>
          <p:cNvPr id="6" name="TextBox 5"/>
          <p:cNvSpPr txBox="1"/>
          <p:nvPr/>
        </p:nvSpPr>
        <p:spPr>
          <a:xfrm>
            <a:off x="4952000" y="950000"/>
            <a:ext cx="3812000" cy="1500000"/>
          </a:xfrm>
          <a:prstGeom prst="rect">
            <a:avLst/>
          </a:prstGeom>
          <a:noFill/>
        </p:spPr>
        <p:txBody>
          <a:bodyPr wrap="square">
            <a:spAutoFit/>
          </a:bodyPr>
          <a:lstStyle/>
          <a:p>
            <a:r>
              <a:rPr sz="2200" b="1">
                <a:solidFill>
                  <a:srgbClr val="FFFFFF"/>
                </a:solidFill>
                <a:latin typeface="Cambria"/>
              </a:rPr>
              <a:t>AMB does not need a bigger budget to compete on rate. </a:t>
            </a:r>
            <a:r>
              <a:rPr sz="2200" b="1">
                <a:solidFill>
                  <a:srgbClr val="1F8F74"/>
                </a:solidFill>
                <a:latin typeface="Cambria"/>
              </a:rPr>
              <a:t>It needs to be on the list when the rate is compared.</a:t>
            </a:r>
          </a:p>
        </p:txBody>
      </p:sp>
      <p:sp>
        <p:nvSpPr>
          <p:cNvPr id="7" name="TextBox 6"/>
          <p:cNvSpPr txBox="1"/>
          <p:nvPr/>
        </p:nvSpPr>
        <p:spPr>
          <a:xfrm>
            <a:off x="4952000" y="2650000"/>
            <a:ext cx="220000" cy="220000"/>
          </a:xfrm>
          <a:prstGeom prst="rect">
            <a:avLst/>
          </a:prstGeom>
          <a:noFill/>
        </p:spPr>
        <p:txBody>
          <a:bodyPr wrap="none">
            <a:spAutoFit/>
          </a:bodyPr>
          <a:lstStyle/>
          <a:p>
            <a:pPr>
              <a:defRPr sz="1300" b="1">
                <a:solidFill>
                  <a:srgbClr val="1F8F74"/>
                </a:solidFill>
              </a:defRPr>
            </a:pPr>
            <a:r>
              <a:t>✓</a:t>
            </a:r>
          </a:p>
        </p:txBody>
      </p:sp>
      <p:sp>
        <p:nvSpPr>
          <p:cNvPr id="8" name="TextBox 7"/>
          <p:cNvSpPr txBox="1"/>
          <p:nvPr/>
        </p:nvSpPr>
        <p:spPr>
          <a:xfrm>
            <a:off x="5212000" y="2650000"/>
            <a:ext cx="3552000" cy="260000"/>
          </a:xfrm>
          <a:prstGeom prst="rect">
            <a:avLst/>
          </a:prstGeom>
          <a:noFill/>
        </p:spPr>
        <p:txBody>
          <a:bodyPr wrap="square">
            <a:spAutoFit/>
          </a:bodyPr>
          <a:lstStyle/>
          <a:p>
            <a:pPr>
              <a:defRPr sz="1200" b="1">
                <a:solidFill>
                  <a:srgbClr val="FFFFFF"/>
                </a:solidFill>
                <a:latin typeface="Calibri"/>
              </a:defRPr>
            </a:pPr>
            <a:r>
              <a:t>Confirm panel status under the AMB brand</a:t>
            </a:r>
          </a:p>
        </p:txBody>
      </p:sp>
      <p:sp>
        <p:nvSpPr>
          <p:cNvPr id="9" name="TextBox 8"/>
          <p:cNvSpPr txBox="1"/>
          <p:nvPr/>
        </p:nvSpPr>
        <p:spPr>
          <a:xfrm>
            <a:off x="5212000" y="2905000"/>
            <a:ext cx="3552000" cy="420000"/>
          </a:xfrm>
          <a:prstGeom prst="rect">
            <a:avLst/>
          </a:prstGeom>
          <a:noFill/>
        </p:spPr>
        <p:txBody>
          <a:bodyPr wrap="square">
            <a:spAutoFit/>
          </a:bodyPr>
          <a:lstStyle/>
          <a:p>
            <a:pPr>
              <a:defRPr sz="950">
                <a:solidFill>
                  <a:srgbClr val="C9D6E8"/>
                </a:solidFill>
                <a:latin typeface="Calibri"/>
              </a:defRPr>
            </a:pPr>
            <a:r>
              <a:t>Our two source documents disagree on whether AMB is accredited in its own name. Move 2 depends on the answer.</a:t>
            </a:r>
          </a:p>
        </p:txBody>
      </p:sp>
      <p:sp>
        <p:nvSpPr>
          <p:cNvPr id="10" name="TextBox 9"/>
          <p:cNvSpPr txBox="1"/>
          <p:nvPr/>
        </p:nvSpPr>
        <p:spPr>
          <a:xfrm>
            <a:off x="4952000" y="3330000"/>
            <a:ext cx="220000" cy="220000"/>
          </a:xfrm>
          <a:prstGeom prst="rect">
            <a:avLst/>
          </a:prstGeom>
          <a:noFill/>
        </p:spPr>
        <p:txBody>
          <a:bodyPr wrap="none">
            <a:spAutoFit/>
          </a:bodyPr>
          <a:lstStyle/>
          <a:p>
            <a:pPr>
              <a:defRPr sz="1300" b="1">
                <a:solidFill>
                  <a:srgbClr val="1F8F74"/>
                </a:solidFill>
              </a:defRPr>
            </a:pPr>
            <a:r>
              <a:t>✓</a:t>
            </a:r>
          </a:p>
        </p:txBody>
      </p:sp>
      <p:sp>
        <p:nvSpPr>
          <p:cNvPr id="11" name="TextBox 10"/>
          <p:cNvSpPr txBox="1"/>
          <p:nvPr/>
        </p:nvSpPr>
        <p:spPr>
          <a:xfrm>
            <a:off x="5212000" y="3330000"/>
            <a:ext cx="3552000" cy="260000"/>
          </a:xfrm>
          <a:prstGeom prst="rect">
            <a:avLst/>
          </a:prstGeom>
          <a:noFill/>
        </p:spPr>
        <p:txBody>
          <a:bodyPr wrap="square">
            <a:spAutoFit/>
          </a:bodyPr>
          <a:lstStyle/>
          <a:p>
            <a:pPr>
              <a:defRPr sz="1200" b="1">
                <a:solidFill>
                  <a:srgbClr val="FFFFFF"/>
                </a:solidFill>
                <a:latin typeface="Calibri"/>
              </a:defRPr>
            </a:pPr>
            <a:r>
              <a:t>Pilot check-your-offer with a few hundred members</a:t>
            </a:r>
          </a:p>
        </p:txBody>
      </p:sp>
      <p:sp>
        <p:nvSpPr>
          <p:cNvPr id="12" name="TextBox 11"/>
          <p:cNvSpPr txBox="1"/>
          <p:nvPr/>
        </p:nvSpPr>
        <p:spPr>
          <a:xfrm>
            <a:off x="5212000" y="3585000"/>
            <a:ext cx="3552000" cy="420000"/>
          </a:xfrm>
          <a:prstGeom prst="rect">
            <a:avLst/>
          </a:prstGeom>
          <a:noFill/>
        </p:spPr>
        <p:txBody>
          <a:bodyPr wrap="square">
            <a:spAutoFit/>
          </a:bodyPr>
          <a:lstStyle/>
          <a:p>
            <a:pPr>
              <a:defRPr sz="950">
                <a:solidFill>
                  <a:srgbClr val="C9D6E8"/>
                </a:solidFill>
                <a:latin typeface="Calibri"/>
              </a:defRPr>
            </a:pPr>
            <a:r>
              <a:t>Measures whether members send the link and whether friends upload an offer, before any broader spend.</a:t>
            </a:r>
          </a:p>
        </p:txBody>
      </p:sp>
      <p:sp>
        <p:nvSpPr>
          <p:cNvPr id="13" name="TextBox 12"/>
          <p:cNvSpPr txBox="1"/>
          <p:nvPr/>
        </p:nvSpPr>
        <p:spPr>
          <a:xfrm>
            <a:off x="4952000" y="4010000"/>
            <a:ext cx="220000" cy="220000"/>
          </a:xfrm>
          <a:prstGeom prst="rect">
            <a:avLst/>
          </a:prstGeom>
          <a:noFill/>
        </p:spPr>
        <p:txBody>
          <a:bodyPr wrap="none">
            <a:spAutoFit/>
          </a:bodyPr>
          <a:lstStyle/>
          <a:p>
            <a:pPr>
              <a:defRPr sz="1300" b="1">
                <a:solidFill>
                  <a:srgbClr val="1F8F74"/>
                </a:solidFill>
              </a:defRPr>
            </a:pPr>
            <a:r>
              <a:t>✓</a:t>
            </a:r>
          </a:p>
        </p:txBody>
      </p:sp>
      <p:sp>
        <p:nvSpPr>
          <p:cNvPr id="14" name="TextBox 13"/>
          <p:cNvSpPr txBox="1"/>
          <p:nvPr/>
        </p:nvSpPr>
        <p:spPr>
          <a:xfrm>
            <a:off x="5212000" y="4010000"/>
            <a:ext cx="3552000" cy="260000"/>
          </a:xfrm>
          <a:prstGeom prst="rect">
            <a:avLst/>
          </a:prstGeom>
          <a:noFill/>
        </p:spPr>
        <p:txBody>
          <a:bodyPr wrap="square">
            <a:spAutoFit/>
          </a:bodyPr>
          <a:lstStyle/>
          <a:p>
            <a:pPr>
              <a:defRPr sz="1200" b="1">
                <a:solidFill>
                  <a:srgbClr val="FFFFFF"/>
                </a:solidFill>
                <a:latin typeface="Calibri"/>
              </a:defRPr>
            </a:pPr>
            <a:r>
              <a:t>One sized shopper survey</a:t>
            </a:r>
          </a:p>
        </p:txBody>
      </p:sp>
      <p:sp>
        <p:nvSpPr>
          <p:cNvPr id="15" name="TextBox 14"/>
          <p:cNvSpPr txBox="1"/>
          <p:nvPr/>
        </p:nvSpPr>
        <p:spPr>
          <a:xfrm>
            <a:off x="5212000" y="4265000"/>
            <a:ext cx="3552000" cy="420000"/>
          </a:xfrm>
          <a:prstGeom prst="rect">
            <a:avLst/>
          </a:prstGeom>
          <a:noFill/>
        </p:spPr>
        <p:txBody>
          <a:bodyPr wrap="square">
            <a:spAutoFit/>
          </a:bodyPr>
          <a:lstStyle/>
          <a:p>
            <a:pPr>
              <a:defRPr sz="950">
                <a:solidFill>
                  <a:srgbClr val="C9D6E8"/>
                </a:solidFill>
                <a:latin typeface="Calibri"/>
              </a:defRPr>
            </a:pPr>
            <a:r>
              <a:t>Our samples are small and drawn from our own networks. A survey of a few hundred shoppers turns shortlist inclusion into a number.</a:t>
            </a:r>
          </a:p>
        </p:txBody>
      </p:sp>
      <p:sp>
        <p:nvSpPr>
          <p:cNvPr id="16" name="TextBox 15"/>
          <p:cNvSpPr txBox="1"/>
          <p:nvPr/>
        </p:nvSpPr>
        <p:spPr>
          <a:xfrm>
            <a:off x="4952000" y="4700000"/>
            <a:ext cx="3812000" cy="300000"/>
          </a:xfrm>
          <a:prstGeom prst="rect">
            <a:avLst/>
          </a:prstGeom>
          <a:noFill/>
        </p:spPr>
        <p:txBody>
          <a:bodyPr wrap="none">
            <a:spAutoFit/>
          </a:bodyPr>
          <a:lstStyle/>
          <a:p>
            <a:pPr>
              <a:defRPr sz="1300" i="1">
                <a:solidFill>
                  <a:srgbClr val="C9D6E8"/>
                </a:solidFill>
                <a:latin typeface="Calibri"/>
              </a:defRPr>
            </a:pPr>
            <a:r>
              <a:t>Thank you  ·  Questions</a:t>
            </a:r>
          </a:p>
        </p:txBody>
      </p:sp>
      <p:sp>
        <p:nvSpPr>
          <p:cNvPr id="17" name="TextBox 16"/>
          <p:cNvSpPr txBox="1"/>
          <p:nvPr/>
        </p:nvSpPr>
        <p:spPr>
          <a:xfrm>
            <a:off x="8644000" y="4793500"/>
            <a:ext cx="400000" cy="250000"/>
          </a:xfrm>
          <a:prstGeom prst="rect">
            <a:avLst/>
          </a:prstGeom>
          <a:noFill/>
        </p:spPr>
        <p:txBody>
          <a:bodyPr wrap="none">
            <a:spAutoFit/>
          </a:bodyPr>
          <a:lstStyle/>
          <a:p>
            <a:pPr algn="r">
              <a:defRPr sz="1000">
                <a:solidFill>
                  <a:srgbClr val="8FA3C4"/>
                </a:solidFill>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Australian Mutual Bank onto the home loan shortlist</dc:title>
  <dc:subject>PptxGenJS Presentation</dc:subject>
  <dc:creator>PptxGenJS</dc:creator>
  <cp:lastModifiedBy>PptxGenJS</cp:lastModifiedBy>
  <cp:revision>1</cp:revision>
  <dcterms:created xsi:type="dcterms:W3CDTF">2026-10-01T04:27:03Z</dcterms:created>
  <dcterms:modified xsi:type="dcterms:W3CDTF">2026-10-01T04:27:03Z</dcterms:modified>
</cp:coreProperties>
</file>