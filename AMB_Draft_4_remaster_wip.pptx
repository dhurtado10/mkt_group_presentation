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Broker-originated share of new residential home loans, %</a:t>
            </a:r>
          </a:p>
        </c:rich>
      </c:tx>
      <c:layout/>
      <c:overlay val="0"/>
    </c:title>
    <c:autoTitleDeleted val="0"/>
    <c:plotArea>
      <c:layout/>
      <c:barChart>
        <c:barDir val="col"/>
        <c:grouping val="clustered"/>
        <c:varyColors val="0"/>
        <c:ser>
          <c:idx val="0"/>
          <c:order val="0"/>
          <c:tx>
            <c:strRef>
              <c:f>Sheet1!$B$1</c:f>
              <c:strCache>
                <c:ptCount val="1"/>
                <c:pt idx="0">
                  <c:v>Broker share</c:v>
                </c:pt>
              </c:strCache>
            </c:strRef>
          </c:tx>
          <c:spPr>
            <a:solidFill>
              <a:srgbClr val="152B56"/>
            </a:solidFill>
            <a:effectLst/>
          </c:spPr>
          <c:invertIfNegative val="0"/>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Jun 2018</c:v>
                  </c:pt>
                  <c:pt idx="1">
                    <c:v>Sep 2024</c:v>
                  </c:pt>
                  <c:pt idx="2">
                    <c:v>Mar 2026</c:v>
                  </c:pt>
                  <c:pt idx="3">
                    <c:v>Jun 2026</c:v>
                  </c:pt>
                </c:lvl>
              </c:multiLvlStrCache>
            </c:multiLvlStrRef>
          </c:cat>
          <c:val>
            <c:numRef>
              <c:f>Sheet1!$B$2:$B$5</c:f>
              <c:numCache>
                <c:formatCode>General</c:formatCode>
                <c:ptCount val="4"/>
                <c:pt idx="0">
                  <c:v>53.9</c:v>
                </c:pt>
                <c:pt idx="1">
                  <c:v>74.6</c:v>
                </c:pt>
                <c:pt idx="2">
                  <c:v>81</c:v>
                </c:pt>
                <c:pt idx="3">
                  <c:v>81.6</c:v>
                </c:pt>
              </c:numCache>
            </c:numRef>
          </c:val>
        </c:ser>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Levers that made them more likely, out of 10</a:t>
            </a:r>
          </a:p>
        </c:rich>
      </c:tx>
      <c:layout/>
      <c:overlay val="0"/>
    </c:title>
    <c:autoTitleDeleted val="0"/>
    <c:plotArea>
      <c:layout/>
      <c:barChart>
        <c:barDir val="bar"/>
        <c:grouping val="clustered"/>
        <c:varyColors val="0"/>
        <c:ser>
          <c:idx val="0"/>
          <c:order val="0"/>
          <c:tx>
            <c:strRef>
              <c:f>Sheet1!$B$1</c:f>
              <c:strCache>
                <c:ptCount val="1"/>
                <c:pt idx="0">
                  <c:v>Moved</c:v>
                </c:pt>
              </c:strCache>
            </c:strRef>
          </c:tx>
          <c:spPr>
            <a:solidFill>
              <a:srgbClr val="152B56"/>
            </a:solidFill>
            <a:effectLst/>
          </c:spPr>
          <c:invertIfNegative val="0"/>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A friend had a good experience with AMB</c:v>
                  </c:pt>
                  <c:pt idx="1">
                    <c:v>Employer partnership offer</c:v>
                  </c:pt>
                  <c:pt idx="2">
                    <c:v>Rate-match guarantee</c:v>
                  </c:pt>
                  <c:pt idx="3">
                    <c:v>Customer-owned label</c:v>
                  </c:pt>
                </c:lvl>
              </c:multiLvlStrCache>
            </c:multiLvlStrRef>
          </c:cat>
          <c:val>
            <c:numRef>
              <c:f>Sheet1!$B$2:$B$5</c:f>
              <c:numCache>
                <c:formatCode>General</c:formatCode>
                <c:ptCount val="4"/>
                <c:pt idx="0">
                  <c:v>10</c:v>
                </c:pt>
                <c:pt idx="1">
                  <c:v>7</c:v>
                </c:pt>
                <c:pt idx="2">
                  <c:v>5</c:v>
                </c:pt>
                <c:pt idx="3">
                  <c:v>5</c:v>
                </c:pt>
              </c:numCache>
            </c:numRef>
          </c:val>
        </c:ser>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Checks they would still run, out of 10</a:t>
            </a:r>
          </a:p>
        </c:rich>
      </c:tx>
      <c:layout/>
      <c:overlay val="0"/>
    </c:title>
    <c:autoTitleDeleted val="0"/>
    <c:plotArea>
      <c:layout/>
      <c:barChart>
        <c:barDir val="bar"/>
        <c:grouping val="clustered"/>
        <c:varyColors val="0"/>
        <c:ser>
          <c:idx val="0"/>
          <c:order val="0"/>
          <c:tx>
            <c:strRef>
              <c:f>Sheet1!$B$1</c:f>
              <c:strCache>
                <c:ptCount val="1"/>
                <c:pt idx="0">
                  <c:v>Checks</c:v>
                </c:pt>
              </c:strCache>
            </c:strRef>
          </c:tx>
          <c:spPr>
            <a:solidFill>
              <a:srgbClr val="1F8F74"/>
            </a:solidFill>
            <a:effectLst/>
          </c:spPr>
          <c:invertIfNegative val="0"/>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cat>
            <c:multiLvlStrRef>
              <c:f>Sheet1!$A$2:$A$3</c:f>
              <c:multiLvlStrCache>
                <c:ptCount val="2"/>
                <c:lvl>
                  <c:pt idx="0">
                    <c:v>Would not act on a site or AI ranking alone</c:v>
                  </c:pt>
                  <c:pt idx="1">
                    <c:v>Would still check first, even with a better rate</c:v>
                  </c:pt>
                </c:lvl>
              </c:multiLvlStrCache>
            </c:multiLvlStrRef>
          </c:cat>
          <c:val>
            <c:numRef>
              <c:f>Sheet1!$B$2:$B$3</c:f>
              <c:numCache>
                <c:formatCode>General</c:formatCode>
                <c:ptCount val="2"/>
                <c:pt idx="0">
                  <c:v>8</c:v>
                </c:pt>
                <c:pt idx="1">
                  <c:v>7</c:v>
                </c:pt>
              </c:numCache>
            </c:numRef>
          </c:val>
        </c:ser>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were asked how Australian Mutual Bank should spend seven hundred and fifty thousand dollars to win home loan customers it has no existing claim on. Six of us each mapped one way people choose a home loan, we ran a shared questionnaire across those groups, and we checked what we found against the industry data. We'll give you our answer on the next slide, then the evidence, then the plan and how to measure it. All six of us present and all six of us are across the whole thing for questions.
--- REVIEW NOTES (delete before presenting) ---
Changed in Draft 4: Team names now XXX placeholders.
Still to do: Fill in the six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argument on one page. First, in every group we studied the shortlist was two to four familiar names, built before anyone compared a rate. AMB was never in it. Second, that is not a product problem. AMB's advertised rate is competitive with the big four's and its sector is the most trusted in banking, but neither fact reaches the decision. Third, the three moves all do the same job in different places: make AMB easy to verify, get it into the broker's working set, and let existing members hand a friend a reason to look. Fourth, the indicative split and the return, which we'll come back to with the inputs we still need from the bank. Next, the brief and the issue as we see it.
--- REVIEW NOTES (delete before presenting) ---
Changed in Draft 4: Rate now 'competitive with' the big four (true at both LVR tiers). Member count confirmed at about 280,000 (TMBL merger announcement). Return shown as XXX.
Still to do: Put the ROI figure in once slide 13 is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context. Australian Mutual Bank is the brand inside the Teachers Mutual group that anyone can join. Until the merger the group's brands were mostly for teachers, nurses and emergency services, so AMB is now trying to attract people it has never had a relationship with, without a big-four budget. The brief asks for a digital acquisition strategy with a budget of seven hundred and fifty thousand. The issue we landed on is more specific than awareness. People and brokers filter out lenders they don't already trust before they look at a rate. So the job is passing that filter, and it happens in two places: when a borrower searches for themselves, and when a broker builds a shortlist. I'll hand over to walk through how we know that.
--- REVIEW NOTES (delete before presenting) ---
Changed in Draft 4: Member count confirmed (about 280,000 across the merged group) and merger date confirmed (1 May 2026); both [CHECK]s removed.
Still to do: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layers of evidence. First, each of us mapped one way people choose a home loan: going straight to their bank, using a broker, doing it themselves online, refinancing, upgrading, or buying for the first time. We each wrote the map we assumed, did our own research, then rewrote it. Second, we put one shared questionnaire to the two groups we're prioritising, so the levers we tested are directly comparable. Third, we checked everything against market data, because our samples are small and we're upfront about that. In design thinking terms this is all the what-is stage: describing how people actually behave today before we propose anything. Here's the market in two numbers.
--- REVIEW NOTES (delete before presenting) ---
Changed in Draft 4: 'Shoppers' changed to 'borrowers'. Broker-side interviews flagged as XXX to be added.
Still to do: If the 3 interviews are not added, change 17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frame everything. Brokers now write over eighty per cent of new home loans in Australia, up from just over half in 2018. So the broker's shortlist is where most lending decisions get made. And of what brokers place, under four per cent goes to mutual banks against nearly forty per cent to the majors. That gap is the opportunity and the problem in one figure. One more number to hold onto: three quarters of Australians can't tell you what a customer-owned bank is, even though Roy Morgan rates the sector the most trusted in banking. AMB has a trust advantage almost nobody knows about. Over to the journey maps.
--- REVIEW NOTES (delete before presenting) ---
Changed in Draft 4: 2018 bar relabelled Jun 2018 (MFAA comparison base). 39.9%, 3.7% and Sep 2024 74.6% now cited to MFAA (2024), as in the broker-placed journey map; [CHECK]s removed.
Still to do: Optional: one line on who currently wins the broker shortlist (majors, Macquarie) for the competitor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This is the six maps side by side. Different methods, different samples, same finding every time. People who go straight to their bank never seriously considered anyone else. People who use a broker saw two to four familiar names and took that as the market. People who research online, including those who found better rates, still ended up at a big-four bank. Refinancers and upgraders started on comparison sites and then went looking for a name they trusted. First-home buyers found their lender through a broker or a parent. The right-hand column is the point: AMB is lost at a different step in each group, but always before its rate gets compared. It wasn't rejected. It was never in the room. Here's where we chose to focus.
--- REVIEW NOTES (delete before presenting) ---
Changed in Draft 4: No change.
Still to do: Check each n against its owner's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us to pick the two groups with the most opportunity and defend the choice. We picked on one criterion: where a shortlist gets built, because that's what we need to change. Self-directed borrowers build their own, online, in the only channels a digital budget reaches directly. Broker-placed borrowers have theirs built by a broker, and that's eighty per cent of the market. The other four groups aren't ignored. Refinancing, upgrading and buying a first home are triggers, and when they fire the person either goes online or calls a broker, so they're reached by the same two moves. The one group we deliberately park is people who go straight to the bank their family has always used, because there's no moment to interrupt. Over to what moves the DIY borrower.
--- REVIEW NOTES (delete before presenting) ---
Changed in Draft 4: 'Shoppers' changed to 'borrowers'. Job to be done added to each priority group (broker wording from the broker-placed journey map; DIY wording from the Round 2 interviews).
Still to do: Confirm the DIY job-to-be-done wording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Ten self-directed borrowers answered the shared questionnaire. A friend who'd had a good experience with AMB moved every one of them. Eight wouldn't act on a comparison site or AI ranking without checking reviews and regulation themselves. Seven said that even with a clearly better rate they'd still check before going with a lender they didn't know. An employer deal moved seven, though all ten said they'd still run their own comparison. The rate-match guarantee moved half, and one person said it made them suspicious. On the customer-owned label, it appealed to the three people who'd never taken a loan and barely registered with the seven who had. The rate gets you looked at. Proof and a person get you chosen. Broker-placed next.
--- REVIEW NOTES (delete before presenting) ---
Changed in Draft 4: 'Shoppers' changed to 'borrowers'. Screener issue disclosed in the source line.
Still to do: Decision still open: keep the 3 non-screened respondents with this disclosure, or recompute on n=7 and update the title and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questionnaire, broker-placed borrowers, four responses so far with three earlier interviews to fold in. Three of four said that if a broker they trusted recommended AMB they'd still go and check it themselves. Three of four said a written promise to match a big-four rate made them suspicious rather than reassured, which is the opposite of what we expected, and a stronger reaction than in the DIY group, where it moved half. Only one had heard of AMB and none were moved by it being customer-owned. XXX of four said a friend's good experience would make them more likely to consider it. The exception tells the story. One respondent trusts her broker completely and would take his word alone, and in three years he has never put a mutual in front of her. That's the broker working set in one person. What they want is proof it's regulated and a reason it suits them. Here's what that adds up to.
--- REVIEW NOTES (delete before presenting) ---
Changed in Draft 4: Fourth stat card added for the broker friend-referral result (XXX of 4), so slide 10's 'both groups' claim has evidence. Quote marks removed ('trusts her broker completely') because the records are paraphrased. Notes now say the guarantee reaction was stronger than in the DIY group.
Still to do: Fill in XXX from the broker responses, and add the 3 broker-side interviews if they asked the same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ideas from the course explain what we saw. Consideration sets: the McKinsey decision journey work shows that brands outside the initial handful of names rarely win, and it doesn't matter whether the borrower builds that handful or a broker does. AMB is outside it everywhere. Status quo bias: the familiar bank holds unless something triggers a search and there's a reason to move, and for seven of ten DIY borrowers a better rate wasn't reason enough on its own. Social proof: the strongest lever in both groups, XXX out of fourteen, was a person vouching. That matters for a sector Roy Morgan says is the most trusted in banking and three quarters of people have never heard of. The rate is fine. It's never weighed. Here's the strategy.
--- REVIEW NOTES (delete before presenting) ---
Changed in Draft 4: Social proof restored to 'both groups, XXX of 14' (fill in from slide 9). Rate line rewritten as 'competitive', with both LVR tiers shown, so it holds up for first-home buyers above 60% LVR. Cialdini (1984) cited.
Still to do: Once slide 9 is filled in, enter the total here (10 DIY plus the broker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moves. One, make AMB easy to verify. When a borrower or a broker's client searches for AMB they should find reviews, ratings, proof it's regulated, the trust ranking, and the real rate and fees rather than a headline figure. That's also where AI assistants draw their answers from. Two, enter the broker's working set. Brokers shortlist from the lenders they know and can place fast, so this is accreditation on every major panel, BDM coverage, a proof pack that makes AMB easy to recommend, and a turnaround commitment. It gets the most money because it's the biggest channel. Three, the one only a mutual can run: a member sends a friend a link, the friend uploads the offer they already have, and AMB comes back with a firm rate within a day. It's the vouch and the proof in one step. Here's the rollout.
--- REVIEW NOTES (delete before presenting) ---
Changed in Draft 4: Move 2 reframed digitally: digital proof pack, aggregator platform listing, live turnaround tracking, with BDMs behind it. Media type added to each move (owned and earned, paid and owned, earned). Panel accreditation shown as XXX.
Still to do: Confirm whether AMB is accredited under its own brand; Move 2's budget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The first quarter is cheap and mostly about proof. Get the reviews and ratings up, publish real rates and approval times, confirm AMB is accredited on the panels under its own name, and pilot the check-your-offer link with a few hundred members so we learn whether people send it and whether friends upload. Quarter two is the broker push, BDMs and the proof pack, and the referral link goes to every member. The second half is scaling what converts and cutting what doesn't, which is why measurement has its own line. Each stream has a named owner, and lending operations has to own the twenty-four-hour rate, because the referral only works if the rate comes back fast. Which brings us to how we'd measure it.
--- REVIEW NOTES (delete before presenting) ---
Changed in Draft 4: [CHECK]s replaced with XXX; broker lane wording matches the digital Move 2.
Still to do: Enter the pilot size (XXX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We've split the metrics into what moves early and what proves it worked. Early, we watch branded search, the number and quality of reviews, how many brokers are accredited and submitting, how many referral links get sent and how many friends upload an offer, and how fast a rate comes back. Those tell AMB within a quarter whether it's getting into shortlists. The lag indicators are what the board cares about: shortlist inclusion from a quarterly survey, conversion when AMB is shown, funded loans and cost per loan by channel, and whether members are still there a year later. The return is funded loans times lifetime margin over the budget. We've listed the inputs we need from AMB to put a firm number on it. I'll close with what we'd do first.
--- REVIEW NOTES (delete before presenting) ---
Changed in Draft 4: Targets added: 24-hour firm rate and 48-hour conditional approval (matching the commitments in Moves 2 and 3), plus a review-rating target (XXX). ROI callout now shows the worked formula with XXX inputs.
Still to do: Fill in cost per funded loan, net interest margin and average loan life, then calculate the multiple.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 limits. Our samples are small and they're our own networks, so what we've shown you is directional. And a couple of facts about AMB's own position, like whether the brand is already accredited on the panels, we'd want confirmed with the bank before a dollar is spent. So the first three things we'd do are cheap. Confirm the panel position. Pilot the referral link with a few hundred members. And run one properly sized shopper survey so shortlist inclusion becomes a number rather than a story. The line we'd leave you with: AMB doesn't need a bigger budget to compete on rate. It needs to be on the list when the rate gets compared. Thank you. Happy to take questions, and any of us can speak to any part of it.
--- REVIEW NOTES (delete before presenting) ---
Changed in Draft 4: No change.
Still to do: Rehearse the hand-off into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0.jpg"/><Relationship Id="rId5"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 Id="rId7" Type="http://schemas.openxmlformats.org/officeDocument/2006/relationships/image" Target="../media/image18.jpg"/><Relationship Id="rId8" Type="http://schemas.openxmlformats.org/officeDocument/2006/relationships/image" Target="../media/image27.jpg"/><Relationship Id="rId9" Type="http://schemas.openxmlformats.org/officeDocument/2006/relationships/image" Target="../media/image28.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19.jp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 Id="rId6" Type="http://schemas.openxmlformats.org/officeDocument/2006/relationships/image" Target="../media/image2.jpg"/><Relationship Id="rId7" Type="http://schemas.openxmlformats.org/officeDocument/2006/relationships/image" Target="../media/image3.jpg"/><Relationship Id="rId8" Type="http://schemas.openxmlformats.org/officeDocument/2006/relationships/image" Target="../media/image4.jpg"/><Relationship Id="rId9" Type="http://schemas.openxmlformats.org/officeDocument/2006/relationships/image" Target="../media/image12.jpg"/><Relationship Id="rId10" Type="http://schemas.openxmlformats.org/officeDocument/2006/relationships/image" Target="../media/image23.jpg"/><Relationship Id="rId11" Type="http://schemas.openxmlformats.org/officeDocument/2006/relationships/image" Target="../media/image24.jpg"/><Relationship Id="rId12" Type="http://schemas.openxmlformats.org/officeDocument/2006/relationships/image" Target="../media/image25.jpg"/><Relationship Id="rId13" Type="http://schemas.openxmlformats.org/officeDocument/2006/relationships/image" Target="../media/image26.jpg"/></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2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 Id="rId7"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 Id="rId6" Type="http://schemas.openxmlformats.org/officeDocument/2006/relationships/image" Target="../media/image13.jpg"/><Relationship Id="rId7"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 Id="rId6" Type="http://schemas.openxmlformats.org/officeDocument/2006/relationships/image" Target="../media/image21.jpg"/><Relationship Id="rId7" Type="http://schemas.openxmlformats.org/officeDocument/2006/relationships/image" Target="../media/image29.jp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2.jpg"/><Relationship Id="rId5" Type="http://schemas.openxmlformats.org/officeDocument/2006/relationships/image" Target="../media/image30.jpg"/><Relationship Id="rId6"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1.jp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B56"/>
        </a:solidFill>
      </p:bgPr>
    </p:bg>
    <p:spTree>
      <p:nvGrpSpPr>
        <p:cNvPr id="1" name=""/>
        <p:cNvGrpSpPr/>
        <p:nvPr/>
      </p:nvGrpSpPr>
      <p:grpSpPr>
        <a:xfrm>
          <a:off x="0" y="0"/>
          <a:ext cx="0" cy="0"/>
          <a:chOff x="0" y="0"/>
          <a:chExt cx="0" cy="0"/>
        </a:xfrm>
      </p:grpSpPr>
      <p:pic>
        <p:nvPicPr>
          <p:cNvPr id="10" name="Picture 9" descr="title_bg.jpg"/>
          <p:cNvPicPr>
            <a:picLocks noChangeAspect="1"/>
          </p:cNvPicPr>
          <p:nvPr/>
        </p:nvPicPr>
        <p:blipFill>
          <a:blip r:embed="rId4"/>
          <a:stretch>
            <a:fillRect/>
          </a:stretch>
        </p:blipFill>
        <p:spPr>
          <a:xfrm>
            <a:off x="0" y="0"/>
            <a:ext cx="9144000" cy="5143500"/>
          </a:xfrm>
          <a:prstGeom prst="rect">
            <a:avLst/>
          </a:prstGeom>
        </p:spPr>
      </p:pic>
      <p:sp>
        <p:nvSpPr>
          <p:cNvPr id="12" name="Rectangle 11"/>
          <p:cNvSpPr/>
          <p:nvPr/>
        </p:nvSpPr>
        <p:spPr>
          <a:xfrm>
            <a:off x="0" y="4114800"/>
            <a:ext cx="9144000" cy="10287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0"/>
          <p:cNvSpPr txBox="1"/>
          <p:nvPr/>
        </p:nvSpPr>
        <p:spPr>
          <a:xfrm>
            <a:off x="457200" y="1691640"/>
            <a:ext cx="5486400" cy="274320"/>
          </a:xfrm>
          <a:prstGeom prst="rect">
            <a:avLst/>
          </a:prstGeom>
          <a:noFill/>
          <a:ln/>
        </p:spPr>
        <p:txBody>
          <a:bodyPr wrap="square" lIns="0" tIns="0" rIns="0" bIns="0" rtlCol="0" anchor="t"/>
          <a:lstStyle/>
          <a:p>
            <a:pPr indent="0" marL="0">
              <a:buNone/>
            </a:pPr>
            <a:r>
              <a:rPr lang="en-US" sz="1300" b="1" spc="200" kern="0" dirty="0">
                <a:solidFill>
                  <a:srgbClr val="1F8F74"/>
                </a:solidFill>
                <a:latin typeface="Calibri" pitchFamily="34" charset="0"/>
                <a:ea typeface="Calibri" pitchFamily="34" charset="-122"/>
                <a:cs typeface="Calibri" pitchFamily="34" charset="-120"/>
              </a:rPr>
              <a:t>RESPONSE TO RFP 2</a:t>
            </a:r>
            <a:endParaRPr lang="en-US" sz="1300" dirty="0"/>
          </a:p>
        </p:txBody>
      </p:sp>
      <p:sp>
        <p:nvSpPr>
          <p:cNvPr id="5" name="Text 1"/>
          <p:cNvSpPr txBox="1"/>
          <p:nvPr/>
        </p:nvSpPr>
        <p:spPr>
          <a:xfrm>
            <a:off x="457200" y="2011680"/>
            <a:ext cx="7498080" cy="1143000"/>
          </a:xfrm>
          <a:prstGeom prst="rect">
            <a:avLst/>
          </a:prstGeom>
          <a:noFill/>
          <a:ln/>
        </p:spPr>
        <p:txBody>
          <a:bodyPr wrap="square" lIns="0" tIns="0" rIns="0" bIns="0" rtlCol="0" anchor="t"/>
          <a:lstStyle/>
          <a:p>
            <a:pPr indent="0" marL="0">
              <a:buNone/>
            </a:pPr>
            <a:r>
              <a:rPr lang="en-US" sz="3400" b="1" dirty="0">
                <a:solidFill>
                  <a:srgbClr val="152B56"/>
                </a:solidFill>
                <a:latin typeface="Cambria" pitchFamily="34" charset="0"/>
                <a:ea typeface="Cambria" pitchFamily="34" charset="-122"/>
                <a:cs typeface="Cambria" pitchFamily="34" charset="-120"/>
              </a:rPr>
              <a:t>Getting Australian Mutual Bank onto the </a:t>
            </a:r>
            <a:pPr indent="0" marL="0">
              <a:buNone/>
            </a:pPr>
            <a:r>
              <a:rPr lang="en-US" sz="3400" b="1" dirty="0">
                <a:solidFill>
                  <a:srgbClr val="1F8F74"/>
                </a:solidFill>
                <a:latin typeface="Cambria" pitchFamily="34" charset="0"/>
                <a:ea typeface="Cambria" pitchFamily="34" charset="-122"/>
                <a:cs typeface="Cambria" pitchFamily="34" charset="-120"/>
              </a:rPr>
              <a:t>home loan shortlist</a:t>
            </a:r>
            <a:endParaRPr lang="en-US" sz="3400" dirty="0"/>
          </a:p>
        </p:txBody>
      </p:sp>
      <p:sp>
        <p:nvSpPr>
          <p:cNvPr id="6" name="Text 2"/>
          <p:cNvSpPr txBox="1"/>
          <p:nvPr/>
        </p:nvSpPr>
        <p:spPr>
          <a:xfrm>
            <a:off x="457200" y="3200400"/>
            <a:ext cx="6400800" cy="365760"/>
          </a:xfrm>
          <a:prstGeom prst="rect">
            <a:avLst/>
          </a:prstGeom>
          <a:noFill/>
          <a:ln/>
        </p:spPr>
        <p:txBody>
          <a:bodyPr wrap="square" lIns="0" tIns="0" rIns="0" bIns="0" rtlCol="0" anchor="t"/>
          <a:lstStyle/>
          <a:p>
            <a:pPr indent="0" marL="0">
              <a:buNone/>
            </a:pPr>
            <a:r>
              <a:rPr lang="en-US" sz="1800" dirty="0">
                <a:solidFill>
                  <a:srgbClr val="556070"/>
                </a:solidFill>
                <a:latin typeface="Calibri" pitchFamily="34" charset="0"/>
                <a:ea typeface="Calibri" pitchFamily="34" charset="-122"/>
                <a:cs typeface="Calibri" pitchFamily="34" charset="-120"/>
              </a:rPr>
              <a:t>A $750k digital acquisition strategy</a:t>
            </a:r>
            <a:endParaRPr lang="en-US" sz="1800" dirty="0"/>
          </a:p>
        </p:txBody>
      </p:sp>
      <p:sp>
        <p:nvSpPr>
          <p:cNvPr id="7" name="Text 3"/>
          <p:cNvSpPr txBox="1"/>
          <p:nvPr/>
        </p:nvSpPr>
        <p:spPr>
          <a:xfrm>
            <a:off x="457200" y="4320540"/>
            <a:ext cx="7315200" cy="274320"/>
          </a:xfrm>
          <a:prstGeom prst="rect">
            <a:avLst/>
          </a:prstGeom>
          <a:noFill/>
          <a:ln/>
        </p:spPr>
        <p:txBody>
          <a:bodyPr wrap="square" lIns="0" tIns="0" rIns="0" bIns="0" rtlCol="0" anchor="t"/>
          <a:lstStyle/>
          <a:p>
            <a:pPr indent="0" marL="0">
              <a:buNone/>
            </a:pPr>
            <a:r>
              <a:rPr lang="en-US" sz="1200" i="1" dirty="0">
                <a:solidFill>
                  <a:srgbClr val="C9D6E8"/>
                </a:solidFill>
                <a:latin typeface="Calibri" pitchFamily="34" charset="0"/>
                <a:ea typeface="Calibri" pitchFamily="34" charset="-122"/>
                <a:cs typeface="Calibri" pitchFamily="34" charset="-120"/>
              </a:rPr>
              <a:t>XXX  ·  XXX  ·  XXX  ·  XXX  ·  XXX  ·  XXX</a:t>
            </a:r>
            <a:endParaRPr lang="en-US" sz="1200" dirty="0"/>
          </a:p>
        </p:txBody>
      </p:sp>
      <p:sp>
        <p:nvSpPr>
          <p:cNvPr id="8" name="Text 4"/>
          <p:cNvSpPr txBox="1"/>
          <p:nvPr/>
        </p:nvSpPr>
        <p:spPr>
          <a:xfrm>
            <a:off x="457200" y="4680585"/>
            <a:ext cx="7498080" cy="274320"/>
          </a:xfrm>
          <a:prstGeom prst="rect">
            <a:avLst/>
          </a:prstGeom>
          <a:noFill/>
          <a:ln/>
        </p:spPr>
        <p:txBody>
          <a:bodyPr wrap="square" lIns="0" tIns="0" rIns="0" bIns="0" rtlCol="0" anchor="t"/>
          <a:lstStyle/>
          <a:p>
            <a:pPr indent="0" marL="0">
              <a:buNone/>
            </a:pPr>
            <a:r>
              <a:rPr lang="en-US" sz="1000" dirty="0">
                <a:solidFill>
                  <a:srgbClr val="8FA3C4"/>
                </a:solidFill>
                <a:latin typeface="Calibri" pitchFamily="34" charset="0"/>
                <a:ea typeface="Calibri" pitchFamily="34" charset="-122"/>
                <a:cs typeface="Calibri" pitchFamily="34" charset="-120"/>
              </a:rPr>
              <a:t>FMBA5007 Innovation in Strategic Marketing  |  University of Sydney Business School  |  October 2026</a:t>
            </a:r>
            <a:endParaRPr lang="en-US" sz="1000" dirty="0"/>
          </a:p>
        </p:txBody>
      </p:sp>
      <p:sp>
        <p:nvSpPr>
          <p:cNvPr id="9" name="Text 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FA3C4"/>
                </a:solidFill>
                <a:latin typeface="Calibri" pitchFamily="34" charset="0"/>
                <a:ea typeface="Calibri" pitchFamily="34" charset="-122"/>
                <a:cs typeface="Calibri" pitchFamily="34" charset="-120"/>
              </a:rPr>
              <a:t>1</a:t>
            </a:r>
            <a:endParaRPr lang="en-US" sz="1000" dirty="0"/>
          </a:p>
        </p:txBody>
      </p:sp>
      <p:pic>
        <p:nvPicPr>
          <p:cNvPr id="11" name="Picture 10" descr="amb_logo_transparent.png"/>
          <p:cNvPicPr>
            <a:picLocks noChangeAspect="1"/>
          </p:cNvPicPr>
          <p:nvPr/>
        </p:nvPicPr>
        <p:blipFill>
          <a:blip r:embed="rId5"/>
          <a:stretch>
            <a:fillRect/>
          </a:stretch>
        </p:blipFill>
        <p:spPr>
          <a:xfrm>
            <a:off x="457200" y="411480"/>
            <a:ext cx="1854592" cy="5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5" name="Picture 24" descr="s2_band.jpg"/>
          <p:cNvPicPr>
            <a:picLocks noChangeAspect="1"/>
          </p:cNvPicPr>
          <p:nvPr/>
        </p:nvPicPr>
        <p:blipFill>
          <a:blip r:embed="rId8"/>
          <a:stretch>
            <a:fillRect/>
          </a:stretch>
        </p:blipFill>
        <p:spPr>
          <a:xfrm>
            <a:off x="0" y="0"/>
            <a:ext cx="9144000" cy="1188720"/>
          </a:xfrm>
          <a:prstGeom prst="rect">
            <a:avLst/>
          </a:prstGeom>
        </p:spPr>
      </p:pic>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AMB loses home loan customers before its rate is compared, so the $750k should buy a place on the shortlist rather than reach</a:t>
            </a:r>
            <a:endParaRPr lang="en-US" sz="2000" dirty="0"/>
          </a:p>
        </p:txBody>
      </p:sp>
      <p:sp>
        <p:nvSpPr>
          <p:cNvPr id="24" name="Text 17"/>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Box 25"/>
          <p:cNvSpPr txBox="1"/>
          <p:nvPr/>
        </p:nvSpPr>
        <p:spPr>
          <a:xfrm>
            <a:off x="457200" y="1344168"/>
            <a:ext cx="4572000" cy="201168"/>
          </a:xfrm>
          <a:prstGeom prst="rect">
            <a:avLst/>
          </a:prstGeom>
          <a:noFill/>
        </p:spPr>
        <p:txBody>
          <a:bodyPr wrap="square" lIns="0" rIns="0" tIns="0" bIns="0" anchor="t">
            <a:spAutoFit/>
          </a:bodyPr>
          <a:lstStyle/>
          <a:p>
            <a:pPr algn="l"/>
            <a:r>
              <a:rPr sz="950" b="1">
                <a:solidFill>
                  <a:srgbClr val="166257"/>
                </a:solidFill>
                <a:latin typeface="Calibri"/>
              </a:rPr>
              <a:t>WHAT A BORROWER'S SHORTLIST LOOKED LIKE</a:t>
            </a:r>
          </a:p>
        </p:txBody>
      </p:sp>
      <p:sp>
        <p:nvSpPr>
          <p:cNvPr id="27" name="Rounded Rectangle 26"/>
          <p:cNvSpPr/>
          <p:nvPr/>
        </p:nvSpPr>
        <p:spPr>
          <a:xfrm>
            <a:off x="457200"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600200"/>
            <a:ext cx="1005840" cy="713232"/>
          </a:xfrm>
          <a:prstGeom prst="rect">
            <a:avLst/>
          </a:prstGeom>
          <a:noFill/>
        </p:spPr>
        <p:txBody>
          <a:bodyPr wrap="square" lIns="0" rIns="0" tIns="0" bIns="0" anchor="ctr">
            <a:spAutoFit/>
          </a:bodyPr>
          <a:lstStyle/>
          <a:p>
            <a:pPr algn="ctr"/>
            <a:r>
              <a:rPr sz="1050" b="1">
                <a:solidFill>
                  <a:srgbClr val="FFFFFF"/>
                </a:solidFill>
                <a:latin typeface="Calibri"/>
              </a:rPr>
              <a:t>Familiar</a:t>
            </a:r>
          </a:p>
          <a:p>
            <a:pPr algn="ctr"/>
            <a:r>
              <a:rPr sz="1050" b="1">
                <a:solidFill>
                  <a:srgbClr val="FFFFFF"/>
                </a:solidFill>
                <a:latin typeface="Calibri"/>
              </a:rPr>
              <a:t>lender 1</a:t>
            </a:r>
          </a:p>
        </p:txBody>
      </p:sp>
      <p:sp>
        <p:nvSpPr>
          <p:cNvPr id="29" name="Rounded Rectangle 28"/>
          <p:cNvSpPr/>
          <p:nvPr/>
        </p:nvSpPr>
        <p:spPr>
          <a:xfrm>
            <a:off x="1572768"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72768" y="1600200"/>
            <a:ext cx="1005840" cy="713232"/>
          </a:xfrm>
          <a:prstGeom prst="rect">
            <a:avLst/>
          </a:prstGeom>
          <a:noFill/>
        </p:spPr>
        <p:txBody>
          <a:bodyPr wrap="square" lIns="0" rIns="0" tIns="0" bIns="0" anchor="ctr">
            <a:spAutoFit/>
          </a:bodyPr>
          <a:lstStyle/>
          <a:p>
            <a:pPr algn="ctr"/>
            <a:r>
              <a:rPr sz="1050" b="1">
                <a:solidFill>
                  <a:srgbClr val="FFFFFF"/>
                </a:solidFill>
                <a:latin typeface="Calibri"/>
              </a:rPr>
              <a:t>Familiar</a:t>
            </a:r>
          </a:p>
          <a:p>
            <a:pPr algn="ctr"/>
            <a:r>
              <a:rPr sz="1050" b="1">
                <a:solidFill>
                  <a:srgbClr val="FFFFFF"/>
                </a:solidFill>
                <a:latin typeface="Calibri"/>
              </a:rPr>
              <a:t>lender 2</a:t>
            </a:r>
          </a:p>
        </p:txBody>
      </p:sp>
      <p:sp>
        <p:nvSpPr>
          <p:cNvPr id="31" name="Rounded Rectangle 30"/>
          <p:cNvSpPr/>
          <p:nvPr/>
        </p:nvSpPr>
        <p:spPr>
          <a:xfrm>
            <a:off x="2688336"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88336" y="1600200"/>
            <a:ext cx="1005840" cy="713232"/>
          </a:xfrm>
          <a:prstGeom prst="rect">
            <a:avLst/>
          </a:prstGeom>
          <a:noFill/>
        </p:spPr>
        <p:txBody>
          <a:bodyPr wrap="square" lIns="0" rIns="0" tIns="0" bIns="0" anchor="ctr">
            <a:spAutoFit/>
          </a:bodyPr>
          <a:lstStyle/>
          <a:p>
            <a:pPr algn="ctr"/>
            <a:r>
              <a:rPr sz="1050" b="1">
                <a:solidFill>
                  <a:srgbClr val="FFFFFF"/>
                </a:solidFill>
                <a:latin typeface="Calibri"/>
              </a:rPr>
              <a:t>Familiar</a:t>
            </a:r>
          </a:p>
          <a:p>
            <a:pPr algn="ctr"/>
            <a:r>
              <a:rPr sz="1050" b="1">
                <a:solidFill>
                  <a:srgbClr val="FFFFFF"/>
                </a:solidFill>
                <a:latin typeface="Calibri"/>
              </a:rPr>
              <a:t>lender 3</a:t>
            </a:r>
          </a:p>
        </p:txBody>
      </p:sp>
      <p:sp>
        <p:nvSpPr>
          <p:cNvPr id="33" name="Rounded Rectangle 32"/>
          <p:cNvSpPr/>
          <p:nvPr/>
        </p:nvSpPr>
        <p:spPr>
          <a:xfrm>
            <a:off x="3803904" y="1600200"/>
            <a:ext cx="1005840" cy="713232"/>
          </a:xfrm>
          <a:prstGeom prst="roundRect">
            <a:avLst>
              <a:gd name="adj" fmla="val 18000"/>
            </a:avLst>
          </a:prstGeom>
          <a:solidFill>
            <a:srgbClr val="F1F4F9"/>
          </a:solidFill>
          <a:ln w="12700">
            <a:solidFill>
              <a:srgbClr val="8A94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03904" y="1600200"/>
            <a:ext cx="1005840" cy="713232"/>
          </a:xfrm>
          <a:prstGeom prst="rect">
            <a:avLst/>
          </a:prstGeom>
          <a:noFill/>
        </p:spPr>
        <p:txBody>
          <a:bodyPr wrap="square" lIns="0" rIns="0" tIns="0" bIns="0" anchor="ctr">
            <a:spAutoFit/>
          </a:bodyPr>
          <a:lstStyle/>
          <a:p>
            <a:pPr algn="ctr"/>
            <a:r>
              <a:rPr sz="1050" b="1">
                <a:solidFill>
                  <a:srgbClr val="556070"/>
                </a:solidFill>
                <a:latin typeface="Calibri"/>
              </a:rPr>
              <a:t>Lender 4</a:t>
            </a:r>
          </a:p>
          <a:p>
            <a:pPr algn="ctr"/>
            <a:r>
              <a:rPr sz="950" b="0">
                <a:solidFill>
                  <a:srgbClr val="556070"/>
                </a:solidFill>
                <a:latin typeface="Calibri"/>
              </a:rPr>
              <a:t>(sometimes)</a:t>
            </a:r>
          </a:p>
        </p:txBody>
      </p:sp>
      <p:sp>
        <p:nvSpPr>
          <p:cNvPr id="35" name="TextBox 34"/>
          <p:cNvSpPr txBox="1"/>
          <p:nvPr/>
        </p:nvSpPr>
        <p:spPr>
          <a:xfrm>
            <a:off x="457200" y="2359152"/>
            <a:ext cx="4389120" cy="228600"/>
          </a:xfrm>
          <a:prstGeom prst="rect">
            <a:avLst/>
          </a:prstGeom>
          <a:noFill/>
        </p:spPr>
        <p:txBody>
          <a:bodyPr wrap="square" lIns="0" rIns="0" tIns="0" bIns="0" anchor="t">
            <a:spAutoFit/>
          </a:bodyPr>
          <a:lstStyle/>
          <a:p>
            <a:pPr algn="l"/>
            <a:r>
              <a:rPr sz="1000" b="0">
                <a:solidFill>
                  <a:srgbClr val="556070"/>
                </a:solidFill>
                <a:latin typeface="Calibri"/>
              </a:rPr>
              <a:t>All six groups compared two to four lenders, all names they already knew.</a:t>
            </a:r>
          </a:p>
        </p:txBody>
      </p:sp>
      <p:sp>
        <p:nvSpPr>
          <p:cNvPr id="36" name="Rounded Rectangle 35"/>
          <p:cNvSpPr/>
          <p:nvPr/>
        </p:nvSpPr>
        <p:spPr>
          <a:xfrm>
            <a:off x="5074920" y="1600200"/>
            <a:ext cx="1417320" cy="713232"/>
          </a:xfrm>
          <a:prstGeom prst="roundRect">
            <a:avLst>
              <a:gd name="adj" fmla="val 18000"/>
            </a:avLst>
          </a:prstGeom>
          <a:solidFill>
            <a:srgbClr val="FFFFFF"/>
          </a:solidFill>
          <a:ln w="19050">
            <a:solidFill>
              <a:srgbClr val="1F8F7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amb_leaves_transparent.png"/>
          <p:cNvPicPr>
            <a:picLocks noChangeAspect="1"/>
          </p:cNvPicPr>
          <p:nvPr/>
        </p:nvPicPr>
        <p:blipFill>
          <a:blip r:embed="rId9"/>
          <a:stretch>
            <a:fillRect/>
          </a:stretch>
        </p:blipFill>
        <p:spPr>
          <a:xfrm>
            <a:off x="5138928" y="1645920"/>
            <a:ext cx="868680" cy="502920"/>
          </a:xfrm>
          <a:prstGeom prst="rect">
            <a:avLst/>
          </a:prstGeom>
        </p:spPr>
      </p:pic>
      <p:sp>
        <p:nvSpPr>
          <p:cNvPr id="38" name="TextBox 37"/>
          <p:cNvSpPr txBox="1"/>
          <p:nvPr/>
        </p:nvSpPr>
        <p:spPr>
          <a:xfrm>
            <a:off x="5943600" y="1600200"/>
            <a:ext cx="548640" cy="713232"/>
          </a:xfrm>
          <a:prstGeom prst="rect">
            <a:avLst/>
          </a:prstGeom>
          <a:noFill/>
        </p:spPr>
        <p:txBody>
          <a:bodyPr wrap="square" lIns="0" rIns="0" tIns="0" bIns="0" anchor="ctr">
            <a:spAutoFit/>
          </a:bodyPr>
          <a:lstStyle/>
          <a:p>
            <a:pPr algn="l"/>
            <a:r>
              <a:rPr sz="1100" b="1">
                <a:solidFill>
                  <a:srgbClr val="166257"/>
                </a:solidFill>
                <a:latin typeface="Calibri"/>
              </a:rPr>
              <a:t>AMB</a:t>
            </a:r>
          </a:p>
          <a:p>
            <a:pPr algn="l"/>
            <a:r>
              <a:rPr sz="900" b="0">
                <a:solidFill>
                  <a:srgbClr val="556070"/>
                </a:solidFill>
                <a:latin typeface="Calibri"/>
              </a:rPr>
              <a:t>not on list</a:t>
            </a:r>
          </a:p>
        </p:txBody>
      </p:sp>
      <p:sp>
        <p:nvSpPr>
          <p:cNvPr id="39" name="TextBox 38"/>
          <p:cNvSpPr txBox="1"/>
          <p:nvPr/>
        </p:nvSpPr>
        <p:spPr>
          <a:xfrm>
            <a:off x="5074920" y="2359152"/>
            <a:ext cx="1463040" cy="228600"/>
          </a:xfrm>
          <a:prstGeom prst="rect">
            <a:avLst/>
          </a:prstGeom>
          <a:noFill/>
        </p:spPr>
        <p:txBody>
          <a:bodyPr wrap="square" lIns="0" rIns="0" tIns="0" bIns="0" anchor="t">
            <a:spAutoFit/>
          </a:bodyPr>
          <a:lstStyle/>
          <a:p>
            <a:pPr algn="l"/>
            <a:r>
              <a:rPr sz="1000" b="1">
                <a:solidFill>
                  <a:srgbClr val="166257"/>
                </a:solidFill>
                <a:latin typeface="Calibri"/>
              </a:rPr>
              <a:t>Never considered</a:t>
            </a:r>
          </a:p>
        </p:txBody>
      </p:sp>
      <p:cxnSp>
        <p:nvCxnSpPr>
          <p:cNvPr id="40" name="Connector 39"/>
          <p:cNvCxnSpPr/>
          <p:nvPr/>
        </p:nvCxnSpPr>
        <p:spPr>
          <a:xfrm>
            <a:off x="6766560" y="1417320"/>
            <a:ext cx="0" cy="1143000"/>
          </a:xfrm>
          <a:prstGeom prst="line">
            <a:avLst/>
          </a:prstGeom>
          <a:ln w="12700">
            <a:solidFill>
              <a:srgbClr val="D9DEE7"/>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949440" y="1371600"/>
            <a:ext cx="1737360" cy="457200"/>
          </a:xfrm>
          <a:prstGeom prst="rect">
            <a:avLst/>
          </a:prstGeom>
          <a:noFill/>
        </p:spPr>
        <p:txBody>
          <a:bodyPr wrap="square" lIns="0" rIns="0" tIns="0" bIns="0" anchor="t">
            <a:spAutoFit/>
          </a:bodyPr>
          <a:lstStyle/>
          <a:p>
            <a:pPr algn="l"/>
            <a:r>
              <a:rPr sz="2400" b="1">
                <a:solidFill>
                  <a:srgbClr val="166257"/>
                </a:solidFill>
                <a:latin typeface="Cambria"/>
              </a:rPr>
              <a:t>5.94%</a:t>
            </a:r>
          </a:p>
        </p:txBody>
      </p:sp>
      <p:sp>
        <p:nvSpPr>
          <p:cNvPr id="42" name="TextBox 41"/>
          <p:cNvSpPr txBox="1"/>
          <p:nvPr/>
        </p:nvSpPr>
        <p:spPr>
          <a:xfrm>
            <a:off x="6949440" y="1828800"/>
            <a:ext cx="1737360" cy="365760"/>
          </a:xfrm>
          <a:prstGeom prst="rect">
            <a:avLst/>
          </a:prstGeom>
          <a:noFill/>
        </p:spPr>
        <p:txBody>
          <a:bodyPr wrap="square" lIns="0" rIns="0" tIns="0" bIns="0" anchor="t">
            <a:spAutoFit/>
          </a:bodyPr>
          <a:lstStyle/>
          <a:p>
            <a:pPr algn="l"/>
            <a:r>
              <a:rPr sz="950" b="0">
                <a:solidFill>
                  <a:srgbClr val="556070"/>
                </a:solidFill>
                <a:latin typeface="Calibri"/>
              </a:rPr>
              <a:t>variable rate, competitive with the big four</a:t>
            </a:r>
          </a:p>
        </p:txBody>
      </p:sp>
      <p:sp>
        <p:nvSpPr>
          <p:cNvPr id="43" name="TextBox 42"/>
          <p:cNvSpPr txBox="1"/>
          <p:nvPr/>
        </p:nvSpPr>
        <p:spPr>
          <a:xfrm>
            <a:off x="6949440" y="2212848"/>
            <a:ext cx="1737360" cy="365760"/>
          </a:xfrm>
          <a:prstGeom prst="rect">
            <a:avLst/>
          </a:prstGeom>
          <a:noFill/>
        </p:spPr>
        <p:txBody>
          <a:bodyPr wrap="square" lIns="0" rIns="0" tIns="0" bIns="0" anchor="t">
            <a:spAutoFit/>
          </a:bodyPr>
          <a:lstStyle/>
          <a:p>
            <a:pPr algn="l"/>
            <a:r>
              <a:rPr sz="950" b="1">
                <a:solidFill>
                  <a:srgbClr val="152B56"/>
                </a:solidFill>
                <a:latin typeface="Calibri"/>
              </a:rPr>
              <a:t>Most trusted sector in banking</a:t>
            </a:r>
          </a:p>
        </p:txBody>
      </p:sp>
      <p:sp>
        <p:nvSpPr>
          <p:cNvPr id="44" name="TextBox 43"/>
          <p:cNvSpPr txBox="1"/>
          <p:nvPr/>
        </p:nvSpPr>
        <p:spPr>
          <a:xfrm>
            <a:off x="457200" y="2788920"/>
            <a:ext cx="4572000" cy="201168"/>
          </a:xfrm>
          <a:prstGeom prst="rect">
            <a:avLst/>
          </a:prstGeom>
          <a:noFill/>
        </p:spPr>
        <p:txBody>
          <a:bodyPr wrap="square" lIns="0" rIns="0" tIns="0" bIns="0" anchor="t">
            <a:spAutoFit/>
          </a:bodyPr>
          <a:lstStyle/>
          <a:p>
            <a:pPr algn="l"/>
            <a:r>
              <a:rPr sz="950" b="1">
                <a:solidFill>
                  <a:srgbClr val="166257"/>
                </a:solidFill>
                <a:latin typeface="Calibri"/>
              </a:rPr>
              <a:t>THREE MOVES PLACE AMB WHERE THE SHORTLIST IS BUILT</a:t>
            </a:r>
          </a:p>
        </p:txBody>
      </p:sp>
      <p:sp>
        <p:nvSpPr>
          <p:cNvPr id="45" name="Pentagon 44"/>
          <p:cNvSpPr/>
          <p:nvPr/>
        </p:nvSpPr>
        <p:spPr>
          <a:xfrm>
            <a:off x="457200" y="3044952"/>
            <a:ext cx="2743200" cy="6583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3044952"/>
            <a:ext cx="2286000" cy="658368"/>
          </a:xfrm>
          <a:prstGeom prst="rect">
            <a:avLst/>
          </a:prstGeom>
          <a:noFill/>
        </p:spPr>
        <p:txBody>
          <a:bodyPr wrap="square" lIns="0" rIns="0" tIns="0" bIns="0" anchor="ctr">
            <a:spAutoFit/>
          </a:bodyPr>
          <a:lstStyle/>
          <a:p>
            <a:pPr algn="l"/>
            <a:r>
              <a:rPr sz="1200" b="1">
                <a:solidFill>
                  <a:srgbClr val="FFFFFF"/>
                </a:solidFill>
                <a:latin typeface="Calibri"/>
              </a:rPr>
              <a:t>Easy to verify online</a:t>
            </a:r>
          </a:p>
        </p:txBody>
      </p:sp>
      <p:sp>
        <p:nvSpPr>
          <p:cNvPr id="47" name="Chevron 46"/>
          <p:cNvSpPr/>
          <p:nvPr/>
        </p:nvSpPr>
        <p:spPr>
          <a:xfrm>
            <a:off x="3200400" y="3044952"/>
            <a:ext cx="2743200" cy="658368"/>
          </a:xfrm>
          <a:prstGeom prst="chevron">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0" y="3044952"/>
            <a:ext cx="2286000" cy="658368"/>
          </a:xfrm>
          <a:prstGeom prst="rect">
            <a:avLst/>
          </a:prstGeom>
          <a:noFill/>
        </p:spPr>
        <p:txBody>
          <a:bodyPr wrap="square" lIns="0" rIns="0" tIns="0" bIns="0" anchor="ctr">
            <a:spAutoFit/>
          </a:bodyPr>
          <a:lstStyle/>
          <a:p>
            <a:pPr algn="l"/>
            <a:r>
              <a:rPr sz="1200" b="1">
                <a:solidFill>
                  <a:srgbClr val="FFFFFF"/>
                </a:solidFill>
                <a:latin typeface="Calibri"/>
              </a:rPr>
              <a:t>In the broker's working set</a:t>
            </a:r>
          </a:p>
        </p:txBody>
      </p:sp>
      <p:sp>
        <p:nvSpPr>
          <p:cNvPr id="49" name="Chevron 48"/>
          <p:cNvSpPr/>
          <p:nvPr/>
        </p:nvSpPr>
        <p:spPr>
          <a:xfrm>
            <a:off x="5943600" y="3044952"/>
            <a:ext cx="2743200" cy="658368"/>
          </a:xfrm>
          <a:prstGeom prst="chevron">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3044952"/>
            <a:ext cx="2286000" cy="658368"/>
          </a:xfrm>
          <a:prstGeom prst="rect">
            <a:avLst/>
          </a:prstGeom>
          <a:noFill/>
        </p:spPr>
        <p:txBody>
          <a:bodyPr wrap="square" lIns="0" rIns="0" tIns="0" bIns="0" anchor="ctr">
            <a:spAutoFit/>
          </a:bodyPr>
          <a:lstStyle/>
          <a:p>
            <a:pPr algn="l"/>
            <a:r>
              <a:rPr sz="1200" b="1">
                <a:solidFill>
                  <a:srgbClr val="FFFFFF"/>
                </a:solidFill>
                <a:latin typeface="Calibri"/>
              </a:rPr>
              <a:t>Check-your-offer link</a:t>
            </a:r>
          </a:p>
        </p:txBody>
      </p:sp>
      <p:sp>
        <p:nvSpPr>
          <p:cNvPr id="51" name="TextBox 50"/>
          <p:cNvSpPr txBox="1"/>
          <p:nvPr/>
        </p:nvSpPr>
        <p:spPr>
          <a:xfrm>
            <a:off x="457200" y="3913632"/>
            <a:ext cx="2743200" cy="201168"/>
          </a:xfrm>
          <a:prstGeom prst="rect">
            <a:avLst/>
          </a:prstGeom>
          <a:noFill/>
        </p:spPr>
        <p:txBody>
          <a:bodyPr wrap="square" lIns="0" rIns="0" tIns="0" bIns="0" anchor="t">
            <a:spAutoFit/>
          </a:bodyPr>
          <a:lstStyle/>
          <a:p>
            <a:pPr algn="l"/>
            <a:r>
              <a:rPr sz="950" b="1">
                <a:solidFill>
                  <a:srgbClr val="166257"/>
                </a:solidFill>
                <a:latin typeface="Calibri"/>
              </a:rPr>
              <a:t>BUDGET AND RETURN</a:t>
            </a:r>
          </a:p>
        </p:txBody>
      </p:sp>
      <p:sp>
        <p:nvSpPr>
          <p:cNvPr id="52" name="TextBox 51"/>
          <p:cNvSpPr txBox="1"/>
          <p:nvPr/>
        </p:nvSpPr>
        <p:spPr>
          <a:xfrm>
            <a:off x="4114800" y="3913632"/>
            <a:ext cx="4572000" cy="201168"/>
          </a:xfrm>
          <a:prstGeom prst="rect">
            <a:avLst/>
          </a:prstGeom>
          <a:noFill/>
        </p:spPr>
        <p:txBody>
          <a:bodyPr wrap="square" lIns="0" rIns="0" tIns="0" bIns="0" anchor="t">
            <a:spAutoFit/>
          </a:bodyPr>
          <a:lstStyle/>
          <a:p>
            <a:pPr algn="r"/>
            <a:r>
              <a:rPr sz="950" b="0">
                <a:solidFill>
                  <a:srgbClr val="556070"/>
                </a:solidFill>
                <a:latin typeface="Calibri"/>
              </a:rPr>
              <a:t>Return of XXX x lifetime margin per funded loan</a:t>
            </a:r>
          </a:p>
        </p:txBody>
      </p:sp>
      <p:sp>
        <p:nvSpPr>
          <p:cNvPr id="53" name="Rectangle 52"/>
          <p:cNvSpPr/>
          <p:nvPr/>
        </p:nvSpPr>
        <p:spPr>
          <a:xfrm>
            <a:off x="457200" y="4160520"/>
            <a:ext cx="1618488" cy="384048"/>
          </a:xfrm>
          <a:prstGeom prst="rect">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160520"/>
            <a:ext cx="1618488" cy="384048"/>
          </a:xfrm>
          <a:prstGeom prst="rect">
            <a:avLst/>
          </a:prstGeom>
          <a:noFill/>
        </p:spPr>
        <p:txBody>
          <a:bodyPr wrap="square" lIns="0" rIns="0" tIns="0" bIns="0" anchor="ctr">
            <a:spAutoFit/>
          </a:bodyPr>
          <a:lstStyle/>
          <a:p>
            <a:pPr algn="ctr"/>
            <a:r>
              <a:rPr sz="1400" b="1">
                <a:solidFill>
                  <a:srgbClr val="FFFFFF"/>
                </a:solidFill>
                <a:latin typeface="Cambria"/>
              </a:rPr>
              <a:t>20%</a:t>
            </a:r>
          </a:p>
        </p:txBody>
      </p:sp>
      <p:sp>
        <p:nvSpPr>
          <p:cNvPr id="55" name="TextBox 54"/>
          <p:cNvSpPr txBox="1"/>
          <p:nvPr/>
        </p:nvSpPr>
        <p:spPr>
          <a:xfrm>
            <a:off x="457200" y="4572000"/>
            <a:ext cx="1618488" cy="182880"/>
          </a:xfrm>
          <a:prstGeom prst="rect">
            <a:avLst/>
          </a:prstGeom>
          <a:noFill/>
        </p:spPr>
        <p:txBody>
          <a:bodyPr wrap="square" lIns="0" rIns="0" tIns="0" bIns="0" anchor="t">
            <a:spAutoFit/>
          </a:bodyPr>
          <a:lstStyle/>
          <a:p>
            <a:pPr algn="ctr"/>
            <a:r>
              <a:rPr sz="900" b="0">
                <a:solidFill>
                  <a:srgbClr val="556070"/>
                </a:solidFill>
                <a:latin typeface="Calibri"/>
              </a:rPr>
              <a:t>Verify</a:t>
            </a:r>
          </a:p>
        </p:txBody>
      </p:sp>
      <p:sp>
        <p:nvSpPr>
          <p:cNvPr id="56" name="Rectangle 55"/>
          <p:cNvSpPr/>
          <p:nvPr/>
        </p:nvSpPr>
        <p:spPr>
          <a:xfrm>
            <a:off x="2103120" y="4160520"/>
            <a:ext cx="4498848" cy="384048"/>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103120" y="4160520"/>
            <a:ext cx="4498848" cy="384048"/>
          </a:xfrm>
          <a:prstGeom prst="rect">
            <a:avLst/>
          </a:prstGeom>
          <a:noFill/>
        </p:spPr>
        <p:txBody>
          <a:bodyPr wrap="square" lIns="0" rIns="0" tIns="0" bIns="0" anchor="ctr">
            <a:spAutoFit/>
          </a:bodyPr>
          <a:lstStyle/>
          <a:p>
            <a:pPr algn="ctr"/>
            <a:r>
              <a:rPr sz="1400" b="1">
                <a:solidFill>
                  <a:srgbClr val="FFFFFF"/>
                </a:solidFill>
                <a:latin typeface="Cambria"/>
              </a:rPr>
              <a:t>55%</a:t>
            </a:r>
          </a:p>
        </p:txBody>
      </p:sp>
      <p:sp>
        <p:nvSpPr>
          <p:cNvPr id="58" name="TextBox 57"/>
          <p:cNvSpPr txBox="1"/>
          <p:nvPr/>
        </p:nvSpPr>
        <p:spPr>
          <a:xfrm>
            <a:off x="2103120" y="4572000"/>
            <a:ext cx="4498848" cy="182880"/>
          </a:xfrm>
          <a:prstGeom prst="rect">
            <a:avLst/>
          </a:prstGeom>
          <a:noFill/>
        </p:spPr>
        <p:txBody>
          <a:bodyPr wrap="square" lIns="0" rIns="0" tIns="0" bIns="0" anchor="t">
            <a:spAutoFit/>
          </a:bodyPr>
          <a:lstStyle/>
          <a:p>
            <a:pPr algn="ctr"/>
            <a:r>
              <a:rPr sz="900" b="0">
                <a:solidFill>
                  <a:srgbClr val="556070"/>
                </a:solidFill>
                <a:latin typeface="Calibri"/>
              </a:rPr>
              <a:t>Broker channel</a:t>
            </a:r>
          </a:p>
        </p:txBody>
      </p:sp>
      <p:sp>
        <p:nvSpPr>
          <p:cNvPr id="59" name="Rectangle 58"/>
          <p:cNvSpPr/>
          <p:nvPr/>
        </p:nvSpPr>
        <p:spPr>
          <a:xfrm>
            <a:off x="6629400" y="4160520"/>
            <a:ext cx="1207008" cy="3840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29400" y="4160520"/>
            <a:ext cx="1207008" cy="384048"/>
          </a:xfrm>
          <a:prstGeom prst="rect">
            <a:avLst/>
          </a:prstGeom>
          <a:noFill/>
        </p:spPr>
        <p:txBody>
          <a:bodyPr wrap="square" lIns="0" rIns="0" tIns="0" bIns="0" anchor="ctr">
            <a:spAutoFit/>
          </a:bodyPr>
          <a:lstStyle/>
          <a:p>
            <a:pPr algn="ctr"/>
            <a:r>
              <a:rPr sz="1400" b="1">
                <a:solidFill>
                  <a:srgbClr val="FFFFFF"/>
                </a:solidFill>
                <a:latin typeface="Cambria"/>
              </a:rPr>
              <a:t>15%</a:t>
            </a:r>
          </a:p>
        </p:txBody>
      </p:sp>
      <p:sp>
        <p:nvSpPr>
          <p:cNvPr id="61" name="TextBox 60"/>
          <p:cNvSpPr txBox="1"/>
          <p:nvPr/>
        </p:nvSpPr>
        <p:spPr>
          <a:xfrm>
            <a:off x="6629400" y="4572000"/>
            <a:ext cx="1207008" cy="182880"/>
          </a:xfrm>
          <a:prstGeom prst="rect">
            <a:avLst/>
          </a:prstGeom>
          <a:noFill/>
        </p:spPr>
        <p:txBody>
          <a:bodyPr wrap="square" lIns="0" rIns="0" tIns="0" bIns="0" anchor="t">
            <a:spAutoFit/>
          </a:bodyPr>
          <a:lstStyle/>
          <a:p>
            <a:pPr algn="ctr"/>
            <a:r>
              <a:rPr sz="900" b="0">
                <a:solidFill>
                  <a:srgbClr val="556070"/>
                </a:solidFill>
                <a:latin typeface="Calibri"/>
              </a:rPr>
              <a:t>Referral</a:t>
            </a:r>
          </a:p>
        </p:txBody>
      </p:sp>
      <p:sp>
        <p:nvSpPr>
          <p:cNvPr id="62" name="Rectangle 61"/>
          <p:cNvSpPr/>
          <p:nvPr/>
        </p:nvSpPr>
        <p:spPr>
          <a:xfrm>
            <a:off x="7863840" y="4160520"/>
            <a:ext cx="795528" cy="384048"/>
          </a:xfrm>
          <a:prstGeom prst="rect">
            <a:avLst/>
          </a:prstGeom>
          <a:solidFill>
            <a:srgbClr val="B8C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63840" y="4160520"/>
            <a:ext cx="795528" cy="384048"/>
          </a:xfrm>
          <a:prstGeom prst="rect">
            <a:avLst/>
          </a:prstGeom>
          <a:noFill/>
        </p:spPr>
        <p:txBody>
          <a:bodyPr wrap="square" lIns="0" rIns="0" tIns="0" bIns="0" anchor="ctr">
            <a:spAutoFit/>
          </a:bodyPr>
          <a:lstStyle/>
          <a:p>
            <a:pPr algn="ctr"/>
            <a:r>
              <a:rPr sz="1400" b="1">
                <a:solidFill>
                  <a:srgbClr val="152B56"/>
                </a:solidFill>
                <a:latin typeface="Cambria"/>
              </a:rPr>
              <a:t>10%</a:t>
            </a:r>
          </a:p>
        </p:txBody>
      </p:sp>
      <p:sp>
        <p:nvSpPr>
          <p:cNvPr id="64" name="TextBox 63"/>
          <p:cNvSpPr txBox="1"/>
          <p:nvPr/>
        </p:nvSpPr>
        <p:spPr>
          <a:xfrm>
            <a:off x="7863840" y="4572000"/>
            <a:ext cx="795528" cy="182880"/>
          </a:xfrm>
          <a:prstGeom prst="rect">
            <a:avLst/>
          </a:prstGeom>
          <a:noFill/>
        </p:spPr>
        <p:txBody>
          <a:bodyPr wrap="square" lIns="0" rIns="0" tIns="0" bIns="0" anchor="t">
            <a:spAutoFit/>
          </a:bodyPr>
          <a:lstStyle/>
          <a:p>
            <a:pPr algn="ctr"/>
            <a:r>
              <a:rPr sz="900" b="0">
                <a:solidFill>
                  <a:srgbClr val="556070"/>
                </a:solidFill>
                <a:latin typeface="Calibri"/>
              </a:rPr>
              <a:t>Test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Open to all Australians since the 2026 merger, AMB has to win members who have no reason to know it exists</a:t>
            </a:r>
            <a:endParaRPr lang="en-US" sz="2000" dirty="0"/>
          </a:p>
        </p:txBody>
      </p:sp>
      <p:sp>
        <p:nvSpPr>
          <p:cNvPr id="5" name="Shape 2"/>
          <p:cNvSpPr/>
          <p:nvPr/>
        </p:nvSpPr>
        <p:spPr>
          <a:xfrm>
            <a:off x="457200" y="1325880"/>
            <a:ext cx="2651760" cy="3200400"/>
          </a:xfrm>
          <a:prstGeom prst="roundRect">
            <a:avLst>
              <a:gd name="adj" fmla="val 2759"/>
            </a:avLst>
          </a:prstGeom>
          <a:solidFill>
            <a:srgbClr val="F1F4F9"/>
          </a:solidFill>
          <a:ln w="12700">
            <a:solidFill>
              <a:srgbClr val="F1F4F9"/>
            </a:solidFill>
            <a:prstDash val="solid"/>
          </a:ln>
        </p:spPr>
      </p:sp>
      <p:sp>
        <p:nvSpPr>
          <p:cNvPr id="6" name="Shape 3"/>
          <p:cNvSpPr/>
          <p:nvPr/>
        </p:nvSpPr>
        <p:spPr>
          <a:xfrm>
            <a:off x="685800" y="1554480"/>
            <a:ext cx="502920" cy="502920"/>
          </a:xfrm>
          <a:prstGeom prst="ellipse">
            <a:avLst/>
          </a:prstGeom>
          <a:solidFill>
            <a:srgbClr val="152B56"/>
          </a:solidFill>
          <a:ln w="12700">
            <a:solidFill>
              <a:srgbClr val="152B56"/>
            </a:solidFill>
            <a:prstDash val="solid"/>
          </a:ln>
        </p:spPr>
      </p:sp>
      <p:pic>
        <p:nvPicPr>
          <p:cNvPr id="7" name="Image 0" descr="preencoded.png">    </p:cNvPr>
          <p:cNvPicPr>
            <a:picLocks noChangeAspect="1"/>
          </p:cNvPicPr>
          <p:nvPr/>
        </p:nvPicPr>
        <p:blipFill>
          <a:blip r:embed="rId1"/>
          <a:stretch>
            <a:fillRect/>
          </a:stretch>
        </p:blipFill>
        <p:spPr>
          <a:xfrm>
            <a:off x="806501" y="1675181"/>
            <a:ext cx="261518" cy="261518"/>
          </a:xfrm>
          <a:prstGeom prst="rect">
            <a:avLst/>
          </a:prstGeom>
        </p:spPr>
      </p:pic>
      <p:sp>
        <p:nvSpPr>
          <p:cNvPr id="8" name="Text 4"/>
          <p:cNvSpPr txBox="1"/>
          <p:nvPr/>
        </p:nvSpPr>
        <p:spPr>
          <a:xfrm>
            <a:off x="68580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client</a:t>
            </a:r>
            <a:endParaRPr lang="en-US" sz="1600" dirty="0"/>
          </a:p>
        </p:txBody>
      </p:sp>
      <p:sp>
        <p:nvSpPr>
          <p:cNvPr id="9" name="Text 5"/>
          <p:cNvSpPr txBox="1"/>
          <p:nvPr/>
        </p:nvSpPr>
        <p:spPr>
          <a:xfrm>
            <a:off x="68580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Australian Mutual Bank, the open-eligibility brand of Teachers Mutual Bank Limited after the merger took effect on 1 May 2026. About 280,000 members across the merged group, concentrated in teaching, health and emergency services.</a:t>
            </a:r>
            <a:endParaRPr lang="en-US" sz="1300" dirty="0"/>
          </a:p>
        </p:txBody>
      </p:sp>
      <p:sp>
        <p:nvSpPr>
          <p:cNvPr id="10" name="Shape 6"/>
          <p:cNvSpPr/>
          <p:nvPr/>
        </p:nvSpPr>
        <p:spPr>
          <a:xfrm>
            <a:off x="3246120" y="1325880"/>
            <a:ext cx="2651760" cy="3200400"/>
          </a:xfrm>
          <a:prstGeom prst="roundRect">
            <a:avLst>
              <a:gd name="adj" fmla="val 2759"/>
            </a:avLst>
          </a:prstGeom>
          <a:solidFill>
            <a:srgbClr val="F1F4F9"/>
          </a:solidFill>
          <a:ln w="12700">
            <a:solidFill>
              <a:srgbClr val="F1F4F9"/>
            </a:solidFill>
            <a:prstDash val="solid"/>
          </a:ln>
        </p:spPr>
      </p:sp>
      <p:sp>
        <p:nvSpPr>
          <p:cNvPr id="11" name="Shape 7"/>
          <p:cNvSpPr/>
          <p:nvPr/>
        </p:nvSpPr>
        <p:spPr>
          <a:xfrm>
            <a:off x="3474720" y="1554480"/>
            <a:ext cx="502920" cy="502920"/>
          </a:xfrm>
          <a:prstGeom prst="ellipse">
            <a:avLst/>
          </a:prstGeom>
          <a:solidFill>
            <a:srgbClr val="152B56"/>
          </a:solidFill>
          <a:ln w="12700">
            <a:solidFill>
              <a:srgbClr val="152B56"/>
            </a:solidFill>
            <a:prstDash val="solid"/>
          </a:ln>
        </p:spPr>
      </p:sp>
      <p:pic>
        <p:nvPicPr>
          <p:cNvPr id="12" name="Image 1" descr="preencoded.png">    </p:cNvPr>
          <p:cNvPicPr>
            <a:picLocks noChangeAspect="1"/>
          </p:cNvPicPr>
          <p:nvPr/>
        </p:nvPicPr>
        <p:blipFill>
          <a:blip r:embed="rId2"/>
          <a:stretch>
            <a:fillRect/>
          </a:stretch>
        </p:blipFill>
        <p:spPr>
          <a:xfrm>
            <a:off x="3595421" y="1675181"/>
            <a:ext cx="261518" cy="261518"/>
          </a:xfrm>
          <a:prstGeom prst="rect">
            <a:avLst/>
          </a:prstGeom>
        </p:spPr>
      </p:pic>
      <p:sp>
        <p:nvSpPr>
          <p:cNvPr id="13" name="Text 8"/>
          <p:cNvSpPr txBox="1"/>
          <p:nvPr/>
        </p:nvSpPr>
        <p:spPr>
          <a:xfrm>
            <a:off x="347472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ask</a:t>
            </a:r>
            <a:endParaRPr lang="en-US" sz="1600" dirty="0"/>
          </a:p>
        </p:txBody>
      </p:sp>
      <p:sp>
        <p:nvSpPr>
          <p:cNvPr id="14" name="Text 9"/>
          <p:cNvSpPr txBox="1"/>
          <p:nvPr/>
        </p:nvSpPr>
        <p:spPr>
          <a:xfrm>
            <a:off x="347472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 digital acquisition strategy for home loans with a $750k budget, including metrics of success and an estimate of return on the investment.</a:t>
            </a:r>
            <a:endParaRPr lang="en-US" sz="1300" dirty="0"/>
          </a:p>
        </p:txBody>
      </p:sp>
      <p:pic>
        <p:nvPicPr>
          <p:cNvPr id="21" name="Picture 20" descr="s3_pg89.jpg"/>
          <p:cNvPicPr>
            <a:picLocks noChangeAspect="1"/>
          </p:cNvPicPr>
          <p:nvPr/>
        </p:nvPicPr>
        <p:blipFill>
          <a:blip r:embed="rId6"/>
          <a:stretch>
            <a:fillRect/>
          </a:stretch>
        </p:blipFill>
        <p:spPr>
          <a:xfrm>
            <a:off x="6035040" y="1325880"/>
            <a:ext cx="2651760" cy="3200400"/>
          </a:xfrm>
          <a:prstGeom prst="rect">
            <a:avLst/>
          </a:prstGeom>
        </p:spPr>
      </p:pic>
      <p:sp>
        <p:nvSpPr>
          <p:cNvPr id="16" name="Shape 11"/>
          <p:cNvSpPr/>
          <p:nvPr/>
        </p:nvSpPr>
        <p:spPr>
          <a:xfrm>
            <a:off x="6263640" y="1554480"/>
            <a:ext cx="502920" cy="502920"/>
          </a:xfrm>
          <a:prstGeom prst="ellipse">
            <a:avLst/>
          </a:prstGeom>
          <a:solidFill>
            <a:srgbClr val="1F8F74"/>
          </a:solidFill>
          <a:ln w="12700">
            <a:solidFill>
              <a:srgbClr val="1F8F74"/>
            </a:solidFill>
            <a:prstDash val="solid"/>
          </a:ln>
        </p:spPr>
      </p:sp>
      <p:pic>
        <p:nvPicPr>
          <p:cNvPr id="17" name="Image 2" descr="preencoded.png">    </p:cNvPr>
          <p:cNvPicPr>
            <a:picLocks noChangeAspect="1"/>
          </p:cNvPicPr>
          <p:nvPr/>
        </p:nvPicPr>
        <p:blipFill>
          <a:blip r:embed="rId3"/>
          <a:stretch>
            <a:fillRect/>
          </a:stretch>
        </p:blipFill>
        <p:spPr>
          <a:xfrm>
            <a:off x="6384341" y="1675181"/>
            <a:ext cx="261518" cy="261518"/>
          </a:xfrm>
          <a:prstGeom prst="rect">
            <a:avLst/>
          </a:prstGeom>
        </p:spPr>
      </p:pic>
      <p:sp>
        <p:nvSpPr>
          <p:cNvPr id="18" name="Text 12"/>
          <p:cNvSpPr txBox="1"/>
          <p:nvPr/>
        </p:nvSpPr>
        <p:spPr>
          <a:xfrm>
            <a:off x="6263640" y="2194560"/>
            <a:ext cx="2240280"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The issue, stated so AMB can act on it</a:t>
            </a:r>
            <a:endParaRPr lang="en-US" sz="1600" dirty="0"/>
          </a:p>
        </p:txBody>
      </p:sp>
      <p:sp>
        <p:nvSpPr>
          <p:cNvPr id="19" name="Text 13"/>
          <p:cNvSpPr txBox="1"/>
          <p:nvPr/>
        </p:nvSpPr>
        <p:spPr>
          <a:xfrm>
            <a:off x="6263640" y="2788920"/>
            <a:ext cx="2240280" cy="1645920"/>
          </a:xfrm>
          <a:prstGeom prst="rect">
            <a:avLst/>
          </a:prstGeom>
          <a:noFill/>
          <a:ln/>
        </p:spPr>
        <p:txBody>
          <a:bodyPr wrap="square" lIns="0" tIns="0" rIns="0" bIns="0" rtlCol="0" anchor="t"/>
          <a:lstStyle/>
          <a:p>
            <a:pPr indent="0" marL="0">
              <a:buNone/>
            </a:pPr>
            <a:r>
              <a:rPr lang="en-US" sz="1300" dirty="0">
                <a:solidFill>
                  <a:srgbClr val="C9D6E8"/>
                </a:solidFill>
                <a:latin typeface="Calibri" pitchFamily="34" charset="0"/>
                <a:ea typeface="Calibri" pitchFamily="34" charset="-122"/>
                <a:cs typeface="Calibri" pitchFamily="34" charset="-120"/>
              </a:rPr>
              <a:t>Borrowers and brokers screen out lenders they do not already trust before comparing rates. AMB has to pass that screen in the two places it happens: the borrower's own search and the broker's shortlist.</a:t>
            </a:r>
            <a:endParaRPr lang="en-US" sz="1300" dirty="0"/>
          </a:p>
        </p:txBody>
      </p:sp>
      <p:sp>
        <p:nvSpPr>
          <p:cNvPr id="20" name="Text 1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658368" y="475488"/>
            <a:ext cx="5257800" cy="914400"/>
          </a:xfrm>
          <a:prstGeom prst="rect">
            <a:avLst/>
          </a:prstGeom>
          <a:noFill/>
          <a:ln/>
        </p:spPr>
        <p:txBody>
          <a:bodyPr wrap="square" lIns="0" tIns="0" rIns="0" bIns="0" rtlCol="0" anchor="t"/>
          <a:lstStyle/>
          <a:p>
            <a:pPr indent="0" marL="0">
              <a:buNone/>
            </a:pPr>
            <a:r>
              <a:rPr lang="en-US" sz="1900" b="1" dirty="0">
                <a:solidFill>
                  <a:srgbClr val="152B56"/>
                </a:solidFill>
                <a:latin typeface="Cambria" pitchFamily="34" charset="0"/>
                <a:ea typeface="Cambria" pitchFamily="34" charset="-122"/>
                <a:cs typeface="Cambria" pitchFamily="34" charset="-120"/>
              </a:rPr>
              <a:t>Three sources of evidence: six journey maps, 17 questionnaire responses and five industry datasets</a:t>
            </a:r>
            <a:endParaRPr lang="en-US" sz="1900" dirty="0"/>
          </a:p>
        </p:txBody>
      </p:sp>
      <p:sp>
        <p:nvSpPr>
          <p:cNvPr id="23" name="Text 17"/>
          <p:cNvSpPr txBox="1"/>
          <p:nvPr/>
        </p:nvSpPr>
        <p:spPr>
          <a:xfrm>
            <a:off x="457200" y="4572000"/>
            <a:ext cx="548640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Method sits in the What is stage of the design thinking process (Liedtka and Ogilvie, 2011). Journey maps completed September 2026; questionnaire fielded 30 September to 1 October 2026.</a:t>
            </a:r>
            <a:endParaRPr lang="en-US" sz="1000" dirty="0"/>
          </a:p>
        </p:txBody>
      </p:sp>
      <p:sp>
        <p:nvSpPr>
          <p:cNvPr id="25" name="Rectangle 24"/>
          <p:cNvSpPr/>
          <p:nvPr/>
        </p:nvSpPr>
        <p:spPr>
          <a:xfrm>
            <a:off x="457200" y="493776"/>
            <a:ext cx="45720" cy="8412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4_pg5.jpg"/>
          <p:cNvPicPr>
            <a:picLocks noChangeAspect="1"/>
          </p:cNvPicPr>
          <p:nvPr/>
        </p:nvPicPr>
        <p:blipFill>
          <a:blip r:embed="rId10"/>
          <a:stretch>
            <a:fillRect/>
          </a:stretch>
        </p:blipFill>
        <p:spPr>
          <a:xfrm>
            <a:off x="6263640" y="411480"/>
            <a:ext cx="2880360" cy="4732020"/>
          </a:xfrm>
          <a:prstGeom prst="rect">
            <a:avLst/>
          </a:prstGeom>
        </p:spPr>
      </p:pic>
      <p:pic>
        <p:nvPicPr>
          <p:cNvPr id="27" name="Picture 26" descr="s4_row0.jpg"/>
          <p:cNvPicPr>
            <a:picLocks noChangeAspect="1"/>
          </p:cNvPicPr>
          <p:nvPr/>
        </p:nvPicPr>
        <p:blipFill>
          <a:blip r:embed="rId11"/>
          <a:stretch>
            <a:fillRect/>
          </a:stretch>
        </p:blipFill>
        <p:spPr>
          <a:xfrm>
            <a:off x="457200" y="1508760"/>
            <a:ext cx="1417320" cy="914400"/>
          </a:xfrm>
          <a:prstGeom prst="rect">
            <a:avLst/>
          </a:prstGeom>
        </p:spPr>
      </p:pic>
      <p:sp>
        <p:nvSpPr>
          <p:cNvPr id="28" name="Rectangle 27"/>
          <p:cNvSpPr/>
          <p:nvPr/>
        </p:nvSpPr>
        <p:spPr>
          <a:xfrm>
            <a:off x="1874519" y="150876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11680" y="1508760"/>
            <a:ext cx="777240" cy="914400"/>
          </a:xfrm>
          <a:prstGeom prst="rect">
            <a:avLst/>
          </a:prstGeom>
          <a:noFill/>
        </p:spPr>
        <p:txBody>
          <a:bodyPr wrap="square" lIns="0" rIns="0" tIns="0" bIns="0" anchor="ctr">
            <a:spAutoFit/>
          </a:bodyPr>
          <a:lstStyle/>
          <a:p>
            <a:pPr algn="ctr"/>
            <a:r>
              <a:rPr sz="3400" b="1">
                <a:solidFill>
                  <a:srgbClr val="152B56"/>
                </a:solidFill>
                <a:latin typeface="Cambria"/>
              </a:rPr>
              <a:t>6</a:t>
            </a:r>
          </a:p>
        </p:txBody>
      </p:sp>
      <p:sp>
        <p:nvSpPr>
          <p:cNvPr id="30" name="TextBox 29"/>
          <p:cNvSpPr txBox="1"/>
          <p:nvPr/>
        </p:nvSpPr>
        <p:spPr>
          <a:xfrm>
            <a:off x="2834640" y="1508760"/>
            <a:ext cx="3063240" cy="914400"/>
          </a:xfrm>
          <a:prstGeom prst="rect">
            <a:avLst/>
          </a:prstGeom>
          <a:noFill/>
        </p:spPr>
        <p:txBody>
          <a:bodyPr wrap="square" lIns="0" rIns="0" tIns="0" bIns="0" anchor="ctr">
            <a:spAutoFit/>
          </a:bodyPr>
          <a:lstStyle/>
          <a:p>
            <a:pPr algn="l"/>
            <a:r>
              <a:rPr sz="1200" b="1">
                <a:solidFill>
                  <a:srgbClr val="166257"/>
                </a:solidFill>
                <a:latin typeface="Calibri"/>
              </a:rPr>
              <a:t>customer journey maps</a:t>
            </a:r>
          </a:p>
          <a:p>
            <a:pPr algn="l">
              <a:spcBef>
                <a:spcPts val="200"/>
              </a:spcBef>
            </a:pPr>
            <a:r>
              <a:rPr sz="950" b="0">
                <a:solidFill>
                  <a:srgbClr val="556070"/>
                </a:solidFill>
                <a:latin typeface="Calibri"/>
              </a:rPr>
              <a:t>One borrower group each. We wrote the map we assumed, did primary research, then rewrote it. Combined primary sample of 42 across the six.</a:t>
            </a:r>
          </a:p>
        </p:txBody>
      </p:sp>
      <p:pic>
        <p:nvPicPr>
          <p:cNvPr id="31" name="Picture 30" descr="s4_row1.jpg"/>
          <p:cNvPicPr>
            <a:picLocks noChangeAspect="1"/>
          </p:cNvPicPr>
          <p:nvPr/>
        </p:nvPicPr>
        <p:blipFill>
          <a:blip r:embed="rId12"/>
          <a:stretch>
            <a:fillRect/>
          </a:stretch>
        </p:blipFill>
        <p:spPr>
          <a:xfrm>
            <a:off x="457200" y="2514600"/>
            <a:ext cx="1417320" cy="914400"/>
          </a:xfrm>
          <a:prstGeom prst="rect">
            <a:avLst/>
          </a:prstGeom>
        </p:spPr>
      </p:pic>
      <p:sp>
        <p:nvSpPr>
          <p:cNvPr id="32" name="Rectangle 31"/>
          <p:cNvSpPr/>
          <p:nvPr/>
        </p:nvSpPr>
        <p:spPr>
          <a:xfrm>
            <a:off x="1874519" y="251460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11680" y="2514600"/>
            <a:ext cx="777240" cy="914400"/>
          </a:xfrm>
          <a:prstGeom prst="rect">
            <a:avLst/>
          </a:prstGeom>
          <a:noFill/>
        </p:spPr>
        <p:txBody>
          <a:bodyPr wrap="square" lIns="0" rIns="0" tIns="0" bIns="0" anchor="ctr">
            <a:spAutoFit/>
          </a:bodyPr>
          <a:lstStyle/>
          <a:p>
            <a:pPr algn="ctr"/>
            <a:r>
              <a:rPr sz="3400" b="1">
                <a:solidFill>
                  <a:srgbClr val="152B56"/>
                </a:solidFill>
                <a:latin typeface="Cambria"/>
              </a:rPr>
              <a:t>17</a:t>
            </a:r>
          </a:p>
        </p:txBody>
      </p:sp>
      <p:sp>
        <p:nvSpPr>
          <p:cNvPr id="34" name="TextBox 33"/>
          <p:cNvSpPr txBox="1"/>
          <p:nvPr/>
        </p:nvSpPr>
        <p:spPr>
          <a:xfrm>
            <a:off x="2834640" y="2514600"/>
            <a:ext cx="3063240" cy="914400"/>
          </a:xfrm>
          <a:prstGeom prst="rect">
            <a:avLst/>
          </a:prstGeom>
          <a:noFill/>
        </p:spPr>
        <p:txBody>
          <a:bodyPr wrap="square" lIns="0" rIns="0" tIns="0" bIns="0" anchor="ctr">
            <a:spAutoFit/>
          </a:bodyPr>
          <a:lstStyle/>
          <a:p>
            <a:pPr algn="l"/>
            <a:r>
              <a:rPr sz="1200" b="1">
                <a:solidFill>
                  <a:srgbClr val="166257"/>
                </a:solidFill>
                <a:latin typeface="Calibri"/>
              </a:rPr>
              <a:t>questionnaire responses</a:t>
            </a:r>
          </a:p>
          <a:p>
            <a:pPr algn="l">
              <a:spcBef>
                <a:spcPts val="200"/>
              </a:spcBef>
            </a:pPr>
            <a:r>
              <a:rPr sz="950" b="0">
                <a:solidFill>
                  <a:srgbClr val="556070"/>
                </a:solidFill>
                <a:latin typeface="Calibri"/>
              </a:rPr>
              <a:t>One shared questionnaire across the two priority groups: 10 DIY borrowers, 4 broker-placed borrowers, plus 3 broker-side interviews (XXX to be added).</a:t>
            </a:r>
          </a:p>
        </p:txBody>
      </p:sp>
      <p:pic>
        <p:nvPicPr>
          <p:cNvPr id="35" name="Picture 34" descr="s4_row2.jpg"/>
          <p:cNvPicPr>
            <a:picLocks noChangeAspect="1"/>
          </p:cNvPicPr>
          <p:nvPr/>
        </p:nvPicPr>
        <p:blipFill>
          <a:blip r:embed="rId13"/>
          <a:stretch>
            <a:fillRect/>
          </a:stretch>
        </p:blipFill>
        <p:spPr>
          <a:xfrm>
            <a:off x="457200" y="3520440"/>
            <a:ext cx="1417320" cy="914400"/>
          </a:xfrm>
          <a:prstGeom prst="rect">
            <a:avLst/>
          </a:prstGeom>
        </p:spPr>
      </p:pic>
      <p:sp>
        <p:nvSpPr>
          <p:cNvPr id="36" name="Rectangle 35"/>
          <p:cNvSpPr/>
          <p:nvPr/>
        </p:nvSpPr>
        <p:spPr>
          <a:xfrm>
            <a:off x="1874519" y="352044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11680" y="3520440"/>
            <a:ext cx="777240" cy="914400"/>
          </a:xfrm>
          <a:prstGeom prst="rect">
            <a:avLst/>
          </a:prstGeom>
          <a:noFill/>
        </p:spPr>
        <p:txBody>
          <a:bodyPr wrap="square" lIns="0" rIns="0" tIns="0" bIns="0" anchor="ctr">
            <a:spAutoFit/>
          </a:bodyPr>
          <a:lstStyle/>
          <a:p>
            <a:pPr algn="ctr"/>
            <a:r>
              <a:rPr sz="3400" b="1">
                <a:solidFill>
                  <a:srgbClr val="152B56"/>
                </a:solidFill>
                <a:latin typeface="Cambria"/>
              </a:rPr>
              <a:t>5</a:t>
            </a:r>
          </a:p>
        </p:txBody>
      </p:sp>
      <p:sp>
        <p:nvSpPr>
          <p:cNvPr id="38" name="TextBox 37"/>
          <p:cNvSpPr txBox="1"/>
          <p:nvPr/>
        </p:nvSpPr>
        <p:spPr>
          <a:xfrm>
            <a:off x="2834640" y="3520440"/>
            <a:ext cx="3063240" cy="914400"/>
          </a:xfrm>
          <a:prstGeom prst="rect">
            <a:avLst/>
          </a:prstGeom>
          <a:noFill/>
        </p:spPr>
        <p:txBody>
          <a:bodyPr wrap="square" lIns="0" rIns="0" tIns="0" bIns="0" anchor="ctr">
            <a:spAutoFit/>
          </a:bodyPr>
          <a:lstStyle/>
          <a:p>
            <a:pPr algn="l"/>
            <a:r>
              <a:rPr sz="1200" b="1">
                <a:solidFill>
                  <a:srgbClr val="166257"/>
                </a:solidFill>
                <a:latin typeface="Calibri"/>
              </a:rPr>
              <a:t>industry datasets</a:t>
            </a:r>
          </a:p>
          <a:p>
            <a:pPr algn="l">
              <a:spcBef>
                <a:spcPts val="200"/>
              </a:spcBef>
            </a:pPr>
            <a:r>
              <a:rPr sz="950" b="0">
                <a:solidFill>
                  <a:srgbClr val="556070"/>
                </a:solidFill>
                <a:latin typeface="Calibri"/>
              </a:rPr>
              <a:t>MFAA broker share, ACCC home loan pricing inquiry, COBA and Roy Morgan trust data, ASIC consumer research.</a:t>
            </a:r>
          </a:p>
        </p:txBody>
      </p:sp>
      <p:sp>
        <p:nvSpPr>
          <p:cNvPr id="24"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Brokers now write 81.6% of new home loans, and mutual banks receive 3.7% of what brokers place</a:t>
            </a:r>
            <a:endParaRPr lang="en-US" sz="2000" dirty="0"/>
          </a:p>
        </p:txBody>
      </p:sp>
      <p:graphicFrame>
        <p:nvGraphicFramePr>
          <p:cNvPr id="5" name="Chart 0" descr=""/>
          <p:cNvGraphicFramePr/>
          <p:nvPr/>
        </p:nvGraphicFramePr>
        <p:xfrm>
          <a:off x="365760" y="1234440"/>
          <a:ext cx="4572000" cy="3246120"/>
        </p:xfrm>
        <a:graphic xmlns:a="http://schemas.openxmlformats.org/drawingml/2006/main">
          <a:graphicData uri="http://schemas.openxmlformats.org/drawingml/2006/chart">
            <c:chart xmlns:c="http://schemas.openxmlformats.org/drawingml/2006/chart" r:id="rId1"/>
          </a:graphicData>
        </a:graphic>
      </p:graphicFrame>
      <p:pic>
        <p:nvPicPr>
          <p:cNvPr id="13" name="Picture 12" descr="s5_pg34.jpg"/>
          <p:cNvPicPr>
            <a:picLocks noChangeAspect="1"/>
          </p:cNvPicPr>
          <p:nvPr/>
        </p:nvPicPr>
        <p:blipFill>
          <a:blip r:embed="rId4"/>
          <a:stretch>
            <a:fillRect/>
          </a:stretch>
        </p:blipFill>
        <p:spPr>
          <a:xfrm>
            <a:off x="5212080" y="1325880"/>
            <a:ext cx="3474720" cy="3108960"/>
          </a:xfrm>
          <a:prstGeom prst="rect">
            <a:avLst/>
          </a:prstGeom>
        </p:spPr>
      </p:pic>
      <p:sp>
        <p:nvSpPr>
          <p:cNvPr id="14" name="Rectangle 13"/>
          <p:cNvSpPr/>
          <p:nvPr/>
        </p:nvSpPr>
        <p:spPr>
          <a:xfrm>
            <a:off x="5440680" y="1874519"/>
            <a:ext cx="3017520" cy="233172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3"/>
          <p:cNvSpPr txBox="1"/>
          <p:nvPr/>
        </p:nvSpPr>
        <p:spPr>
          <a:xfrm>
            <a:off x="5623560" y="1965960"/>
            <a:ext cx="2651760" cy="548640"/>
          </a:xfrm>
          <a:prstGeom prst="rect">
            <a:avLst/>
          </a:prstGeom>
          <a:noFill/>
          <a:ln/>
        </p:spPr>
        <p:txBody>
          <a:bodyPr wrap="square" lIns="0" tIns="0" rIns="0" bIns="0" rtlCol="0" anchor="ctr"/>
          <a:lstStyle/>
          <a:p>
            <a:pPr indent="0" marL="0">
              <a:buNone/>
            </a:pPr>
            <a:r>
              <a:rPr lang="en-US" sz="3840" b="1" dirty="0">
                <a:solidFill>
                  <a:srgbClr val="166257"/>
                </a:solidFill>
                <a:latin typeface="Cambria" pitchFamily="34" charset="0"/>
                <a:ea typeface="Cambria" pitchFamily="34" charset="-122"/>
                <a:cs typeface="Cambria" pitchFamily="34" charset="-120"/>
              </a:rPr>
              <a:t>3.7%</a:t>
            </a:r>
            <a:endParaRPr lang="en-US" sz="3840" dirty="0"/>
          </a:p>
        </p:txBody>
      </p:sp>
      <p:sp>
        <p:nvSpPr>
          <p:cNvPr id="8" name="Text 4"/>
          <p:cNvSpPr txBox="1"/>
          <p:nvPr/>
        </p:nvSpPr>
        <p:spPr>
          <a:xfrm>
            <a:off x="5623560" y="2542032"/>
            <a:ext cx="2651760" cy="640080"/>
          </a:xfrm>
          <a:prstGeom prst="rect">
            <a:avLst/>
          </a:prstGeom>
          <a:noFill/>
          <a:ln/>
        </p:spPr>
        <p:txBody>
          <a:bodyPr wrap="square" lIns="0" tIns="0" rIns="0" bIns="0" rtlCol="0" anchor="t"/>
          <a:lstStyle/>
          <a:p>
            <a:pPr indent="0" marL="0">
              <a:buNone/>
            </a:pPr>
            <a:r>
              <a:rPr lang="en-US" sz="1232" dirty="0">
                <a:solidFill>
                  <a:srgbClr val="1E2633"/>
                </a:solidFill>
                <a:latin typeface="Calibri" pitchFamily="34" charset="0"/>
                <a:ea typeface="Calibri" pitchFamily="34" charset="-122"/>
                <a:cs typeface="Calibri" pitchFamily="34" charset="-120"/>
              </a:rPr>
              <a:t>of broker-originated lending went to mutual banks in 2024, against 39.9% to the major banks</a:t>
            </a:r>
            <a:endParaRPr lang="en-US" sz="1232" dirty="0"/>
          </a:p>
        </p:txBody>
      </p:sp>
      <p:sp>
        <p:nvSpPr>
          <p:cNvPr id="9" name="Shape 5"/>
          <p:cNvSpPr/>
          <p:nvPr/>
        </p:nvSpPr>
        <p:spPr>
          <a:xfrm>
            <a:off x="5623560" y="3246120"/>
            <a:ext cx="2651760" cy="0"/>
          </a:xfrm>
          <a:prstGeom prst="line">
            <a:avLst/>
          </a:prstGeom>
          <a:noFill/>
          <a:ln w="9525">
            <a:solidFill>
              <a:srgbClr val="D9DEE7"/>
            </a:solidFill>
            <a:prstDash val="solid"/>
          </a:ln>
        </p:spPr>
      </p:sp>
      <p:sp>
        <p:nvSpPr>
          <p:cNvPr id="10" name="Text 6"/>
          <p:cNvSpPr txBox="1"/>
          <p:nvPr/>
        </p:nvSpPr>
        <p:spPr>
          <a:xfrm>
            <a:off x="5623560" y="3337560"/>
            <a:ext cx="2651760" cy="868680"/>
          </a:xfrm>
          <a:prstGeom prst="rect">
            <a:avLst/>
          </a:prstGeom>
          <a:noFill/>
          <a:ln/>
        </p:spPr>
        <p:txBody>
          <a:bodyPr wrap="square" lIns="0" tIns="0" rIns="0" bIns="0" rtlCol="0" anchor="t"/>
          <a:lstStyle/>
          <a:p>
            <a:pPr indent="0" marL="0">
              <a:buNone/>
            </a:pPr>
            <a:r>
              <a:rPr lang="en-US" sz="1260" dirty="0">
                <a:solidFill>
                  <a:srgbClr val="1E2633"/>
                </a:solidFill>
                <a:latin typeface="Calibri" pitchFamily="34" charset="0"/>
                <a:ea typeface="Calibri" pitchFamily="34" charset="-122"/>
                <a:cs typeface="Calibri" pitchFamily="34" charset="-120"/>
              </a:rPr>
              <a:t>74% of Australians cannot say what a customer-owned bank is, although the sector has been the most trusted in banking for two years running.</a:t>
            </a:r>
            <a:endParaRPr lang="en-US" sz="1260" dirty="0"/>
          </a:p>
        </p:txBody>
      </p:sp>
      <p:sp>
        <p:nvSpPr>
          <p:cNvPr id="11"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MFAA quarterly market share: Jun 2018 and Jun 2026 (MFAA, Sep 2026), Mar 2026 (MFAA, Jun 2026), Sep 2024 (MFAA, 2024); MFAA Industry Intelligence Service (2024); COBA (2026); COBA (2025), citing Roy Morgan Risk Monitor.</a:t>
            </a:r>
            <a:endParaRPr lang="en-US" sz="1000" dirty="0"/>
          </a:p>
        </p:txBody>
      </p:sp>
      <p:sp>
        <p:nvSpPr>
          <p:cNvPr id="12"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All six journey maps found the same mechanism: the shortlist was built from familiar names before any rate was compared</a:t>
            </a:r>
            <a:endParaRPr lang="en-US" sz="2000" dirty="0"/>
          </a:p>
        </p:txBody>
      </p:sp>
      <p:sp>
        <p:nvSpPr>
          <p:cNvPr id="6" name="Text 2"/>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Six individual customer journey maps, FMBA5007 Assignment 1, September 2026. n is the primary research sample in each report.</a:t>
            </a:r>
            <a:endParaRPr lang="en-US" sz="1000" dirty="0"/>
          </a:p>
        </p:txBody>
      </p:sp>
      <p:sp>
        <p:nvSpPr>
          <p:cNvPr id="7"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6</a:t>
            </a:r>
            <a:endParaRPr lang="en-US" sz="1000" dirty="0"/>
          </a:p>
        </p:txBody>
      </p:sp>
      <p:sp>
        <p:nvSpPr>
          <p:cNvPr id="8" name="TextBox 7"/>
          <p:cNvSpPr txBox="1"/>
          <p:nvPr/>
        </p:nvSpPr>
        <p:spPr>
          <a:xfrm>
            <a:off x="457200" y="1188720"/>
            <a:ext cx="2011680" cy="201168"/>
          </a:xfrm>
          <a:prstGeom prst="rect">
            <a:avLst/>
          </a:prstGeom>
          <a:noFill/>
        </p:spPr>
        <p:txBody>
          <a:bodyPr wrap="square" lIns="0" rIns="0" tIns="0" bIns="0" anchor="t">
            <a:spAutoFit/>
          </a:bodyPr>
          <a:lstStyle/>
          <a:p>
            <a:pPr algn="l"/>
            <a:r>
              <a:rPr sz="950" b="1">
                <a:solidFill>
                  <a:srgbClr val="152B56"/>
                </a:solidFill>
                <a:latin typeface="Calibri"/>
              </a:rPr>
              <a:t>BORROWER GROUP</a:t>
            </a:r>
          </a:p>
        </p:txBody>
      </p:sp>
      <p:sp>
        <p:nvSpPr>
          <p:cNvPr id="9" name="TextBox 8"/>
          <p:cNvSpPr txBox="1"/>
          <p:nvPr/>
        </p:nvSpPr>
        <p:spPr>
          <a:xfrm>
            <a:off x="2743200" y="1188720"/>
            <a:ext cx="3566160" cy="201168"/>
          </a:xfrm>
          <a:prstGeom prst="rect">
            <a:avLst/>
          </a:prstGeom>
          <a:noFill/>
        </p:spPr>
        <p:txBody>
          <a:bodyPr wrap="square" lIns="0" rIns="0" tIns="0" bIns="0" anchor="t">
            <a:spAutoFit/>
          </a:bodyPr>
          <a:lstStyle/>
          <a:p>
            <a:pPr algn="l"/>
            <a:r>
              <a:rPr sz="950" b="1">
                <a:solidFill>
                  <a:srgbClr val="152B56"/>
                </a:solidFill>
                <a:latin typeface="Calibri"/>
              </a:rPr>
              <a:t>WHAT THE RESEARCH FOUND</a:t>
            </a:r>
          </a:p>
        </p:txBody>
      </p:sp>
      <p:sp>
        <p:nvSpPr>
          <p:cNvPr id="10" name="TextBox 9"/>
          <p:cNvSpPr txBox="1"/>
          <p:nvPr/>
        </p:nvSpPr>
        <p:spPr>
          <a:xfrm>
            <a:off x="6400800" y="1188720"/>
            <a:ext cx="2286000" cy="201168"/>
          </a:xfrm>
          <a:prstGeom prst="rect">
            <a:avLst/>
          </a:prstGeom>
          <a:noFill/>
        </p:spPr>
        <p:txBody>
          <a:bodyPr wrap="square" lIns="0" rIns="0" tIns="0" bIns="0" anchor="t">
            <a:spAutoFit/>
          </a:bodyPr>
          <a:lstStyle/>
          <a:p>
            <a:pPr algn="l"/>
            <a:r>
              <a:rPr sz="950" b="1">
                <a:solidFill>
                  <a:srgbClr val="166257"/>
                </a:solidFill>
                <a:latin typeface="Calibri"/>
              </a:rPr>
              <a:t>WHERE AMB IS LOST</a:t>
            </a:r>
          </a:p>
        </p:txBody>
      </p:sp>
      <p:sp>
        <p:nvSpPr>
          <p:cNvPr id="11" name="Rectangle 10"/>
          <p:cNvSpPr/>
          <p:nvPr/>
        </p:nvSpPr>
        <p:spPr>
          <a:xfrm>
            <a:off x="457200" y="1426464"/>
            <a:ext cx="82296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entagon 11"/>
          <p:cNvSpPr/>
          <p:nvPr/>
        </p:nvSpPr>
        <p:spPr>
          <a:xfrm>
            <a:off x="457200" y="1536192"/>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36192"/>
            <a:ext cx="1554480" cy="429768"/>
          </a:xfrm>
          <a:prstGeom prst="rect">
            <a:avLst/>
          </a:prstGeom>
          <a:noFill/>
        </p:spPr>
        <p:txBody>
          <a:bodyPr wrap="square" lIns="0" rIns="0" tIns="0" bIns="0" anchor="ctr">
            <a:spAutoFit/>
          </a:bodyPr>
          <a:lstStyle/>
          <a:p>
            <a:pPr algn="l"/>
            <a:r>
              <a:rPr sz="1100" b="1">
                <a:solidFill>
                  <a:srgbClr val="FFFFFF"/>
                </a:solidFill>
                <a:latin typeface="Calibri"/>
              </a:rPr>
              <a:t>Direct to big four</a:t>
            </a:r>
          </a:p>
        </p:txBody>
      </p:sp>
      <p:sp>
        <p:nvSpPr>
          <p:cNvPr id="14" name="Oval 13"/>
          <p:cNvSpPr/>
          <p:nvPr/>
        </p:nvSpPr>
        <p:spPr>
          <a:xfrm>
            <a:off x="2103120" y="1554480"/>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554480"/>
            <a:ext cx="393192" cy="393192"/>
          </a:xfrm>
          <a:prstGeom prst="rect">
            <a:avLst/>
          </a:prstGeom>
          <a:noFill/>
        </p:spPr>
        <p:txBody>
          <a:bodyPr wrap="square" lIns="0" rIns="0" tIns="0" bIns="0" anchor="ctr">
            <a:spAutoFit/>
          </a:bodyPr>
          <a:lstStyle/>
          <a:p>
            <a:pPr algn="ctr"/>
            <a:r>
              <a:rPr sz="1200" b="1">
                <a:solidFill>
                  <a:srgbClr val="152B56"/>
                </a:solidFill>
                <a:latin typeface="Cambria"/>
              </a:rPr>
              <a:t>6</a:t>
            </a:r>
          </a:p>
        </p:txBody>
      </p:sp>
      <p:sp>
        <p:nvSpPr>
          <p:cNvPr id="16" name="Rounded Rectangle 15"/>
          <p:cNvSpPr/>
          <p:nvPr/>
        </p:nvSpPr>
        <p:spPr>
          <a:xfrm>
            <a:off x="2697480" y="1536192"/>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16352" y="1536192"/>
            <a:ext cx="3401568" cy="429768"/>
          </a:xfrm>
          <a:prstGeom prst="rect">
            <a:avLst/>
          </a:prstGeom>
          <a:noFill/>
        </p:spPr>
        <p:txBody>
          <a:bodyPr wrap="square" lIns="0" rIns="0" tIns="0" bIns="0" anchor="ctr">
            <a:spAutoFit/>
          </a:bodyPr>
          <a:lstStyle/>
          <a:p>
            <a:pPr algn="l"/>
            <a:r>
              <a:rPr sz="950" b="0">
                <a:solidFill>
                  <a:srgbClr val="152B56"/>
                </a:solidFill>
                <a:latin typeface="Calibri"/>
              </a:rPr>
              <a:t>The household decides. "Alternatives" only ever meant another big-four bank.</a:t>
            </a:r>
          </a:p>
        </p:txBody>
      </p:sp>
      <p:sp>
        <p:nvSpPr>
          <p:cNvPr id="18" name="Pentagon 17"/>
          <p:cNvSpPr/>
          <p:nvPr/>
        </p:nvSpPr>
        <p:spPr>
          <a:xfrm>
            <a:off x="6400800" y="1536192"/>
            <a:ext cx="2286000" cy="429768"/>
          </a:xfrm>
          <a:prstGeom prst="homePlate">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536192"/>
            <a:ext cx="1828800" cy="429768"/>
          </a:xfrm>
          <a:prstGeom prst="rect">
            <a:avLst/>
          </a:prstGeom>
          <a:noFill/>
        </p:spPr>
        <p:txBody>
          <a:bodyPr wrap="square" lIns="0" rIns="0" tIns="0" bIns="0" anchor="ctr">
            <a:spAutoFit/>
          </a:bodyPr>
          <a:lstStyle/>
          <a:p>
            <a:pPr algn="l"/>
            <a:r>
              <a:rPr sz="1100" b="1">
                <a:solidFill>
                  <a:srgbClr val="FFFFFF"/>
                </a:solidFill>
                <a:latin typeface="Calibri"/>
              </a:rPr>
              <a:t>Never evaluated</a:t>
            </a:r>
          </a:p>
        </p:txBody>
      </p:sp>
      <p:cxnSp>
        <p:nvCxnSpPr>
          <p:cNvPr id="20" name="Connector 19"/>
          <p:cNvCxnSpPr/>
          <p:nvPr/>
        </p:nvCxnSpPr>
        <p:spPr>
          <a:xfrm>
            <a:off x="2395728" y="1751076"/>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21" name="Pentagon 20"/>
          <p:cNvSpPr/>
          <p:nvPr/>
        </p:nvSpPr>
        <p:spPr>
          <a:xfrm>
            <a:off x="457200" y="2029967"/>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2029967"/>
            <a:ext cx="1554480" cy="429768"/>
          </a:xfrm>
          <a:prstGeom prst="rect">
            <a:avLst/>
          </a:prstGeom>
          <a:noFill/>
        </p:spPr>
        <p:txBody>
          <a:bodyPr wrap="square" lIns="0" rIns="0" tIns="0" bIns="0" anchor="ctr">
            <a:spAutoFit/>
          </a:bodyPr>
          <a:lstStyle/>
          <a:p>
            <a:pPr algn="l"/>
            <a:r>
              <a:rPr sz="1100" b="1">
                <a:solidFill>
                  <a:srgbClr val="FFFFFF"/>
                </a:solidFill>
                <a:latin typeface="Calibri"/>
              </a:rPr>
              <a:t>Broker-placed</a:t>
            </a:r>
          </a:p>
        </p:txBody>
      </p:sp>
      <p:sp>
        <p:nvSpPr>
          <p:cNvPr id="23" name="Oval 22"/>
          <p:cNvSpPr/>
          <p:nvPr/>
        </p:nvSpPr>
        <p:spPr>
          <a:xfrm>
            <a:off x="2103120" y="2048255"/>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03120" y="2048255"/>
            <a:ext cx="393192" cy="393192"/>
          </a:xfrm>
          <a:prstGeom prst="rect">
            <a:avLst/>
          </a:prstGeom>
          <a:noFill/>
        </p:spPr>
        <p:txBody>
          <a:bodyPr wrap="square" lIns="0" rIns="0" tIns="0" bIns="0" anchor="ctr">
            <a:spAutoFit/>
          </a:bodyPr>
          <a:lstStyle/>
          <a:p>
            <a:pPr algn="ctr"/>
            <a:r>
              <a:rPr sz="1200" b="1">
                <a:solidFill>
                  <a:srgbClr val="152B56"/>
                </a:solidFill>
                <a:latin typeface="Cambria"/>
              </a:rPr>
              <a:t>8</a:t>
            </a:r>
          </a:p>
        </p:txBody>
      </p:sp>
      <p:sp>
        <p:nvSpPr>
          <p:cNvPr id="25" name="Rounded Rectangle 24"/>
          <p:cNvSpPr/>
          <p:nvPr/>
        </p:nvSpPr>
        <p:spPr>
          <a:xfrm>
            <a:off x="2697480" y="2029967"/>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16352" y="2029967"/>
            <a:ext cx="3401568" cy="429768"/>
          </a:xfrm>
          <a:prstGeom prst="rect">
            <a:avLst/>
          </a:prstGeom>
          <a:noFill/>
        </p:spPr>
        <p:txBody>
          <a:bodyPr wrap="square" lIns="0" rIns="0" tIns="0" bIns="0" anchor="ctr">
            <a:spAutoFit/>
          </a:bodyPr>
          <a:lstStyle/>
          <a:p>
            <a:pPr algn="l"/>
            <a:r>
              <a:rPr sz="950" b="0">
                <a:solidFill>
                  <a:srgbClr val="152B56"/>
                </a:solidFill>
                <a:latin typeface="Calibri"/>
              </a:rPr>
              <a:t>The market was the two to four lenders the broker presented. No one recalled AMB.</a:t>
            </a:r>
          </a:p>
        </p:txBody>
      </p:sp>
      <p:sp>
        <p:nvSpPr>
          <p:cNvPr id="27" name="Pentagon 26"/>
          <p:cNvSpPr/>
          <p:nvPr/>
        </p:nvSpPr>
        <p:spPr>
          <a:xfrm>
            <a:off x="6400800" y="2029967"/>
            <a:ext cx="2286000" cy="429768"/>
          </a:xfrm>
          <a:prstGeom prst="homePlat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60" y="2029967"/>
            <a:ext cx="1828800" cy="429768"/>
          </a:xfrm>
          <a:prstGeom prst="rect">
            <a:avLst/>
          </a:prstGeom>
          <a:noFill/>
        </p:spPr>
        <p:txBody>
          <a:bodyPr wrap="square" lIns="0" rIns="0" tIns="0" bIns="0" anchor="ctr">
            <a:spAutoFit/>
          </a:bodyPr>
          <a:lstStyle/>
          <a:p>
            <a:pPr algn="l"/>
            <a:r>
              <a:rPr sz="1100" b="1">
                <a:solidFill>
                  <a:srgbClr val="FFFFFF"/>
                </a:solidFill>
                <a:latin typeface="Calibri"/>
              </a:rPr>
              <a:t>Absent from working set</a:t>
            </a:r>
          </a:p>
        </p:txBody>
      </p:sp>
      <p:cxnSp>
        <p:nvCxnSpPr>
          <p:cNvPr id="29" name="Connector 28"/>
          <p:cNvCxnSpPr/>
          <p:nvPr/>
        </p:nvCxnSpPr>
        <p:spPr>
          <a:xfrm>
            <a:off x="2395728" y="2244851"/>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0" name="Pentagon 29"/>
          <p:cNvSpPr/>
          <p:nvPr/>
        </p:nvSpPr>
        <p:spPr>
          <a:xfrm>
            <a:off x="457200" y="2523744"/>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523744"/>
            <a:ext cx="1554480" cy="429768"/>
          </a:xfrm>
          <a:prstGeom prst="rect">
            <a:avLst/>
          </a:prstGeom>
          <a:noFill/>
        </p:spPr>
        <p:txBody>
          <a:bodyPr wrap="square" lIns="0" rIns="0" tIns="0" bIns="0" anchor="ctr">
            <a:spAutoFit/>
          </a:bodyPr>
          <a:lstStyle/>
          <a:p>
            <a:pPr algn="l"/>
            <a:r>
              <a:rPr sz="1100" b="1">
                <a:solidFill>
                  <a:srgbClr val="FFFFFF"/>
                </a:solidFill>
                <a:latin typeface="Calibri"/>
              </a:rPr>
              <a:t>DIY online</a:t>
            </a:r>
          </a:p>
        </p:txBody>
      </p:sp>
      <p:sp>
        <p:nvSpPr>
          <p:cNvPr id="32" name="Oval 31"/>
          <p:cNvSpPr/>
          <p:nvPr/>
        </p:nvSpPr>
        <p:spPr>
          <a:xfrm>
            <a:off x="2103120" y="2542032"/>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2542032"/>
            <a:ext cx="393192" cy="393192"/>
          </a:xfrm>
          <a:prstGeom prst="rect">
            <a:avLst/>
          </a:prstGeom>
          <a:noFill/>
        </p:spPr>
        <p:txBody>
          <a:bodyPr wrap="square" lIns="0" rIns="0" tIns="0" bIns="0" anchor="ctr">
            <a:spAutoFit/>
          </a:bodyPr>
          <a:lstStyle/>
          <a:p>
            <a:pPr algn="ctr"/>
            <a:r>
              <a:rPr sz="1200" b="1">
                <a:solidFill>
                  <a:srgbClr val="152B56"/>
                </a:solidFill>
                <a:latin typeface="Cambria"/>
              </a:rPr>
              <a:t>9</a:t>
            </a:r>
          </a:p>
        </p:txBody>
      </p:sp>
      <p:sp>
        <p:nvSpPr>
          <p:cNvPr id="34" name="Rounded Rectangle 33"/>
          <p:cNvSpPr/>
          <p:nvPr/>
        </p:nvSpPr>
        <p:spPr>
          <a:xfrm>
            <a:off x="2697480" y="2523744"/>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16352" y="2523744"/>
            <a:ext cx="3401568" cy="429768"/>
          </a:xfrm>
          <a:prstGeom prst="rect">
            <a:avLst/>
          </a:prstGeom>
          <a:noFill/>
        </p:spPr>
        <p:txBody>
          <a:bodyPr wrap="square" lIns="0" rIns="0" tIns="0" bIns="0" anchor="ctr">
            <a:spAutoFit/>
          </a:bodyPr>
          <a:lstStyle/>
          <a:p>
            <a:pPr algn="l"/>
            <a:r>
              <a:rPr sz="950" b="0">
                <a:solidFill>
                  <a:srgbClr val="152B56"/>
                </a:solidFill>
                <a:latin typeface="Calibri"/>
              </a:rPr>
              <a:t>Search starts with friends and the bank's app. All seven who chose went to a big four.</a:t>
            </a:r>
          </a:p>
        </p:txBody>
      </p:sp>
      <p:sp>
        <p:nvSpPr>
          <p:cNvPr id="36" name="Pentagon 35"/>
          <p:cNvSpPr/>
          <p:nvPr/>
        </p:nvSpPr>
        <p:spPr>
          <a:xfrm>
            <a:off x="6400800" y="2523744"/>
            <a:ext cx="2286000" cy="429768"/>
          </a:xfrm>
          <a:prstGeom prst="homePlate">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7960" y="2523744"/>
            <a:ext cx="1828800" cy="429768"/>
          </a:xfrm>
          <a:prstGeom prst="rect">
            <a:avLst/>
          </a:prstGeom>
          <a:noFill/>
        </p:spPr>
        <p:txBody>
          <a:bodyPr wrap="square" lIns="0" rIns="0" tIns="0" bIns="0" anchor="ctr">
            <a:spAutoFit/>
          </a:bodyPr>
          <a:lstStyle/>
          <a:p>
            <a:pPr algn="l"/>
            <a:r>
              <a:rPr sz="1100" b="1">
                <a:solidFill>
                  <a:srgbClr val="FFFFFF"/>
                </a:solidFill>
                <a:latin typeface="Calibri"/>
              </a:rPr>
              <a:t>Scrolled past</a:t>
            </a:r>
          </a:p>
        </p:txBody>
      </p:sp>
      <p:cxnSp>
        <p:nvCxnSpPr>
          <p:cNvPr id="38" name="Connector 37"/>
          <p:cNvCxnSpPr/>
          <p:nvPr/>
        </p:nvCxnSpPr>
        <p:spPr>
          <a:xfrm>
            <a:off x="2395728" y="2738627"/>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9" name="Pentagon 38"/>
          <p:cNvSpPr/>
          <p:nvPr/>
        </p:nvSpPr>
        <p:spPr>
          <a:xfrm>
            <a:off x="457200" y="3017520"/>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3017520"/>
            <a:ext cx="1554480" cy="429768"/>
          </a:xfrm>
          <a:prstGeom prst="rect">
            <a:avLst/>
          </a:prstGeom>
          <a:noFill/>
        </p:spPr>
        <p:txBody>
          <a:bodyPr wrap="square" lIns="0" rIns="0" tIns="0" bIns="0" anchor="ctr">
            <a:spAutoFit/>
          </a:bodyPr>
          <a:lstStyle/>
          <a:p>
            <a:pPr algn="l"/>
            <a:r>
              <a:rPr sz="1100" b="1">
                <a:solidFill>
                  <a:srgbClr val="FFFFFF"/>
                </a:solidFill>
                <a:latin typeface="Calibri"/>
              </a:rPr>
              <a:t>Refinancers</a:t>
            </a:r>
          </a:p>
        </p:txBody>
      </p:sp>
      <p:sp>
        <p:nvSpPr>
          <p:cNvPr id="41" name="Oval 40"/>
          <p:cNvSpPr/>
          <p:nvPr/>
        </p:nvSpPr>
        <p:spPr>
          <a:xfrm>
            <a:off x="2103120" y="3035808"/>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03120" y="3035808"/>
            <a:ext cx="393192" cy="393192"/>
          </a:xfrm>
          <a:prstGeom prst="rect">
            <a:avLst/>
          </a:prstGeom>
          <a:noFill/>
        </p:spPr>
        <p:txBody>
          <a:bodyPr wrap="square" lIns="0" rIns="0" tIns="0" bIns="0" anchor="ctr">
            <a:spAutoFit/>
          </a:bodyPr>
          <a:lstStyle/>
          <a:p>
            <a:pPr algn="ctr"/>
            <a:r>
              <a:rPr sz="1200" b="1">
                <a:solidFill>
                  <a:srgbClr val="152B56"/>
                </a:solidFill>
                <a:latin typeface="Cambria"/>
              </a:rPr>
              <a:t>9</a:t>
            </a:r>
          </a:p>
        </p:txBody>
      </p:sp>
      <p:sp>
        <p:nvSpPr>
          <p:cNvPr id="43" name="Rounded Rectangle 42"/>
          <p:cNvSpPr/>
          <p:nvPr/>
        </p:nvSpPr>
        <p:spPr>
          <a:xfrm>
            <a:off x="2697480" y="3017520"/>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816352" y="3017520"/>
            <a:ext cx="3401568" cy="429768"/>
          </a:xfrm>
          <a:prstGeom prst="rect">
            <a:avLst/>
          </a:prstGeom>
          <a:noFill/>
        </p:spPr>
        <p:txBody>
          <a:bodyPr wrap="square" lIns="0" rIns="0" tIns="0" bIns="0" anchor="ctr">
            <a:spAutoFit/>
          </a:bodyPr>
          <a:lstStyle/>
          <a:p>
            <a:pPr algn="l"/>
            <a:r>
              <a:rPr sz="950" b="0">
                <a:solidFill>
                  <a:srgbClr val="152B56"/>
                </a:solidFill>
                <a:latin typeface="Calibri"/>
              </a:rPr>
              <a:t>Ads and comparison sites trigger the search; brand recognition was the top factor.</a:t>
            </a:r>
          </a:p>
        </p:txBody>
      </p:sp>
      <p:sp>
        <p:nvSpPr>
          <p:cNvPr id="45" name="Pentagon 44"/>
          <p:cNvSpPr/>
          <p:nvPr/>
        </p:nvSpPr>
        <p:spPr>
          <a:xfrm>
            <a:off x="6400800" y="3017520"/>
            <a:ext cx="2286000" cy="429768"/>
          </a:xfrm>
          <a:prstGeom prst="homePlat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37960" y="3017520"/>
            <a:ext cx="1828800" cy="429768"/>
          </a:xfrm>
          <a:prstGeom prst="rect">
            <a:avLst/>
          </a:prstGeom>
          <a:noFill/>
        </p:spPr>
        <p:txBody>
          <a:bodyPr wrap="square" lIns="0" rIns="0" tIns="0" bIns="0" anchor="ctr">
            <a:spAutoFit/>
          </a:bodyPr>
          <a:lstStyle/>
          <a:p>
            <a:pPr algn="l"/>
            <a:r>
              <a:rPr sz="1100" b="1">
                <a:solidFill>
                  <a:srgbClr val="FFFFFF"/>
                </a:solidFill>
                <a:latin typeface="Calibri"/>
              </a:rPr>
              <a:t>Not recognised</a:t>
            </a:r>
          </a:p>
        </p:txBody>
      </p:sp>
      <p:cxnSp>
        <p:nvCxnSpPr>
          <p:cNvPr id="47" name="Connector 46"/>
          <p:cNvCxnSpPr/>
          <p:nvPr/>
        </p:nvCxnSpPr>
        <p:spPr>
          <a:xfrm>
            <a:off x="2395728" y="3232403"/>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48" name="Pentagon 47"/>
          <p:cNvSpPr/>
          <p:nvPr/>
        </p:nvSpPr>
        <p:spPr>
          <a:xfrm>
            <a:off x="457200" y="3511296"/>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3511296"/>
            <a:ext cx="1554480" cy="429768"/>
          </a:xfrm>
          <a:prstGeom prst="rect">
            <a:avLst/>
          </a:prstGeom>
          <a:noFill/>
        </p:spPr>
        <p:txBody>
          <a:bodyPr wrap="square" lIns="0" rIns="0" tIns="0" bIns="0" anchor="ctr">
            <a:spAutoFit/>
          </a:bodyPr>
          <a:lstStyle/>
          <a:p>
            <a:pPr algn="l"/>
            <a:r>
              <a:rPr sz="1100" b="1">
                <a:solidFill>
                  <a:srgbClr val="FFFFFF"/>
                </a:solidFill>
                <a:latin typeface="Calibri"/>
              </a:rPr>
              <a:t>Upgraders</a:t>
            </a:r>
          </a:p>
        </p:txBody>
      </p:sp>
      <p:sp>
        <p:nvSpPr>
          <p:cNvPr id="50" name="Oval 49"/>
          <p:cNvSpPr/>
          <p:nvPr/>
        </p:nvSpPr>
        <p:spPr>
          <a:xfrm>
            <a:off x="2103120" y="3529584"/>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103120" y="3529584"/>
            <a:ext cx="393192" cy="393192"/>
          </a:xfrm>
          <a:prstGeom prst="rect">
            <a:avLst/>
          </a:prstGeom>
          <a:noFill/>
        </p:spPr>
        <p:txBody>
          <a:bodyPr wrap="square" lIns="0" rIns="0" tIns="0" bIns="0" anchor="ctr">
            <a:spAutoFit/>
          </a:bodyPr>
          <a:lstStyle/>
          <a:p>
            <a:pPr algn="ctr"/>
            <a:r>
              <a:rPr sz="1200" b="1">
                <a:solidFill>
                  <a:srgbClr val="152B56"/>
                </a:solidFill>
                <a:latin typeface="Cambria"/>
              </a:rPr>
              <a:t>6</a:t>
            </a:r>
          </a:p>
        </p:txBody>
      </p:sp>
      <p:sp>
        <p:nvSpPr>
          <p:cNvPr id="52" name="Rounded Rectangle 51"/>
          <p:cNvSpPr/>
          <p:nvPr/>
        </p:nvSpPr>
        <p:spPr>
          <a:xfrm>
            <a:off x="2697480" y="3511296"/>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816352" y="3511296"/>
            <a:ext cx="3401568" cy="429768"/>
          </a:xfrm>
          <a:prstGeom prst="rect">
            <a:avLst/>
          </a:prstGeom>
          <a:noFill/>
        </p:spPr>
        <p:txBody>
          <a:bodyPr wrap="square" lIns="0" rIns="0" tIns="0" bIns="0" anchor="ctr">
            <a:spAutoFit/>
          </a:bodyPr>
          <a:lstStyle/>
          <a:p>
            <a:pPr algn="l"/>
            <a:r>
              <a:rPr sz="950" b="0">
                <a:solidFill>
                  <a:srgbClr val="152B56"/>
                </a:solidFill>
                <a:latin typeface="Calibri"/>
              </a:rPr>
              <a:t>Comparison sites build awareness, not trust. The old lender calls back with a better rate.</a:t>
            </a:r>
          </a:p>
        </p:txBody>
      </p:sp>
      <p:sp>
        <p:nvSpPr>
          <p:cNvPr id="54" name="Pentagon 53"/>
          <p:cNvSpPr/>
          <p:nvPr/>
        </p:nvSpPr>
        <p:spPr>
          <a:xfrm>
            <a:off x="6400800" y="3511296"/>
            <a:ext cx="2286000" cy="429768"/>
          </a:xfrm>
          <a:prstGeom prst="homePlate">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511296"/>
            <a:ext cx="1828800" cy="429768"/>
          </a:xfrm>
          <a:prstGeom prst="rect">
            <a:avLst/>
          </a:prstGeom>
          <a:noFill/>
        </p:spPr>
        <p:txBody>
          <a:bodyPr wrap="square" lIns="0" rIns="0" tIns="0" bIns="0" anchor="ctr">
            <a:spAutoFit/>
          </a:bodyPr>
          <a:lstStyle/>
          <a:p>
            <a:pPr algn="l"/>
            <a:r>
              <a:rPr sz="1100" b="1">
                <a:solidFill>
                  <a:srgbClr val="FFFFFF"/>
                </a:solidFill>
                <a:latin typeface="Calibri"/>
              </a:rPr>
              <a:t>Outbid at the close</a:t>
            </a:r>
          </a:p>
        </p:txBody>
      </p:sp>
      <p:cxnSp>
        <p:nvCxnSpPr>
          <p:cNvPr id="56" name="Connector 55"/>
          <p:cNvCxnSpPr/>
          <p:nvPr/>
        </p:nvCxnSpPr>
        <p:spPr>
          <a:xfrm>
            <a:off x="2395728" y="3726180"/>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57" name="Pentagon 56"/>
          <p:cNvSpPr/>
          <p:nvPr/>
        </p:nvSpPr>
        <p:spPr>
          <a:xfrm>
            <a:off x="457200" y="4005072"/>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4360" y="4005072"/>
            <a:ext cx="1554480" cy="429768"/>
          </a:xfrm>
          <a:prstGeom prst="rect">
            <a:avLst/>
          </a:prstGeom>
          <a:noFill/>
        </p:spPr>
        <p:txBody>
          <a:bodyPr wrap="square" lIns="0" rIns="0" tIns="0" bIns="0" anchor="ctr">
            <a:spAutoFit/>
          </a:bodyPr>
          <a:lstStyle/>
          <a:p>
            <a:pPr algn="l"/>
            <a:r>
              <a:rPr sz="1100" b="1">
                <a:solidFill>
                  <a:srgbClr val="FFFFFF"/>
                </a:solidFill>
                <a:latin typeface="Calibri"/>
              </a:rPr>
              <a:t>First-home buyers</a:t>
            </a:r>
          </a:p>
        </p:txBody>
      </p:sp>
      <p:sp>
        <p:nvSpPr>
          <p:cNvPr id="59" name="Oval 58"/>
          <p:cNvSpPr/>
          <p:nvPr/>
        </p:nvSpPr>
        <p:spPr>
          <a:xfrm>
            <a:off x="2103120" y="4023359"/>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103120" y="4023359"/>
            <a:ext cx="393192" cy="393192"/>
          </a:xfrm>
          <a:prstGeom prst="rect">
            <a:avLst/>
          </a:prstGeom>
          <a:noFill/>
        </p:spPr>
        <p:txBody>
          <a:bodyPr wrap="square" lIns="0" rIns="0" tIns="0" bIns="0" anchor="ctr">
            <a:spAutoFit/>
          </a:bodyPr>
          <a:lstStyle/>
          <a:p>
            <a:pPr algn="ctr"/>
            <a:r>
              <a:rPr sz="1200" b="1">
                <a:solidFill>
                  <a:srgbClr val="152B56"/>
                </a:solidFill>
                <a:latin typeface="Cambria"/>
              </a:rPr>
              <a:t>4</a:t>
            </a:r>
          </a:p>
        </p:txBody>
      </p:sp>
      <p:sp>
        <p:nvSpPr>
          <p:cNvPr id="61" name="Rounded Rectangle 60"/>
          <p:cNvSpPr/>
          <p:nvPr/>
        </p:nvSpPr>
        <p:spPr>
          <a:xfrm>
            <a:off x="2697480" y="4005072"/>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816352" y="4005072"/>
            <a:ext cx="3401568" cy="429768"/>
          </a:xfrm>
          <a:prstGeom prst="rect">
            <a:avLst/>
          </a:prstGeom>
          <a:noFill/>
        </p:spPr>
        <p:txBody>
          <a:bodyPr wrap="square" lIns="0" rIns="0" tIns="0" bIns="0" anchor="ctr">
            <a:spAutoFit/>
          </a:bodyPr>
          <a:lstStyle/>
          <a:p>
            <a:pPr algn="l"/>
            <a:r>
              <a:rPr sz="950" b="0">
                <a:solidFill>
                  <a:srgbClr val="152B56"/>
                </a:solidFill>
                <a:latin typeface="Calibri"/>
              </a:rPr>
              <a:t>Discovery ran through a broker or a parent. None had heard of AMB.</a:t>
            </a:r>
          </a:p>
        </p:txBody>
      </p:sp>
      <p:sp>
        <p:nvSpPr>
          <p:cNvPr id="63" name="Pentagon 62"/>
          <p:cNvSpPr/>
          <p:nvPr/>
        </p:nvSpPr>
        <p:spPr>
          <a:xfrm>
            <a:off x="6400800" y="4005072"/>
            <a:ext cx="2286000" cy="429768"/>
          </a:xfrm>
          <a:prstGeom prst="homePlat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537960" y="4005072"/>
            <a:ext cx="1828800" cy="429768"/>
          </a:xfrm>
          <a:prstGeom prst="rect">
            <a:avLst/>
          </a:prstGeom>
          <a:noFill/>
        </p:spPr>
        <p:txBody>
          <a:bodyPr wrap="square" lIns="0" rIns="0" tIns="0" bIns="0" anchor="ctr">
            <a:spAutoFit/>
          </a:bodyPr>
          <a:lstStyle/>
          <a:p>
            <a:pPr algn="l"/>
            <a:r>
              <a:rPr sz="1100" b="1">
                <a:solidFill>
                  <a:srgbClr val="FFFFFF"/>
                </a:solidFill>
                <a:latin typeface="Calibri"/>
              </a:rPr>
              <a:t>Never heard of</a:t>
            </a:r>
          </a:p>
        </p:txBody>
      </p:sp>
      <p:cxnSp>
        <p:nvCxnSpPr>
          <p:cNvPr id="65" name="Connector 64"/>
          <p:cNvCxnSpPr/>
          <p:nvPr/>
        </p:nvCxnSpPr>
        <p:spPr>
          <a:xfrm>
            <a:off x="2395728" y="4219956"/>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DIY and broker-placed borrowers are prioritised because they are the only two groups whose shortlist a $750k budget can reach</a:t>
            </a:r>
            <a:endParaRPr lang="en-US" sz="2000" dirty="0"/>
          </a:p>
        </p:txBody>
      </p:sp>
      <p:sp>
        <p:nvSpPr>
          <p:cNvPr id="25" name="Text 19"/>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7</a:t>
            </a:r>
            <a:endParaRPr lang="en-US" sz="1000" dirty="0"/>
          </a:p>
        </p:txBody>
      </p:sp>
      <p:pic>
        <p:nvPicPr>
          <p:cNvPr id="26" name="Picture 25" descr="s7_pg13-000.jpg"/>
          <p:cNvPicPr>
            <a:picLocks noChangeAspect="1"/>
          </p:cNvPicPr>
          <p:nvPr/>
        </p:nvPicPr>
        <p:blipFill>
          <a:blip r:embed="rId6"/>
          <a:stretch>
            <a:fillRect/>
          </a:stretch>
        </p:blipFill>
        <p:spPr>
          <a:xfrm>
            <a:off x="457200" y="1188720"/>
            <a:ext cx="4023360" cy="2743200"/>
          </a:xfrm>
          <a:prstGeom prst="rect">
            <a:avLst/>
          </a:prstGeom>
        </p:spPr>
      </p:pic>
      <p:sp>
        <p:nvSpPr>
          <p:cNvPr id="27" name="Rectangle 26"/>
          <p:cNvSpPr/>
          <p:nvPr/>
        </p:nvSpPr>
        <p:spPr>
          <a:xfrm>
            <a:off x="68580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1</a:t>
            </a:r>
          </a:p>
        </p:txBody>
      </p:sp>
      <p:sp>
        <p:nvSpPr>
          <p:cNvPr id="29" name="TextBox 28"/>
          <p:cNvSpPr txBox="1"/>
          <p:nvPr/>
        </p:nvSpPr>
        <p:spPr>
          <a:xfrm>
            <a:off x="68580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DIY online borrowers</a:t>
            </a:r>
          </a:p>
        </p:txBody>
      </p:sp>
      <p:sp>
        <p:nvSpPr>
          <p:cNvPr id="30" name="TextBox 29"/>
          <p:cNvSpPr txBox="1"/>
          <p:nvPr/>
        </p:nvSpPr>
        <p:spPr>
          <a:xfrm>
            <a:off x="68580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Build their own shortlist in search, comparison sites and AI tools, the channels a digital budget touches directly. Refinancers and upgraders behave the same way once a trigger fires.</a:t>
            </a:r>
          </a:p>
        </p:txBody>
      </p:sp>
      <p:sp>
        <p:nvSpPr>
          <p:cNvPr id="31" name="Rectangle 30"/>
          <p:cNvSpPr/>
          <p:nvPr/>
        </p:nvSpPr>
        <p:spPr>
          <a:xfrm>
            <a:off x="68580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8580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Confirm a better deal is safe before committing</a:t>
            </a:r>
          </a:p>
        </p:txBody>
      </p:sp>
      <p:pic>
        <p:nvPicPr>
          <p:cNvPr id="34" name="Picture 33" descr="s7_pg9-000.jpg"/>
          <p:cNvPicPr>
            <a:picLocks noChangeAspect="1"/>
          </p:cNvPicPr>
          <p:nvPr/>
        </p:nvPicPr>
        <p:blipFill>
          <a:blip r:embed="rId7"/>
          <a:stretch>
            <a:fillRect/>
          </a:stretch>
        </p:blipFill>
        <p:spPr>
          <a:xfrm>
            <a:off x="4663440" y="1188720"/>
            <a:ext cx="4023360" cy="2743200"/>
          </a:xfrm>
          <a:prstGeom prst="rect">
            <a:avLst/>
          </a:prstGeom>
        </p:spPr>
      </p:pic>
      <p:sp>
        <p:nvSpPr>
          <p:cNvPr id="35" name="Rectangle 34"/>
          <p:cNvSpPr/>
          <p:nvPr/>
        </p:nvSpPr>
        <p:spPr>
          <a:xfrm>
            <a:off x="489204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9204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2</a:t>
            </a:r>
          </a:p>
        </p:txBody>
      </p:sp>
      <p:sp>
        <p:nvSpPr>
          <p:cNvPr id="37" name="TextBox 36"/>
          <p:cNvSpPr txBox="1"/>
          <p:nvPr/>
        </p:nvSpPr>
        <p:spPr>
          <a:xfrm>
            <a:off x="489204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Broker-placed borrowers</a:t>
            </a:r>
          </a:p>
        </p:txBody>
      </p:sp>
      <p:sp>
        <p:nvSpPr>
          <p:cNvPr id="38" name="TextBox 37"/>
          <p:cNvSpPr txBox="1"/>
          <p:nvPr/>
        </p:nvSpPr>
        <p:spPr>
          <a:xfrm>
            <a:off x="489204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Four in five loans. The broker builds the shortlist from lenders they know and can place quickly. Brokers do not need to hear of AMB; they need a reason to swap a familiar name for it.</a:t>
            </a:r>
          </a:p>
        </p:txBody>
      </p:sp>
      <p:sp>
        <p:nvSpPr>
          <p:cNvPr id="39" name="Rectangle 38"/>
          <p:cNvSpPr/>
          <p:nvPr/>
        </p:nvSpPr>
        <p:spPr>
          <a:xfrm>
            <a:off x="489204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89204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47488"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Get a loan sorted without becoming an expert</a:t>
            </a:r>
          </a:p>
        </p:txBody>
      </p:sp>
      <p:sp>
        <p:nvSpPr>
          <p:cNvPr id="42" name="Rectangle 41"/>
          <p:cNvSpPr/>
          <p:nvPr/>
        </p:nvSpPr>
        <p:spPr>
          <a:xfrm>
            <a:off x="457200" y="4425696"/>
            <a:ext cx="4572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4517136"/>
            <a:ext cx="7589520" cy="457200"/>
          </a:xfrm>
          <a:prstGeom prst="rect">
            <a:avLst/>
          </a:prstGeom>
          <a:noFill/>
        </p:spPr>
        <p:txBody>
          <a:bodyPr wrap="square" lIns="0" rIns="0" tIns="0" bIns="0" anchor="t">
            <a:spAutoFit/>
          </a:bodyPr>
          <a:lstStyle/>
          <a:p>
            <a:pPr algn="l"/>
            <a:r>
              <a:rPr sz="1050" b="1">
                <a:solidFill>
                  <a:srgbClr val="152B56"/>
                </a:solidFill>
                <a:latin typeface="Calibri"/>
              </a:rPr>
              <a:t>Not prioritised  </a:t>
            </a:r>
            <a:r>
              <a:rPr sz="1050" b="0">
                <a:solidFill>
                  <a:srgbClr val="556070"/>
                </a:solidFill>
                <a:latin typeface="Calibri"/>
              </a:rPr>
              <a:t>Borrowers who go straight to the family's big-four bank have no evaluation step to intercept. First-home, refinance and upgrade are triggers rather than channels: when they fire, the person either searches online or calls a broker, so the two moves above reach them.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Among DIY borrowers a friend's experience moved 10 of 10, while a better rate alone moved only 3 of 10 past their own checks</a:t>
            </a:r>
            <a:endParaRPr lang="en-US" sz="2000" dirty="0"/>
          </a:p>
        </p:txBody>
      </p:sp>
      <p:sp>
        <p:nvSpPr>
          <p:cNvPr id="15" name="Rounded Rectangle 14"/>
          <p:cNvSpPr/>
          <p:nvPr/>
        </p:nvSpPr>
        <p:spPr>
          <a:xfrm>
            <a:off x="457200" y="1234440"/>
            <a:ext cx="5029200" cy="2011680"/>
          </a:xfrm>
          <a:prstGeom prst="roundRect">
            <a:avLst>
              <a:gd name="adj" fmla="val 4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0" descr=""/>
          <p:cNvGraphicFramePr/>
          <p:nvPr/>
        </p:nvGraphicFramePr>
        <p:xfrm>
          <a:off x="502920" y="1280160"/>
          <a:ext cx="4937760" cy="1920240"/>
        </p:xfrm>
        <a:graphic xmlns:a="http://schemas.openxmlformats.org/drawingml/2006/main">
          <a:graphicData uri="http://schemas.openxmlformats.org/drawingml/2006/chart">
            <c:chart xmlns:c="http://schemas.openxmlformats.org/drawingml/2006/chart" r:id="rId1"/>
          </a:graphicData>
        </a:graphic>
      </p:graphicFrame>
      <p:sp>
        <p:nvSpPr>
          <p:cNvPr id="16" name="Rounded Rectangle 15"/>
          <p:cNvSpPr/>
          <p:nvPr/>
        </p:nvSpPr>
        <p:spPr>
          <a:xfrm>
            <a:off x="457200" y="3337560"/>
            <a:ext cx="5029200" cy="1261872"/>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1" descr=""/>
          <p:cNvGraphicFramePr/>
          <p:nvPr/>
        </p:nvGraphicFramePr>
        <p:xfrm>
          <a:off x="502920" y="3383280"/>
          <a:ext cx="4937760" cy="1170432"/>
        </p:xfrm>
        <a:graphic xmlns:a="http://schemas.openxmlformats.org/drawingml/2006/main">
          <a:graphicData uri="http://schemas.openxmlformats.org/drawingml/2006/chart">
            <c:chart xmlns:c="http://schemas.openxmlformats.org/drawingml/2006/chart" r:id="rId2"/>
          </a:graphicData>
        </a:graphic>
      </p:graphicFrame>
      <p:sp>
        <p:nvSpPr>
          <p:cNvPr id="13"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Shared questionnaire, 30 Sep to 1 Oct 2026, DIY instrument, n=10, collected by three team members; comfort factors from 8 responses. Three of ten had no loan in five years (fail Q1 screener) and are kept as prospective borrowers.</a:t>
            </a:r>
            <a:endParaRPr lang="en-US" sz="1000" dirty="0"/>
          </a:p>
        </p:txBody>
      </p:sp>
      <p:sp>
        <p:nvSpPr>
          <p:cNvPr id="14"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8</a:t>
            </a:r>
            <a:endParaRPr lang="en-US" sz="1000" dirty="0"/>
          </a:p>
        </p:txBody>
      </p:sp>
      <p:sp>
        <p:nvSpPr>
          <p:cNvPr id="17" name="Rectangle 16"/>
          <p:cNvSpPr/>
          <p:nvPr/>
        </p:nvSpPr>
        <p:spPr>
          <a:xfrm>
            <a:off x="457200" y="1234440"/>
            <a:ext cx="45720" cy="201168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337560"/>
            <a:ext cx="45720" cy="126187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8_pat.jpg"/>
          <p:cNvPicPr>
            <a:picLocks noChangeAspect="1"/>
          </p:cNvPicPr>
          <p:nvPr/>
        </p:nvPicPr>
        <p:blipFill>
          <a:blip r:embed="rId7"/>
          <a:stretch>
            <a:fillRect/>
          </a:stretch>
        </p:blipFill>
        <p:spPr>
          <a:xfrm>
            <a:off x="5669280" y="1234440"/>
            <a:ext cx="3017520" cy="1417320"/>
          </a:xfrm>
          <a:prstGeom prst="rect">
            <a:avLst/>
          </a:prstGeom>
        </p:spPr>
      </p:pic>
      <p:sp>
        <p:nvSpPr>
          <p:cNvPr id="20" name="Rectangle 19"/>
          <p:cNvSpPr/>
          <p:nvPr/>
        </p:nvSpPr>
        <p:spPr>
          <a:xfrm>
            <a:off x="5669280" y="2651760"/>
            <a:ext cx="3017520" cy="1947672"/>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806440" y="1371600"/>
            <a:ext cx="1371600" cy="1143000"/>
          </a:xfrm>
          <a:prstGeom prst="rect">
            <a:avLst/>
          </a:prstGeom>
          <a:solidFill>
            <a:srgbClr val="FFFFFF">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97880" y="1417320"/>
            <a:ext cx="1188720" cy="502920"/>
          </a:xfrm>
          <a:prstGeom prst="rect">
            <a:avLst/>
          </a:prstGeom>
          <a:noFill/>
        </p:spPr>
        <p:txBody>
          <a:bodyPr wrap="square" lIns="0" rIns="0" tIns="0" bIns="0" anchor="t">
            <a:spAutoFit/>
          </a:bodyPr>
          <a:lstStyle/>
          <a:p>
            <a:pPr algn="l"/>
            <a:r>
              <a:rPr sz="2400" b="1">
                <a:solidFill>
                  <a:srgbClr val="152B56"/>
                </a:solidFill>
                <a:latin typeface="Cambria"/>
              </a:rPr>
              <a:t>10 of 10</a:t>
            </a:r>
          </a:p>
        </p:txBody>
      </p:sp>
      <p:sp>
        <p:nvSpPr>
          <p:cNvPr id="23" name="TextBox 22"/>
          <p:cNvSpPr txBox="1"/>
          <p:nvPr/>
        </p:nvSpPr>
        <p:spPr>
          <a:xfrm>
            <a:off x="5897880" y="1938528"/>
            <a:ext cx="1188720" cy="548640"/>
          </a:xfrm>
          <a:prstGeom prst="rect">
            <a:avLst/>
          </a:prstGeom>
          <a:noFill/>
        </p:spPr>
        <p:txBody>
          <a:bodyPr wrap="square" lIns="0" rIns="0" tIns="0" bIns="0" anchor="t">
            <a:spAutoFit/>
          </a:bodyPr>
          <a:lstStyle/>
          <a:p>
            <a:pPr algn="l"/>
            <a:r>
              <a:rPr sz="950" b="0">
                <a:solidFill>
                  <a:srgbClr val="152B56"/>
                </a:solidFill>
                <a:latin typeface="Calibri"/>
              </a:rPr>
              <a:t>moved by a friend's good experience with AMB</a:t>
            </a:r>
          </a:p>
        </p:txBody>
      </p:sp>
      <p:sp>
        <p:nvSpPr>
          <p:cNvPr id="24" name="Rectangle 23"/>
          <p:cNvSpPr/>
          <p:nvPr/>
        </p:nvSpPr>
        <p:spPr>
          <a:xfrm>
            <a:off x="7269480" y="1371600"/>
            <a:ext cx="1371600" cy="1143000"/>
          </a:xfrm>
          <a:prstGeom prst="rect">
            <a:avLst/>
          </a:prstGeom>
          <a:solidFill>
            <a:srgbClr val="FFFFFF">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60920" y="1417320"/>
            <a:ext cx="1188720" cy="502920"/>
          </a:xfrm>
          <a:prstGeom prst="rect">
            <a:avLst/>
          </a:prstGeom>
          <a:noFill/>
        </p:spPr>
        <p:txBody>
          <a:bodyPr wrap="square" lIns="0" rIns="0" tIns="0" bIns="0" anchor="t">
            <a:spAutoFit/>
          </a:bodyPr>
          <a:lstStyle/>
          <a:p>
            <a:pPr algn="l"/>
            <a:r>
              <a:rPr sz="2400" b="1">
                <a:solidFill>
                  <a:srgbClr val="152B56"/>
                </a:solidFill>
                <a:latin typeface="Cambria"/>
              </a:rPr>
              <a:t>3 of 10</a:t>
            </a:r>
          </a:p>
        </p:txBody>
      </p:sp>
      <p:sp>
        <p:nvSpPr>
          <p:cNvPr id="26" name="TextBox 25"/>
          <p:cNvSpPr txBox="1"/>
          <p:nvPr/>
        </p:nvSpPr>
        <p:spPr>
          <a:xfrm>
            <a:off x="7360920" y="1938528"/>
            <a:ext cx="1188720" cy="548640"/>
          </a:xfrm>
          <a:prstGeom prst="rect">
            <a:avLst/>
          </a:prstGeom>
          <a:noFill/>
        </p:spPr>
        <p:txBody>
          <a:bodyPr wrap="square" lIns="0" rIns="0" tIns="0" bIns="0" anchor="t">
            <a:spAutoFit/>
          </a:bodyPr>
          <a:lstStyle/>
          <a:p>
            <a:pPr algn="l"/>
            <a:r>
              <a:rPr sz="950" b="0">
                <a:solidFill>
                  <a:srgbClr val="152B56"/>
                </a:solidFill>
                <a:latin typeface="Calibri"/>
              </a:rPr>
              <a:t>moved by a better rate alone</a:t>
            </a:r>
          </a:p>
        </p:txBody>
      </p:sp>
      <p:sp>
        <p:nvSpPr>
          <p:cNvPr id="27" name="TextBox 26"/>
          <p:cNvSpPr txBox="1"/>
          <p:nvPr/>
        </p:nvSpPr>
        <p:spPr>
          <a:xfrm>
            <a:off x="5852160" y="2743200"/>
            <a:ext cx="2651760" cy="201168"/>
          </a:xfrm>
          <a:prstGeom prst="rect">
            <a:avLst/>
          </a:prstGeom>
          <a:noFill/>
        </p:spPr>
        <p:txBody>
          <a:bodyPr wrap="square" lIns="0" rIns="0" tIns="0" bIns="0" anchor="t">
            <a:spAutoFit/>
          </a:bodyPr>
          <a:lstStyle/>
          <a:p>
            <a:pPr algn="l"/>
            <a:r>
              <a:rPr sz="900" b="1">
                <a:solidFill>
                  <a:srgbClr val="7FD6BC"/>
                </a:solidFill>
                <a:latin typeface="Calibri"/>
              </a:rPr>
              <a:t>WHAT WOULD MAKE THEM COMFORTABLE</a:t>
            </a:r>
          </a:p>
        </p:txBody>
      </p:sp>
      <p:sp>
        <p:nvSpPr>
          <p:cNvPr id="28" name="TextBox 27"/>
          <p:cNvSpPr txBox="1"/>
          <p:nvPr/>
        </p:nvSpPr>
        <p:spPr>
          <a:xfrm>
            <a:off x="5852160" y="2999232"/>
            <a:ext cx="2286000" cy="256032"/>
          </a:xfrm>
          <a:prstGeom prst="rect">
            <a:avLst/>
          </a:prstGeom>
          <a:noFill/>
        </p:spPr>
        <p:txBody>
          <a:bodyPr wrap="square" lIns="0" rIns="0" tIns="0" bIns="0" anchor="ctr">
            <a:spAutoFit/>
          </a:bodyPr>
          <a:lstStyle/>
          <a:p>
            <a:pPr algn="l"/>
            <a:r>
              <a:rPr sz="1000" b="0">
                <a:solidFill>
                  <a:srgbClr val="FFFFFF"/>
                </a:solidFill>
                <a:latin typeface="Calibri"/>
              </a:rPr>
              <a:t>Real rate, fees, approval time up front</a:t>
            </a:r>
          </a:p>
        </p:txBody>
      </p:sp>
      <p:sp>
        <p:nvSpPr>
          <p:cNvPr id="29" name="TextBox 28"/>
          <p:cNvSpPr txBox="1"/>
          <p:nvPr/>
        </p:nvSpPr>
        <p:spPr>
          <a:xfrm>
            <a:off x="8046720" y="2999232"/>
            <a:ext cx="457200" cy="256032"/>
          </a:xfrm>
          <a:prstGeom prst="rect">
            <a:avLst/>
          </a:prstGeom>
          <a:noFill/>
        </p:spPr>
        <p:txBody>
          <a:bodyPr wrap="square" lIns="0" rIns="0" tIns="0" bIns="0" anchor="ctr">
            <a:spAutoFit/>
          </a:bodyPr>
          <a:lstStyle/>
          <a:p>
            <a:pPr algn="r"/>
            <a:r>
              <a:rPr sz="1050" b="1">
                <a:solidFill>
                  <a:srgbClr val="7FD6BC"/>
                </a:solidFill>
                <a:latin typeface="Calibri"/>
              </a:rPr>
              <a:t>7/8</a:t>
            </a:r>
          </a:p>
        </p:txBody>
      </p:sp>
      <p:cxnSp>
        <p:nvCxnSpPr>
          <p:cNvPr id="30" name="Connector 29"/>
          <p:cNvCxnSpPr/>
          <p:nvPr/>
        </p:nvCxnSpPr>
        <p:spPr>
          <a:xfrm>
            <a:off x="5852160" y="3273551"/>
            <a:ext cx="265176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52160" y="3291839"/>
            <a:ext cx="2286000" cy="256032"/>
          </a:xfrm>
          <a:prstGeom prst="rect">
            <a:avLst/>
          </a:prstGeom>
          <a:noFill/>
        </p:spPr>
        <p:txBody>
          <a:bodyPr wrap="square" lIns="0" rIns="0" tIns="0" bIns="0" anchor="ctr">
            <a:spAutoFit/>
          </a:bodyPr>
          <a:lstStyle/>
          <a:p>
            <a:pPr algn="l"/>
            <a:r>
              <a:rPr sz="1000" b="0">
                <a:solidFill>
                  <a:srgbClr val="FFFFFF"/>
                </a:solidFill>
                <a:latin typeface="Calibri"/>
              </a:rPr>
              <a:t>Someone like them had used it</a:t>
            </a:r>
          </a:p>
        </p:txBody>
      </p:sp>
      <p:sp>
        <p:nvSpPr>
          <p:cNvPr id="32" name="TextBox 31"/>
          <p:cNvSpPr txBox="1"/>
          <p:nvPr/>
        </p:nvSpPr>
        <p:spPr>
          <a:xfrm>
            <a:off x="8046720" y="3291839"/>
            <a:ext cx="457200" cy="256032"/>
          </a:xfrm>
          <a:prstGeom prst="rect">
            <a:avLst/>
          </a:prstGeom>
          <a:noFill/>
        </p:spPr>
        <p:txBody>
          <a:bodyPr wrap="square" lIns="0" rIns="0" tIns="0" bIns="0" anchor="ctr">
            <a:spAutoFit/>
          </a:bodyPr>
          <a:lstStyle/>
          <a:p>
            <a:pPr algn="r"/>
            <a:r>
              <a:rPr sz="1050" b="1">
                <a:solidFill>
                  <a:srgbClr val="7FD6BC"/>
                </a:solidFill>
                <a:latin typeface="Calibri"/>
              </a:rPr>
              <a:t>6/8</a:t>
            </a:r>
          </a:p>
        </p:txBody>
      </p:sp>
      <p:cxnSp>
        <p:nvCxnSpPr>
          <p:cNvPr id="33" name="Connector 32"/>
          <p:cNvCxnSpPr/>
          <p:nvPr/>
        </p:nvCxnSpPr>
        <p:spPr>
          <a:xfrm>
            <a:off x="5852160" y="3566159"/>
            <a:ext cx="265176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852160" y="3584448"/>
            <a:ext cx="2286000" cy="256032"/>
          </a:xfrm>
          <a:prstGeom prst="rect">
            <a:avLst/>
          </a:prstGeom>
          <a:noFill/>
        </p:spPr>
        <p:txBody>
          <a:bodyPr wrap="square" lIns="0" rIns="0" tIns="0" bIns="0" anchor="ctr">
            <a:spAutoFit/>
          </a:bodyPr>
          <a:lstStyle/>
          <a:p>
            <a:pPr algn="l"/>
            <a:r>
              <a:rPr sz="1000" b="0">
                <a:solidFill>
                  <a:srgbClr val="FFFFFF"/>
                </a:solidFill>
                <a:latin typeface="Calibri"/>
              </a:rPr>
              <a:t>Independent reviews or ratings</a:t>
            </a:r>
          </a:p>
        </p:txBody>
      </p:sp>
      <p:sp>
        <p:nvSpPr>
          <p:cNvPr id="35" name="TextBox 34"/>
          <p:cNvSpPr txBox="1"/>
          <p:nvPr/>
        </p:nvSpPr>
        <p:spPr>
          <a:xfrm>
            <a:off x="8046720" y="3584448"/>
            <a:ext cx="457200" cy="256032"/>
          </a:xfrm>
          <a:prstGeom prst="rect">
            <a:avLst/>
          </a:prstGeom>
          <a:noFill/>
        </p:spPr>
        <p:txBody>
          <a:bodyPr wrap="square" lIns="0" rIns="0" tIns="0" bIns="0" anchor="ctr">
            <a:spAutoFit/>
          </a:bodyPr>
          <a:lstStyle/>
          <a:p>
            <a:pPr algn="r"/>
            <a:r>
              <a:rPr sz="1050" b="1">
                <a:solidFill>
                  <a:srgbClr val="7FD6BC"/>
                </a:solidFill>
                <a:latin typeface="Calibri"/>
              </a:rPr>
              <a:t>6/8</a:t>
            </a:r>
          </a:p>
        </p:txBody>
      </p:sp>
      <p:cxnSp>
        <p:nvCxnSpPr>
          <p:cNvPr id="36" name="Connector 35"/>
          <p:cNvCxnSpPr/>
          <p:nvPr/>
        </p:nvCxnSpPr>
        <p:spPr>
          <a:xfrm>
            <a:off x="5852160" y="3858768"/>
            <a:ext cx="265176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852160" y="3877056"/>
            <a:ext cx="2286000" cy="256032"/>
          </a:xfrm>
          <a:prstGeom prst="rect">
            <a:avLst/>
          </a:prstGeom>
          <a:noFill/>
        </p:spPr>
        <p:txBody>
          <a:bodyPr wrap="square" lIns="0" rIns="0" tIns="0" bIns="0" anchor="ctr">
            <a:spAutoFit/>
          </a:bodyPr>
          <a:lstStyle/>
          <a:p>
            <a:pPr algn="l"/>
            <a:r>
              <a:rPr sz="1000" b="0">
                <a:solidFill>
                  <a:srgbClr val="FFFFFF"/>
                </a:solidFill>
                <a:latin typeface="Calibri"/>
              </a:rPr>
              <a:t>A quantified, easy-to-verify advantage</a:t>
            </a:r>
          </a:p>
        </p:txBody>
      </p:sp>
      <p:sp>
        <p:nvSpPr>
          <p:cNvPr id="38" name="TextBox 37"/>
          <p:cNvSpPr txBox="1"/>
          <p:nvPr/>
        </p:nvSpPr>
        <p:spPr>
          <a:xfrm>
            <a:off x="8046720" y="3877056"/>
            <a:ext cx="457200" cy="256032"/>
          </a:xfrm>
          <a:prstGeom prst="rect">
            <a:avLst/>
          </a:prstGeom>
          <a:noFill/>
        </p:spPr>
        <p:txBody>
          <a:bodyPr wrap="square" lIns="0" rIns="0" tIns="0" bIns="0" anchor="ctr">
            <a:spAutoFit/>
          </a:bodyPr>
          <a:lstStyle/>
          <a:p>
            <a:pPr algn="r"/>
            <a:r>
              <a:rPr sz="1050" b="1">
                <a:solidFill>
                  <a:srgbClr val="7FD6BC"/>
                </a:solidFill>
                <a:latin typeface="Calibri"/>
              </a:rPr>
              <a:t>6/8</a:t>
            </a:r>
          </a:p>
        </p:txBody>
      </p:sp>
      <p:sp>
        <p:nvSpPr>
          <p:cNvPr id="39" name="TextBox 38"/>
          <p:cNvSpPr txBox="1"/>
          <p:nvPr/>
        </p:nvSpPr>
        <p:spPr>
          <a:xfrm>
            <a:off x="5852160" y="4187952"/>
            <a:ext cx="2651760" cy="365760"/>
          </a:xfrm>
          <a:prstGeom prst="rect">
            <a:avLst/>
          </a:prstGeom>
          <a:noFill/>
        </p:spPr>
        <p:txBody>
          <a:bodyPr wrap="square" lIns="0" rIns="0" tIns="0" bIns="0" anchor="t">
            <a:spAutoFit/>
          </a:bodyPr>
          <a:lstStyle/>
          <a:p>
            <a:pPr algn="l"/>
            <a:r>
              <a:rPr sz="850" b="0">
                <a:solidFill>
                  <a:srgbClr val="AFC0DA"/>
                </a:solidFill>
                <a:latin typeface="Calibri"/>
              </a:rPr>
              <a:t>Customer-owned label: appealed to the 3 who had never borrowed; moved 2 of the 7 who had.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3" name="Picture 22" descr="s9_bg.jpg"/>
          <p:cNvPicPr>
            <a:picLocks noChangeAspect="1"/>
          </p:cNvPicPr>
          <p:nvPr/>
        </p:nvPicPr>
        <p:blipFill>
          <a:blip r:embed="rId5"/>
          <a:stretch>
            <a:fillRect/>
          </a:stretch>
        </p:blipFill>
        <p:spPr>
          <a:xfrm>
            <a:off x="0" y="0"/>
            <a:ext cx="9144000" cy="5143500"/>
          </a:xfrm>
          <a:prstGeom prst="rect">
            <a:avLst/>
          </a:prstGeom>
        </p:spPr>
      </p:pic>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Broker-placed borrowers still verify a recommended lender themselves, and most read a rate-match guarantee as a warning sign</a:t>
            </a:r>
            <a:endParaRPr lang="en-US" sz="2000" dirty="0"/>
          </a:p>
        </p:txBody>
      </p:sp>
      <p:sp>
        <p:nvSpPr>
          <p:cNvPr id="24" name="Rounded Rectangle 23"/>
          <p:cNvSpPr/>
          <p:nvPr/>
        </p:nvSpPr>
        <p:spPr>
          <a:xfrm>
            <a:off x="457200"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69848"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453895"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37943"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2011680"/>
            <a:ext cx="1600200" cy="502920"/>
          </a:xfrm>
          <a:prstGeom prst="rect">
            <a:avLst/>
          </a:prstGeom>
          <a:noFill/>
        </p:spPr>
        <p:txBody>
          <a:bodyPr wrap="square" lIns="0" rIns="0" tIns="0" bIns="0" anchor="t">
            <a:spAutoFit/>
          </a:bodyPr>
          <a:lstStyle/>
          <a:p>
            <a:pPr algn="l"/>
            <a:r>
              <a:rPr sz="3000" b="1">
                <a:solidFill>
                  <a:srgbClr val="166257"/>
                </a:solidFill>
                <a:latin typeface="Cambria"/>
              </a:rPr>
              <a:t>3 of 4</a:t>
            </a:r>
          </a:p>
        </p:txBody>
      </p:sp>
      <p:sp>
        <p:nvSpPr>
          <p:cNvPr id="31" name="TextBox 30"/>
          <p:cNvSpPr txBox="1"/>
          <p:nvPr/>
        </p:nvSpPr>
        <p:spPr>
          <a:xfrm>
            <a:off x="685800"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would check AMB themselves after a broker recommended it</a:t>
            </a:r>
          </a:p>
        </p:txBody>
      </p:sp>
      <p:sp>
        <p:nvSpPr>
          <p:cNvPr id="32" name="Rounded Rectangle 31"/>
          <p:cNvSpPr/>
          <p:nvPr/>
        </p:nvSpPr>
        <p:spPr>
          <a:xfrm>
            <a:off x="2560320"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560320"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88920"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172968"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557015"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941063"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88920" y="2011680"/>
            <a:ext cx="1600200" cy="502920"/>
          </a:xfrm>
          <a:prstGeom prst="rect">
            <a:avLst/>
          </a:prstGeom>
          <a:noFill/>
        </p:spPr>
        <p:txBody>
          <a:bodyPr wrap="square" lIns="0" rIns="0" tIns="0" bIns="0" anchor="t">
            <a:spAutoFit/>
          </a:bodyPr>
          <a:lstStyle/>
          <a:p>
            <a:pPr algn="l"/>
            <a:r>
              <a:rPr sz="3000" b="1">
                <a:solidFill>
                  <a:srgbClr val="152B56"/>
                </a:solidFill>
                <a:latin typeface="Cambria"/>
              </a:rPr>
              <a:t>3 of 4</a:t>
            </a:r>
          </a:p>
        </p:txBody>
      </p:sp>
      <p:sp>
        <p:nvSpPr>
          <p:cNvPr id="39" name="TextBox 38"/>
          <p:cNvSpPr txBox="1"/>
          <p:nvPr/>
        </p:nvSpPr>
        <p:spPr>
          <a:xfrm>
            <a:off x="2788920"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read a written rate-match guarantee as suspicious</a:t>
            </a:r>
          </a:p>
        </p:txBody>
      </p:sp>
      <p:sp>
        <p:nvSpPr>
          <p:cNvPr id="40" name="Rounded Rectangle 39"/>
          <p:cNvSpPr/>
          <p:nvPr/>
        </p:nvSpPr>
        <p:spPr>
          <a:xfrm>
            <a:off x="4663440"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3440"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892040"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276088"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660136"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044183"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892040" y="2011680"/>
            <a:ext cx="1600200" cy="502920"/>
          </a:xfrm>
          <a:prstGeom prst="rect">
            <a:avLst/>
          </a:prstGeom>
          <a:noFill/>
        </p:spPr>
        <p:txBody>
          <a:bodyPr wrap="square" lIns="0" rIns="0" tIns="0" bIns="0" anchor="t">
            <a:spAutoFit/>
          </a:bodyPr>
          <a:lstStyle/>
          <a:p>
            <a:pPr algn="l"/>
            <a:r>
              <a:rPr sz="3000" b="1">
                <a:solidFill>
                  <a:srgbClr val="152B56"/>
                </a:solidFill>
                <a:latin typeface="Cambria"/>
              </a:rPr>
              <a:t>1 of 4</a:t>
            </a:r>
          </a:p>
        </p:txBody>
      </p:sp>
      <p:sp>
        <p:nvSpPr>
          <p:cNvPr id="47" name="TextBox 46"/>
          <p:cNvSpPr txBox="1"/>
          <p:nvPr/>
        </p:nvSpPr>
        <p:spPr>
          <a:xfrm>
            <a:off x="4892040"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had heard of AMB; none were swayed by customer-owned</a:t>
            </a:r>
          </a:p>
        </p:txBody>
      </p:sp>
      <p:sp>
        <p:nvSpPr>
          <p:cNvPr id="48" name="Rounded Rectangle 47"/>
          <p:cNvSpPr/>
          <p:nvPr/>
        </p:nvSpPr>
        <p:spPr>
          <a:xfrm>
            <a:off x="6766559"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766559"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995159"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995159"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2" name="Oval 51"/>
          <p:cNvSpPr/>
          <p:nvPr/>
        </p:nvSpPr>
        <p:spPr>
          <a:xfrm>
            <a:off x="7379208"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79208"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4" name="Oval 53"/>
          <p:cNvSpPr/>
          <p:nvPr/>
        </p:nvSpPr>
        <p:spPr>
          <a:xfrm>
            <a:off x="7763256"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63256"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6" name="Oval 55"/>
          <p:cNvSpPr/>
          <p:nvPr/>
        </p:nvSpPr>
        <p:spPr>
          <a:xfrm>
            <a:off x="8147304"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47304"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8" name="TextBox 57"/>
          <p:cNvSpPr txBox="1"/>
          <p:nvPr/>
        </p:nvSpPr>
        <p:spPr>
          <a:xfrm>
            <a:off x="6995159" y="2011680"/>
            <a:ext cx="1600200" cy="502920"/>
          </a:xfrm>
          <a:prstGeom prst="rect">
            <a:avLst/>
          </a:prstGeom>
          <a:noFill/>
        </p:spPr>
        <p:txBody>
          <a:bodyPr wrap="square" lIns="0" rIns="0" tIns="0" bIns="0" anchor="t">
            <a:spAutoFit/>
          </a:bodyPr>
          <a:lstStyle/>
          <a:p>
            <a:pPr algn="l"/>
            <a:r>
              <a:rPr sz="3000" b="1">
                <a:solidFill>
                  <a:srgbClr val="152B56"/>
                </a:solidFill>
                <a:latin typeface="Cambria"/>
              </a:rPr>
              <a:t>XXX of 4</a:t>
            </a:r>
          </a:p>
        </p:txBody>
      </p:sp>
      <p:sp>
        <p:nvSpPr>
          <p:cNvPr id="59" name="TextBox 58"/>
          <p:cNvSpPr txBox="1"/>
          <p:nvPr/>
        </p:nvSpPr>
        <p:spPr>
          <a:xfrm>
            <a:off x="6995159"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say a friend's good AMB experience would make them consider it</a:t>
            </a:r>
          </a:p>
        </p:txBody>
      </p:sp>
      <p:sp>
        <p:nvSpPr>
          <p:cNvPr id="60" name="Rectangle 59"/>
          <p:cNvSpPr/>
          <p:nvPr/>
        </p:nvSpPr>
        <p:spPr>
          <a:xfrm>
            <a:off x="0" y="3611880"/>
            <a:ext cx="9144000" cy="153162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3566160"/>
            <a:ext cx="731520" cy="914400"/>
          </a:xfrm>
          <a:prstGeom prst="rect">
            <a:avLst/>
          </a:prstGeom>
          <a:noFill/>
        </p:spPr>
        <p:txBody>
          <a:bodyPr wrap="square" lIns="0" rIns="0" tIns="0" bIns="0" anchor="t">
            <a:spAutoFit/>
          </a:bodyPr>
          <a:lstStyle/>
          <a:p>
            <a:pPr algn="l"/>
            <a:r>
              <a:rPr sz="7200" b="1">
                <a:solidFill>
                  <a:srgbClr val="7FD6BC"/>
                </a:solidFill>
                <a:latin typeface="Cambria"/>
              </a:rPr>
              <a:t>“</a:t>
            </a:r>
          </a:p>
        </p:txBody>
      </p:sp>
      <p:sp>
        <p:nvSpPr>
          <p:cNvPr id="62" name="TextBox 61"/>
          <p:cNvSpPr txBox="1"/>
          <p:nvPr/>
        </p:nvSpPr>
        <p:spPr>
          <a:xfrm>
            <a:off x="1143000" y="3767328"/>
            <a:ext cx="5486400" cy="640080"/>
          </a:xfrm>
          <a:prstGeom prst="rect">
            <a:avLst/>
          </a:prstGeom>
          <a:noFill/>
        </p:spPr>
        <p:txBody>
          <a:bodyPr wrap="square" lIns="0" rIns="0" tIns="0" bIns="0" anchor="t">
            <a:spAutoFit/>
          </a:bodyPr>
          <a:lstStyle/>
          <a:p>
            <a:pPr algn="l"/>
            <a:r>
              <a:rPr sz="1500" b="0">
                <a:solidFill>
                  <a:srgbClr val="FFFFFF"/>
                </a:solidFill>
                <a:latin typeface="Cambria"/>
              </a:rPr>
              <a:t>She trusts her broker completely, and in three years he has never put a mutual bank in front of her.</a:t>
            </a:r>
          </a:p>
        </p:txBody>
      </p:sp>
      <p:sp>
        <p:nvSpPr>
          <p:cNvPr id="63" name="TextBox 62"/>
          <p:cNvSpPr txBox="1"/>
          <p:nvPr/>
        </p:nvSpPr>
        <p:spPr>
          <a:xfrm>
            <a:off x="1143000" y="4434840"/>
            <a:ext cx="5486400" cy="365760"/>
          </a:xfrm>
          <a:prstGeom prst="rect">
            <a:avLst/>
          </a:prstGeom>
          <a:noFill/>
        </p:spPr>
        <p:txBody>
          <a:bodyPr wrap="square" lIns="0" rIns="0" tIns="0" bIns="0" anchor="t">
            <a:spAutoFit/>
          </a:bodyPr>
          <a:lstStyle/>
          <a:p>
            <a:pPr algn="l"/>
            <a:r>
              <a:rPr sz="950" b="0">
                <a:solidFill>
                  <a:srgbClr val="AFC0DA"/>
                </a:solidFill>
                <a:latin typeface="Calibri"/>
              </a:rPr>
              <a:t>Broker-placed respondent. Comfort for the rest came from APRA regulation and an explanation of why the loan suits them.</a:t>
            </a:r>
          </a:p>
        </p:txBody>
      </p:sp>
      <p:pic>
        <p:nvPicPr>
          <p:cNvPr id="64" name="Picture 63" descr="amb_logo_white_transparent.png"/>
          <p:cNvPicPr>
            <a:picLocks noChangeAspect="1"/>
          </p:cNvPicPr>
          <p:nvPr/>
        </p:nvPicPr>
        <p:blipFill>
          <a:blip r:embed="rId6"/>
          <a:stretch>
            <a:fillRect/>
          </a:stretch>
        </p:blipFill>
        <p:spPr>
          <a:xfrm>
            <a:off x="6949440" y="3749039"/>
            <a:ext cx="1097280" cy="832104"/>
          </a:xfrm>
          <a:prstGeom prst="rect">
            <a:avLst/>
          </a:prstGeom>
        </p:spPr>
      </p:pic>
      <p:sp>
        <p:nvSpPr>
          <p:cNvPr id="21" name="Text 17"/>
          <p:cNvSpPr txBox="1"/>
          <p:nvPr/>
        </p:nvSpPr>
        <p:spPr>
          <a:xfrm>
            <a:off x="1143000" y="4828032"/>
            <a:ext cx="5760720" cy="274320"/>
          </a:xfrm>
          <a:prstGeom prst="rect">
            <a:avLst/>
          </a:prstGeom>
          <a:noFill/>
          <a:ln/>
        </p:spPr>
        <p:txBody>
          <a:bodyPr wrap="square" lIns="0" tIns="0" rIns="0" bIns="0" rtlCol="0" anchor="t"/>
          <a:lstStyle/>
          <a:p>
            <a:pPr indent="0" marL="0">
              <a:buNone/>
            </a:pPr>
            <a:r>
              <a:rPr lang="en-US" sz="800" dirty="0">
                <a:solidFill>
                  <a:srgbClr val="AFC0DA"/>
                </a:solidFill>
                <a:latin typeface="Calibri" pitchFamily="34" charset="0"/>
                <a:ea typeface="Calibri" pitchFamily="34" charset="-122"/>
                <a:cs typeface="Calibri" pitchFamily="34" charset="-120"/>
              </a:rPr>
              <a:t>Shared questionnaire, October 2026, broker instrument, n=4, collected by two team members. Three broker-side interviews to be added (XXX), combined n=7.</a:t>
            </a:r>
            <a:endParaRPr lang="en-US" sz="800" dirty="0"/>
          </a:p>
        </p:txBody>
      </p:sp>
      <p:sp>
        <p:nvSpPr>
          <p:cNvPr id="22"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The pattern matches three established findings on how people choose: consideration sets, status quo bias and social proof</a:t>
            </a:r>
            <a:endParaRPr lang="en-US" sz="2000" dirty="0"/>
          </a:p>
        </p:txBody>
      </p:sp>
      <p:sp>
        <p:nvSpPr>
          <p:cNvPr id="32" name="Oval 31"/>
          <p:cNvSpPr/>
          <p:nvPr/>
        </p:nvSpPr>
        <p:spPr>
          <a:xfrm>
            <a:off x="1645920" y="1280160"/>
            <a:ext cx="1828800" cy="1828800"/>
          </a:xfrm>
          <a:prstGeom prst="ellipse">
            <a:avLst/>
          </a:prstGeom>
          <a:solidFill>
            <a:srgbClr val="152B56">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5800" y="2240280"/>
            <a:ext cx="1828800" cy="1828800"/>
          </a:xfrm>
          <a:prstGeom prst="ellipse">
            <a:avLst/>
          </a:prstGeom>
          <a:solidFill>
            <a:srgbClr val="2A6F97">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606040" y="2240280"/>
            <a:ext cx="1828800" cy="1828800"/>
          </a:xfrm>
          <a:prstGeom prst="ellipse">
            <a:avLst/>
          </a:prstGeom>
          <a:solidFill>
            <a:srgbClr val="1F8F7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20240" y="1554480"/>
            <a:ext cx="1280160" cy="457200"/>
          </a:xfrm>
          <a:prstGeom prst="rect">
            <a:avLst/>
          </a:prstGeom>
          <a:noFill/>
        </p:spPr>
        <p:txBody>
          <a:bodyPr wrap="square" lIns="0" rIns="0" tIns="0" bIns="0" anchor="t">
            <a:spAutoFit/>
          </a:bodyPr>
          <a:lstStyle/>
          <a:p>
            <a:pPr algn="ctr"/>
            <a:r>
              <a:rPr sz="1100" b="1">
                <a:solidFill>
                  <a:srgbClr val="FFFFFF"/>
                </a:solidFill>
                <a:latin typeface="Calibri"/>
              </a:rPr>
              <a:t>Consideration</a:t>
            </a:r>
          </a:p>
          <a:p>
            <a:pPr algn="ctr"/>
            <a:r>
              <a:rPr sz="1100" b="1">
                <a:solidFill>
                  <a:srgbClr val="FFFFFF"/>
                </a:solidFill>
                <a:latin typeface="Calibri"/>
              </a:rPr>
              <a:t>set</a:t>
            </a:r>
          </a:p>
        </p:txBody>
      </p:sp>
      <p:sp>
        <p:nvSpPr>
          <p:cNvPr id="36" name="TextBox 35"/>
          <p:cNvSpPr txBox="1"/>
          <p:nvPr/>
        </p:nvSpPr>
        <p:spPr>
          <a:xfrm>
            <a:off x="777240" y="3246120"/>
            <a:ext cx="1188720" cy="457200"/>
          </a:xfrm>
          <a:prstGeom prst="rect">
            <a:avLst/>
          </a:prstGeom>
          <a:noFill/>
        </p:spPr>
        <p:txBody>
          <a:bodyPr wrap="square" lIns="0" rIns="0" tIns="0" bIns="0" anchor="t">
            <a:spAutoFit/>
          </a:bodyPr>
          <a:lstStyle/>
          <a:p>
            <a:pPr algn="ctr"/>
            <a:r>
              <a:rPr sz="1100" b="1">
                <a:solidFill>
                  <a:srgbClr val="FFFFFF"/>
                </a:solidFill>
                <a:latin typeface="Calibri"/>
              </a:rPr>
              <a:t>Status quo</a:t>
            </a:r>
          </a:p>
          <a:p>
            <a:pPr algn="ctr"/>
            <a:r>
              <a:rPr sz="1100" b="1">
                <a:solidFill>
                  <a:srgbClr val="FFFFFF"/>
                </a:solidFill>
                <a:latin typeface="Calibri"/>
              </a:rPr>
              <a:t>bias</a:t>
            </a:r>
          </a:p>
        </p:txBody>
      </p:sp>
      <p:sp>
        <p:nvSpPr>
          <p:cNvPr id="37" name="TextBox 36"/>
          <p:cNvSpPr txBox="1"/>
          <p:nvPr/>
        </p:nvSpPr>
        <p:spPr>
          <a:xfrm>
            <a:off x="3200400" y="3246120"/>
            <a:ext cx="1188720" cy="457200"/>
          </a:xfrm>
          <a:prstGeom prst="rect">
            <a:avLst/>
          </a:prstGeom>
          <a:noFill/>
        </p:spPr>
        <p:txBody>
          <a:bodyPr wrap="square" lIns="0" rIns="0" tIns="0" bIns="0" anchor="t">
            <a:spAutoFit/>
          </a:bodyPr>
          <a:lstStyle/>
          <a:p>
            <a:pPr algn="ctr"/>
            <a:r>
              <a:rPr sz="1100" b="1">
                <a:solidFill>
                  <a:srgbClr val="FFFFFF"/>
                </a:solidFill>
                <a:latin typeface="Calibri"/>
              </a:rPr>
              <a:t>Social</a:t>
            </a:r>
          </a:p>
          <a:p>
            <a:pPr algn="ctr"/>
            <a:r>
              <a:rPr sz="1100" b="1">
                <a:solidFill>
                  <a:srgbClr val="FFFFFF"/>
                </a:solidFill>
                <a:latin typeface="Calibri"/>
              </a:rPr>
              <a:t>proof</a:t>
            </a:r>
          </a:p>
        </p:txBody>
      </p:sp>
      <p:sp>
        <p:nvSpPr>
          <p:cNvPr id="38" name="Rectangle 37"/>
          <p:cNvSpPr/>
          <p:nvPr/>
        </p:nvSpPr>
        <p:spPr>
          <a:xfrm>
            <a:off x="4846320" y="1261872"/>
            <a:ext cx="54864" cy="841248"/>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0" y="1243584"/>
            <a:ext cx="3657600" cy="274320"/>
          </a:xfrm>
          <a:prstGeom prst="rect">
            <a:avLst/>
          </a:prstGeom>
          <a:noFill/>
        </p:spPr>
        <p:txBody>
          <a:bodyPr wrap="square" lIns="0" rIns="0" tIns="0" bIns="0" anchor="t">
            <a:spAutoFit/>
          </a:bodyPr>
          <a:lstStyle/>
          <a:p>
            <a:pPr algn="l"/>
            <a:r>
              <a:rPr sz="1400" b="1">
                <a:solidFill>
                  <a:srgbClr val="152B56"/>
                </a:solidFill>
                <a:latin typeface="Cambria"/>
              </a:rPr>
              <a:t>Consideration set</a:t>
            </a:r>
            <a:r>
              <a:rPr sz="850" b="0">
                <a:solidFill>
                  <a:srgbClr val="8A94A6"/>
                </a:solidFill>
                <a:latin typeface="Calibri"/>
              </a:rPr>
              <a:t>  (Court et al., 2009)</a:t>
            </a:r>
          </a:p>
        </p:txBody>
      </p:sp>
      <p:sp>
        <p:nvSpPr>
          <p:cNvPr id="40" name="TextBox 39"/>
          <p:cNvSpPr txBox="1"/>
          <p:nvPr/>
        </p:nvSpPr>
        <p:spPr>
          <a:xfrm>
            <a:off x="5029200" y="1527048"/>
            <a:ext cx="3657600" cy="274320"/>
          </a:xfrm>
          <a:prstGeom prst="rect">
            <a:avLst/>
          </a:prstGeom>
          <a:noFill/>
        </p:spPr>
        <p:txBody>
          <a:bodyPr wrap="square" lIns="0" rIns="0" tIns="0" bIns="0" anchor="t">
            <a:spAutoFit/>
          </a:bodyPr>
          <a:lstStyle/>
          <a:p>
            <a:pPr algn="l"/>
            <a:r>
              <a:rPr sz="1000" b="0">
                <a:solidFill>
                  <a:srgbClr val="556070"/>
                </a:solidFill>
                <a:latin typeface="Calibri"/>
              </a:rPr>
              <a:t>Brands outside the first two to four names rarely win.</a:t>
            </a:r>
          </a:p>
        </p:txBody>
      </p:sp>
      <p:sp>
        <p:nvSpPr>
          <p:cNvPr id="41" name="TextBox 40"/>
          <p:cNvSpPr txBox="1"/>
          <p:nvPr/>
        </p:nvSpPr>
        <p:spPr>
          <a:xfrm>
            <a:off x="5029200" y="1810512"/>
            <a:ext cx="3657600" cy="292608"/>
          </a:xfrm>
          <a:prstGeom prst="rect">
            <a:avLst/>
          </a:prstGeom>
          <a:noFill/>
        </p:spPr>
        <p:txBody>
          <a:bodyPr wrap="square" lIns="0" rIns="0" tIns="0" bIns="0" anchor="t">
            <a:spAutoFit/>
          </a:bodyPr>
          <a:lstStyle/>
          <a:p>
            <a:pPr algn="l"/>
            <a:r>
              <a:rPr sz="850" b="1">
                <a:solidFill>
                  <a:srgbClr val="166257"/>
                </a:solidFill>
                <a:latin typeface="Calibri"/>
              </a:rPr>
              <a:t>WE SAW  </a:t>
            </a:r>
            <a:r>
              <a:rPr sz="1050" b="1">
                <a:solidFill>
                  <a:srgbClr val="152B56"/>
                </a:solidFill>
                <a:latin typeface="Calibri"/>
              </a:rPr>
              <a:t>AMB is outside the set in every channel we studied.</a:t>
            </a:r>
          </a:p>
        </p:txBody>
      </p:sp>
      <p:sp>
        <p:nvSpPr>
          <p:cNvPr id="42" name="Rectangle 41"/>
          <p:cNvSpPr/>
          <p:nvPr/>
        </p:nvSpPr>
        <p:spPr>
          <a:xfrm>
            <a:off x="4846320" y="2240280"/>
            <a:ext cx="54864" cy="8412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0" y="2221992"/>
            <a:ext cx="3657600" cy="274320"/>
          </a:xfrm>
          <a:prstGeom prst="rect">
            <a:avLst/>
          </a:prstGeom>
          <a:noFill/>
        </p:spPr>
        <p:txBody>
          <a:bodyPr wrap="square" lIns="0" rIns="0" tIns="0" bIns="0" anchor="t">
            <a:spAutoFit/>
          </a:bodyPr>
          <a:lstStyle/>
          <a:p>
            <a:pPr algn="l"/>
            <a:r>
              <a:rPr sz="1400" b="1">
                <a:solidFill>
                  <a:srgbClr val="152B56"/>
                </a:solidFill>
                <a:latin typeface="Cambria"/>
              </a:rPr>
              <a:t>Status quo bias</a:t>
            </a:r>
            <a:r>
              <a:rPr sz="850" b="0">
                <a:solidFill>
                  <a:srgbClr val="8A94A6"/>
                </a:solidFill>
                <a:latin typeface="Calibri"/>
              </a:rPr>
              <a:t>  (Samuelson and Zeckhauser, 1988)</a:t>
            </a:r>
          </a:p>
        </p:txBody>
      </p:sp>
      <p:sp>
        <p:nvSpPr>
          <p:cNvPr id="44" name="TextBox 43"/>
          <p:cNvSpPr txBox="1"/>
          <p:nvPr/>
        </p:nvSpPr>
        <p:spPr>
          <a:xfrm>
            <a:off x="5029200" y="2505456"/>
            <a:ext cx="3657600" cy="274320"/>
          </a:xfrm>
          <a:prstGeom prst="rect">
            <a:avLst/>
          </a:prstGeom>
          <a:noFill/>
        </p:spPr>
        <p:txBody>
          <a:bodyPr wrap="square" lIns="0" rIns="0" tIns="0" bIns="0" anchor="t">
            <a:spAutoFit/>
          </a:bodyPr>
          <a:lstStyle/>
          <a:p>
            <a:pPr algn="l"/>
            <a:r>
              <a:rPr sz="1000" b="0">
                <a:solidFill>
                  <a:srgbClr val="556070"/>
                </a:solidFill>
                <a:latin typeface="Calibri"/>
              </a:rPr>
              <a:t>The familiar option holds unless a trigger and a reason arrive together.</a:t>
            </a:r>
          </a:p>
        </p:txBody>
      </p:sp>
      <p:sp>
        <p:nvSpPr>
          <p:cNvPr id="45" name="TextBox 44"/>
          <p:cNvSpPr txBox="1"/>
          <p:nvPr/>
        </p:nvSpPr>
        <p:spPr>
          <a:xfrm>
            <a:off x="5029200" y="2788920"/>
            <a:ext cx="3657600" cy="292608"/>
          </a:xfrm>
          <a:prstGeom prst="rect">
            <a:avLst/>
          </a:prstGeom>
          <a:noFill/>
        </p:spPr>
        <p:txBody>
          <a:bodyPr wrap="square" lIns="0" rIns="0" tIns="0" bIns="0" anchor="t">
            <a:spAutoFit/>
          </a:bodyPr>
          <a:lstStyle/>
          <a:p>
            <a:pPr algn="l"/>
            <a:r>
              <a:rPr sz="850" b="1">
                <a:solidFill>
                  <a:srgbClr val="166257"/>
                </a:solidFill>
                <a:latin typeface="Calibri"/>
              </a:rPr>
              <a:t>WE SAW  </a:t>
            </a:r>
            <a:r>
              <a:rPr sz="1050" b="1">
                <a:solidFill>
                  <a:srgbClr val="152B56"/>
                </a:solidFill>
                <a:latin typeface="Calibri"/>
              </a:rPr>
              <a:t>A better rate was not enough for 7 of 10 DIY borrowers.</a:t>
            </a:r>
          </a:p>
        </p:txBody>
      </p:sp>
      <p:sp>
        <p:nvSpPr>
          <p:cNvPr id="46" name="Rectangle 45"/>
          <p:cNvSpPr/>
          <p:nvPr/>
        </p:nvSpPr>
        <p:spPr>
          <a:xfrm>
            <a:off x="4846320" y="3218688"/>
            <a:ext cx="54864" cy="8412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0" y="3200400"/>
            <a:ext cx="3657600" cy="274320"/>
          </a:xfrm>
          <a:prstGeom prst="rect">
            <a:avLst/>
          </a:prstGeom>
          <a:noFill/>
        </p:spPr>
        <p:txBody>
          <a:bodyPr wrap="square" lIns="0" rIns="0" tIns="0" bIns="0" anchor="t">
            <a:spAutoFit/>
          </a:bodyPr>
          <a:lstStyle/>
          <a:p>
            <a:pPr algn="l"/>
            <a:r>
              <a:rPr sz="1400" b="1">
                <a:solidFill>
                  <a:srgbClr val="152B56"/>
                </a:solidFill>
                <a:latin typeface="Cambria"/>
              </a:rPr>
              <a:t>Social proof</a:t>
            </a:r>
            <a:r>
              <a:rPr sz="850" b="0">
                <a:solidFill>
                  <a:srgbClr val="8A94A6"/>
                </a:solidFill>
                <a:latin typeface="Calibri"/>
              </a:rPr>
              <a:t>  (Cialdini, 1984)</a:t>
            </a:r>
          </a:p>
        </p:txBody>
      </p:sp>
      <p:sp>
        <p:nvSpPr>
          <p:cNvPr id="48" name="TextBox 47"/>
          <p:cNvSpPr txBox="1"/>
          <p:nvPr/>
        </p:nvSpPr>
        <p:spPr>
          <a:xfrm>
            <a:off x="5029200" y="3483864"/>
            <a:ext cx="3657600" cy="274320"/>
          </a:xfrm>
          <a:prstGeom prst="rect">
            <a:avLst/>
          </a:prstGeom>
          <a:noFill/>
        </p:spPr>
        <p:txBody>
          <a:bodyPr wrap="square" lIns="0" rIns="0" tIns="0" bIns="0" anchor="t">
            <a:spAutoFit/>
          </a:bodyPr>
          <a:lstStyle/>
          <a:p>
            <a:pPr algn="l"/>
            <a:r>
              <a:rPr sz="1000" b="0">
                <a:solidFill>
                  <a:srgbClr val="556070"/>
                </a:solidFill>
                <a:latin typeface="Calibri"/>
              </a:rPr>
              <a:t>People copy people like them, especially under uncertainty.</a:t>
            </a:r>
          </a:p>
        </p:txBody>
      </p:sp>
      <p:sp>
        <p:nvSpPr>
          <p:cNvPr id="49" name="TextBox 48"/>
          <p:cNvSpPr txBox="1"/>
          <p:nvPr/>
        </p:nvSpPr>
        <p:spPr>
          <a:xfrm>
            <a:off x="5029200" y="3767328"/>
            <a:ext cx="3657600" cy="292608"/>
          </a:xfrm>
          <a:prstGeom prst="rect">
            <a:avLst/>
          </a:prstGeom>
          <a:noFill/>
        </p:spPr>
        <p:txBody>
          <a:bodyPr wrap="square" lIns="0" rIns="0" tIns="0" bIns="0" anchor="t">
            <a:spAutoFit/>
          </a:bodyPr>
          <a:lstStyle/>
          <a:p>
            <a:pPr algn="l"/>
            <a:r>
              <a:rPr sz="850" b="1">
                <a:solidFill>
                  <a:srgbClr val="166257"/>
                </a:solidFill>
                <a:latin typeface="Calibri"/>
              </a:rPr>
              <a:t>WE SAW  </a:t>
            </a:r>
            <a:r>
              <a:rPr sz="1050" b="1">
                <a:solidFill>
                  <a:srgbClr val="152B56"/>
                </a:solidFill>
                <a:latin typeface="Calibri"/>
              </a:rPr>
              <a:t>A friend's experience was the strongest lever: XXX of 14.</a:t>
            </a:r>
          </a:p>
        </p:txBody>
      </p:sp>
      <p:sp>
        <p:nvSpPr>
          <p:cNvPr id="50" name="Rectangle 49"/>
          <p:cNvSpPr/>
          <p:nvPr/>
        </p:nvSpPr>
        <p:spPr>
          <a:xfrm>
            <a:off x="0" y="4251960"/>
            <a:ext cx="9144000" cy="89154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352544"/>
            <a:ext cx="7315200" cy="320040"/>
          </a:xfrm>
          <a:prstGeom prst="rect">
            <a:avLst/>
          </a:prstGeom>
          <a:noFill/>
        </p:spPr>
        <p:txBody>
          <a:bodyPr wrap="square" lIns="0" rIns="0" tIns="0" bIns="0" anchor="t">
            <a:spAutoFit/>
          </a:bodyPr>
          <a:lstStyle/>
          <a:p>
            <a:pPr algn="l"/>
            <a:r>
              <a:rPr sz="1600" b="1">
                <a:solidFill>
                  <a:srgbClr val="FFFFFF"/>
                </a:solidFill>
                <a:latin typeface="Cambria"/>
              </a:rPr>
              <a:t>The problem is not the rate. It is that the rate is never weighed.</a:t>
            </a:r>
          </a:p>
        </p:txBody>
      </p:sp>
      <p:sp>
        <p:nvSpPr>
          <p:cNvPr id="52" name="TextBox 51"/>
          <p:cNvSpPr txBox="1"/>
          <p:nvPr/>
        </p:nvSpPr>
        <p:spPr>
          <a:xfrm>
            <a:off x="457200" y="4690872"/>
            <a:ext cx="7589520" cy="365760"/>
          </a:xfrm>
          <a:prstGeom prst="rect">
            <a:avLst/>
          </a:prstGeom>
          <a:noFill/>
        </p:spPr>
        <p:txBody>
          <a:bodyPr wrap="square" lIns="0" rIns="0" tIns="0" bIns="0" anchor="t">
            <a:spAutoFit/>
          </a:bodyPr>
          <a:lstStyle/>
          <a:p>
            <a:pPr algn="l"/>
            <a:r>
              <a:rPr sz="950" b="0">
                <a:solidFill>
                  <a:srgbClr val="AFC0DA"/>
                </a:solidFill>
                <a:latin typeface="Calibri"/>
              </a:rPr>
              <a:t>AMB advertises 5.94% up to 60% LVR and 6.19% at 60 to 80%, against 6.09 to 6.25% at the big four (AMB, Mozo, Sep 2026).</a:t>
            </a:r>
          </a:p>
        </p:txBody>
      </p:sp>
      <p:pic>
        <p:nvPicPr>
          <p:cNvPr id="53" name="Picture 52" descr="amb_mark_white_transparent.png"/>
          <p:cNvPicPr>
            <a:picLocks noChangeAspect="1"/>
          </p:cNvPicPr>
          <p:nvPr/>
        </p:nvPicPr>
        <p:blipFill>
          <a:blip r:embed="rId6"/>
          <a:stretch>
            <a:fillRect/>
          </a:stretch>
        </p:blipFill>
        <p:spPr>
          <a:xfrm>
            <a:off x="8001000" y="4352544"/>
            <a:ext cx="685800" cy="411480"/>
          </a:xfrm>
          <a:prstGeom prst="rect">
            <a:avLst/>
          </a:prstGeom>
        </p:spPr>
      </p:pic>
      <p:sp>
        <p:nvSpPr>
          <p:cNvPr id="31" name="Text 2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Three moves place AMB where the shortlist is built, with the broker channel taking the largest share of the $750k</a:t>
            </a:r>
            <a:endParaRPr lang="en-US" sz="2000" dirty="0"/>
          </a:p>
        </p:txBody>
      </p:sp>
      <p:sp>
        <p:nvSpPr>
          <p:cNvPr id="29" name="Text 23"/>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Remaining 10% to measurement and testing. Split is indicative and will be re-derived from cost per funded loan by channel once the pilot reports.</a:t>
            </a:r>
            <a:endParaRPr lang="en-US" sz="1000" dirty="0"/>
          </a:p>
        </p:txBody>
      </p:sp>
      <p:sp>
        <p:nvSpPr>
          <p:cNvPr id="30" name="Text 2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11</a:t>
            </a:r>
            <a:endParaRPr lang="en-US" sz="1000" dirty="0"/>
          </a:p>
        </p:txBody>
      </p:sp>
      <p:sp>
        <p:nvSpPr>
          <p:cNvPr id="31" name="Rectangle 30"/>
          <p:cNvSpPr/>
          <p:nvPr/>
        </p:nvSpPr>
        <p:spPr>
          <a:xfrm>
            <a:off x="457200" y="1280160"/>
            <a:ext cx="1618488" cy="457200"/>
          </a:xfrm>
          <a:prstGeom prst="rect">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1280160"/>
            <a:ext cx="1618488" cy="457200"/>
          </a:xfrm>
          <a:prstGeom prst="rect">
            <a:avLst/>
          </a:prstGeom>
          <a:noFill/>
        </p:spPr>
        <p:txBody>
          <a:bodyPr wrap="square" lIns="0" rIns="0" tIns="0" bIns="0" anchor="ctr">
            <a:spAutoFit/>
          </a:bodyPr>
          <a:lstStyle/>
          <a:p>
            <a:pPr algn="ctr"/>
            <a:r>
              <a:rPr sz="1500" b="1">
                <a:solidFill>
                  <a:srgbClr val="FFFFFF"/>
                </a:solidFill>
                <a:latin typeface="Cambria"/>
              </a:rPr>
              <a:t>20%</a:t>
            </a:r>
            <a:r>
              <a:rPr sz="1000" b="0">
                <a:solidFill>
                  <a:srgbClr val="D6E3F0"/>
                </a:solidFill>
                <a:latin typeface="Calibri"/>
              </a:rPr>
              <a:t>  $150k</a:t>
            </a:r>
          </a:p>
        </p:txBody>
      </p:sp>
      <p:sp>
        <p:nvSpPr>
          <p:cNvPr id="33" name="Rectangle 32"/>
          <p:cNvSpPr/>
          <p:nvPr/>
        </p:nvSpPr>
        <p:spPr>
          <a:xfrm>
            <a:off x="2103120" y="1280160"/>
            <a:ext cx="4498848" cy="4572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03120" y="1280160"/>
            <a:ext cx="4498848" cy="457200"/>
          </a:xfrm>
          <a:prstGeom prst="rect">
            <a:avLst/>
          </a:prstGeom>
          <a:noFill/>
        </p:spPr>
        <p:txBody>
          <a:bodyPr wrap="square" lIns="0" rIns="0" tIns="0" bIns="0" anchor="ctr">
            <a:spAutoFit/>
          </a:bodyPr>
          <a:lstStyle/>
          <a:p>
            <a:pPr algn="ctr"/>
            <a:r>
              <a:rPr sz="1500" b="1">
                <a:solidFill>
                  <a:srgbClr val="FFFFFF"/>
                </a:solidFill>
                <a:latin typeface="Cambria"/>
              </a:rPr>
              <a:t>55%</a:t>
            </a:r>
            <a:r>
              <a:rPr sz="1000" b="0">
                <a:solidFill>
                  <a:srgbClr val="D6E3F0"/>
                </a:solidFill>
                <a:latin typeface="Calibri"/>
              </a:rPr>
              <a:t>  $412.5k</a:t>
            </a:r>
          </a:p>
        </p:txBody>
      </p:sp>
      <p:sp>
        <p:nvSpPr>
          <p:cNvPr id="35" name="Rectangle 34"/>
          <p:cNvSpPr/>
          <p:nvPr/>
        </p:nvSpPr>
        <p:spPr>
          <a:xfrm>
            <a:off x="6629400" y="1280160"/>
            <a:ext cx="1207008" cy="45720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29400" y="1280160"/>
            <a:ext cx="1207008" cy="457200"/>
          </a:xfrm>
          <a:prstGeom prst="rect">
            <a:avLst/>
          </a:prstGeom>
          <a:noFill/>
        </p:spPr>
        <p:txBody>
          <a:bodyPr wrap="square" lIns="0" rIns="0" tIns="0" bIns="0" anchor="ctr">
            <a:spAutoFit/>
          </a:bodyPr>
          <a:lstStyle/>
          <a:p>
            <a:pPr algn="ctr"/>
            <a:r>
              <a:rPr sz="1500" b="1">
                <a:solidFill>
                  <a:srgbClr val="FFFFFF"/>
                </a:solidFill>
                <a:latin typeface="Cambria"/>
              </a:rPr>
              <a:t>15%</a:t>
            </a:r>
            <a:r>
              <a:rPr sz="1000" b="0">
                <a:solidFill>
                  <a:srgbClr val="D6E3F0"/>
                </a:solidFill>
                <a:latin typeface="Calibri"/>
              </a:rPr>
              <a:t>  $112.5k</a:t>
            </a:r>
          </a:p>
        </p:txBody>
      </p:sp>
      <p:sp>
        <p:nvSpPr>
          <p:cNvPr id="37" name="Rectangle 36"/>
          <p:cNvSpPr/>
          <p:nvPr/>
        </p:nvSpPr>
        <p:spPr>
          <a:xfrm>
            <a:off x="7863840" y="1280160"/>
            <a:ext cx="795528" cy="457200"/>
          </a:xfrm>
          <a:prstGeom prst="rect">
            <a:avLst/>
          </a:prstGeom>
          <a:solidFill>
            <a:srgbClr val="B8C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0" y="1280160"/>
            <a:ext cx="795528" cy="457200"/>
          </a:xfrm>
          <a:prstGeom prst="rect">
            <a:avLst/>
          </a:prstGeom>
          <a:noFill/>
        </p:spPr>
        <p:txBody>
          <a:bodyPr wrap="square" lIns="0" rIns="0" tIns="0" bIns="0" anchor="ctr">
            <a:spAutoFit/>
          </a:bodyPr>
          <a:lstStyle/>
          <a:p>
            <a:pPr algn="ctr"/>
            <a:r>
              <a:rPr sz="1500" b="1">
                <a:solidFill>
                  <a:srgbClr val="152B56"/>
                </a:solidFill>
                <a:latin typeface="Cambria"/>
              </a:rPr>
              <a:t>10%</a:t>
            </a:r>
            <a:r>
              <a:rPr sz="1000" b="0">
                <a:solidFill>
                  <a:srgbClr val="152B56"/>
                </a:solidFill>
                <a:latin typeface="Calibri"/>
              </a:rPr>
              <a:t>  test</a:t>
            </a:r>
          </a:p>
        </p:txBody>
      </p:sp>
      <p:cxnSp>
        <p:nvCxnSpPr>
          <p:cNvPr id="39" name="Connector 38"/>
          <p:cNvCxnSpPr/>
          <p:nvPr/>
        </p:nvCxnSpPr>
        <p:spPr>
          <a:xfrm>
            <a:off x="1266444" y="1755648"/>
            <a:ext cx="516636" cy="352044"/>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pic>
        <p:nvPicPr>
          <p:cNvPr id="40" name="Picture 39" descr="image.jpg"/>
          <p:cNvPicPr>
            <a:picLocks noChangeAspect="1"/>
          </p:cNvPicPr>
          <p:nvPr/>
        </p:nvPicPr>
        <p:blipFill>
          <a:blip r:embed="rId6"/>
          <a:stretch>
            <a:fillRect/>
          </a:stretch>
        </p:blipFill>
        <p:spPr>
          <a:xfrm>
            <a:off x="1303019" y="2217420"/>
            <a:ext cx="960120" cy="960120"/>
          </a:xfrm>
          <a:prstGeom prst="ellipse">
            <a:avLst/>
          </a:prstGeom>
        </p:spPr>
      </p:pic>
      <p:sp>
        <p:nvSpPr>
          <p:cNvPr id="41" name="Oval 40"/>
          <p:cNvSpPr/>
          <p:nvPr/>
        </p:nvSpPr>
        <p:spPr>
          <a:xfrm>
            <a:off x="1239011" y="2153412"/>
            <a:ext cx="1088136" cy="108813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3429000"/>
            <a:ext cx="2560320" cy="274320"/>
          </a:xfrm>
          <a:prstGeom prst="rect">
            <a:avLst/>
          </a:prstGeom>
          <a:noFill/>
        </p:spPr>
        <p:txBody>
          <a:bodyPr wrap="square" lIns="0" rIns="0" tIns="0" bIns="0" anchor="t">
            <a:spAutoFit/>
          </a:bodyPr>
          <a:lstStyle/>
          <a:p>
            <a:pPr algn="ctr"/>
            <a:r>
              <a:rPr sz="1400" b="1">
                <a:solidFill>
                  <a:srgbClr val="152B56"/>
                </a:solidFill>
                <a:latin typeface="Cambria"/>
              </a:rPr>
              <a:t>Make AMB easy to verify</a:t>
            </a:r>
          </a:p>
        </p:txBody>
      </p:sp>
      <p:sp>
        <p:nvSpPr>
          <p:cNvPr id="43" name="TextBox 42"/>
          <p:cNvSpPr txBox="1"/>
          <p:nvPr/>
        </p:nvSpPr>
        <p:spPr>
          <a:xfrm>
            <a:off x="594359" y="3730752"/>
            <a:ext cx="2377440" cy="548640"/>
          </a:xfrm>
          <a:prstGeom prst="rect">
            <a:avLst/>
          </a:prstGeom>
          <a:noFill/>
        </p:spPr>
        <p:txBody>
          <a:bodyPr wrap="square" lIns="0" rIns="0" tIns="0" bIns="0" anchor="t">
            <a:spAutoFit/>
          </a:bodyPr>
          <a:lstStyle/>
          <a:p>
            <a:pPr algn="ctr"/>
            <a:r>
              <a:rPr sz="1000" b="0">
                <a:solidFill>
                  <a:srgbClr val="556070"/>
                </a:solidFill>
                <a:latin typeface="Calibri"/>
              </a:rPr>
              <a:t>Ratings, real rates and approval times, visible in search and AI answers.</a:t>
            </a:r>
          </a:p>
        </p:txBody>
      </p:sp>
      <p:sp>
        <p:nvSpPr>
          <p:cNvPr id="44" name="Rounded Rectangle 43"/>
          <p:cNvSpPr/>
          <p:nvPr/>
        </p:nvSpPr>
        <p:spPr>
          <a:xfrm>
            <a:off x="685800" y="4279392"/>
            <a:ext cx="2194560" cy="237744"/>
          </a:xfrm>
          <a:prstGeom prst="roundRect">
            <a:avLst>
              <a:gd name="adj" fmla="val 50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4279392"/>
            <a:ext cx="2194560" cy="237744"/>
          </a:xfrm>
          <a:prstGeom prst="rect">
            <a:avLst/>
          </a:prstGeom>
          <a:noFill/>
        </p:spPr>
        <p:txBody>
          <a:bodyPr wrap="square" lIns="0" rIns="0" tIns="0" bIns="0" anchor="ctr">
            <a:spAutoFit/>
          </a:bodyPr>
          <a:lstStyle/>
          <a:p>
            <a:pPr algn="ctr"/>
            <a:r>
              <a:rPr sz="950" b="1">
                <a:solidFill>
                  <a:srgbClr val="166257"/>
                </a:solidFill>
                <a:latin typeface="Calibri"/>
              </a:rPr>
              <a:t>Acts on: </a:t>
            </a:r>
            <a:r>
              <a:rPr sz="950" b="0">
                <a:solidFill>
                  <a:srgbClr val="152B56"/>
                </a:solidFill>
                <a:latin typeface="Calibri"/>
              </a:rPr>
              <a:t>The borrower's own check</a:t>
            </a:r>
          </a:p>
        </p:txBody>
      </p:sp>
      <p:cxnSp>
        <p:nvCxnSpPr>
          <p:cNvPr id="46" name="Connector 45"/>
          <p:cNvCxnSpPr/>
          <p:nvPr/>
        </p:nvCxnSpPr>
        <p:spPr>
          <a:xfrm>
            <a:off x="4352544" y="1755648"/>
            <a:ext cx="219456" cy="214884"/>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pic>
        <p:nvPicPr>
          <p:cNvPr id="47" name="Picture 46" descr="image.jpg"/>
          <p:cNvPicPr>
            <a:picLocks noChangeAspect="1"/>
          </p:cNvPicPr>
          <p:nvPr/>
        </p:nvPicPr>
        <p:blipFill>
          <a:blip r:embed="rId7"/>
          <a:stretch>
            <a:fillRect/>
          </a:stretch>
        </p:blipFill>
        <p:spPr>
          <a:xfrm>
            <a:off x="3954780" y="2080260"/>
            <a:ext cx="1234440" cy="1234440"/>
          </a:xfrm>
          <a:prstGeom prst="ellipse">
            <a:avLst/>
          </a:prstGeom>
        </p:spPr>
      </p:pic>
      <p:sp>
        <p:nvSpPr>
          <p:cNvPr id="48" name="Oval 47"/>
          <p:cNvSpPr/>
          <p:nvPr/>
        </p:nvSpPr>
        <p:spPr>
          <a:xfrm>
            <a:off x="3890772" y="2016252"/>
            <a:ext cx="1362456" cy="136245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91840" y="3429000"/>
            <a:ext cx="2560320" cy="274320"/>
          </a:xfrm>
          <a:prstGeom prst="rect">
            <a:avLst/>
          </a:prstGeom>
          <a:noFill/>
        </p:spPr>
        <p:txBody>
          <a:bodyPr wrap="square" lIns="0" rIns="0" tIns="0" bIns="0" anchor="t">
            <a:spAutoFit/>
          </a:bodyPr>
          <a:lstStyle/>
          <a:p>
            <a:pPr algn="ctr"/>
            <a:r>
              <a:rPr sz="1400" b="1">
                <a:solidFill>
                  <a:srgbClr val="152B56"/>
                </a:solidFill>
                <a:latin typeface="Cambria"/>
              </a:rPr>
              <a:t>Enter the broker's working set</a:t>
            </a:r>
          </a:p>
        </p:txBody>
      </p:sp>
      <p:sp>
        <p:nvSpPr>
          <p:cNvPr id="50" name="TextBox 49"/>
          <p:cNvSpPr txBox="1"/>
          <p:nvPr/>
        </p:nvSpPr>
        <p:spPr>
          <a:xfrm>
            <a:off x="3383280" y="3730752"/>
            <a:ext cx="2377440" cy="548640"/>
          </a:xfrm>
          <a:prstGeom prst="rect">
            <a:avLst/>
          </a:prstGeom>
          <a:noFill/>
        </p:spPr>
        <p:txBody>
          <a:bodyPr wrap="square" lIns="0" rIns="0" tIns="0" bIns="0" anchor="t">
            <a:spAutoFit/>
          </a:bodyPr>
          <a:lstStyle/>
          <a:p>
            <a:pPr algn="ctr"/>
            <a:r>
              <a:rPr sz="1000" b="0">
                <a:solidFill>
                  <a:srgbClr val="556070"/>
                </a:solidFill>
                <a:latin typeface="Calibri"/>
              </a:rPr>
              <a:t>Panel accreditation (XXX), digital proof pack, aggregator listing, 48-hour turnaround.</a:t>
            </a:r>
          </a:p>
        </p:txBody>
      </p:sp>
      <p:sp>
        <p:nvSpPr>
          <p:cNvPr id="51" name="Rounded Rectangle 50"/>
          <p:cNvSpPr/>
          <p:nvPr/>
        </p:nvSpPr>
        <p:spPr>
          <a:xfrm>
            <a:off x="3474720" y="4279392"/>
            <a:ext cx="2194560" cy="237744"/>
          </a:xfrm>
          <a:prstGeom prst="roundRect">
            <a:avLst>
              <a:gd name="adj" fmla="val 50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474720" y="4279392"/>
            <a:ext cx="2194560" cy="237744"/>
          </a:xfrm>
          <a:prstGeom prst="rect">
            <a:avLst/>
          </a:prstGeom>
          <a:noFill/>
        </p:spPr>
        <p:txBody>
          <a:bodyPr wrap="square" lIns="0" rIns="0" tIns="0" bIns="0" anchor="ctr">
            <a:spAutoFit/>
          </a:bodyPr>
          <a:lstStyle/>
          <a:p>
            <a:pPr algn="ctr"/>
            <a:r>
              <a:rPr sz="950" b="1">
                <a:solidFill>
                  <a:srgbClr val="166257"/>
                </a:solidFill>
                <a:latin typeface="Calibri"/>
              </a:rPr>
              <a:t>Acts on: </a:t>
            </a:r>
            <a:r>
              <a:rPr sz="950" b="0">
                <a:solidFill>
                  <a:srgbClr val="152B56"/>
                </a:solidFill>
                <a:latin typeface="Calibri"/>
              </a:rPr>
              <a:t>The broker's shortlist</a:t>
            </a:r>
          </a:p>
        </p:txBody>
      </p:sp>
      <p:cxnSp>
        <p:nvCxnSpPr>
          <p:cNvPr id="53" name="Connector 52"/>
          <p:cNvCxnSpPr/>
          <p:nvPr/>
        </p:nvCxnSpPr>
        <p:spPr>
          <a:xfrm>
            <a:off x="7232904" y="1755648"/>
            <a:ext cx="128016" cy="420624"/>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pic>
        <p:nvPicPr>
          <p:cNvPr id="54" name="Picture 53" descr="image.jpg"/>
          <p:cNvPicPr>
            <a:picLocks noChangeAspect="1"/>
          </p:cNvPicPr>
          <p:nvPr/>
        </p:nvPicPr>
        <p:blipFill>
          <a:blip r:embed="rId8"/>
          <a:stretch>
            <a:fillRect/>
          </a:stretch>
        </p:blipFill>
        <p:spPr>
          <a:xfrm>
            <a:off x="6949440" y="2286000"/>
            <a:ext cx="822960" cy="822960"/>
          </a:xfrm>
          <a:prstGeom prst="ellipse">
            <a:avLst/>
          </a:prstGeom>
        </p:spPr>
      </p:pic>
      <p:sp>
        <p:nvSpPr>
          <p:cNvPr id="55" name="Oval 54"/>
          <p:cNvSpPr/>
          <p:nvPr/>
        </p:nvSpPr>
        <p:spPr>
          <a:xfrm>
            <a:off x="6885432" y="2221992"/>
            <a:ext cx="950976" cy="95097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080760" y="3429000"/>
            <a:ext cx="2560320" cy="274320"/>
          </a:xfrm>
          <a:prstGeom prst="rect">
            <a:avLst/>
          </a:prstGeom>
          <a:noFill/>
        </p:spPr>
        <p:txBody>
          <a:bodyPr wrap="square" lIns="0" rIns="0" tIns="0" bIns="0" anchor="t">
            <a:spAutoFit/>
          </a:bodyPr>
          <a:lstStyle/>
          <a:p>
            <a:pPr algn="ctr"/>
            <a:r>
              <a:rPr sz="1400" b="1">
                <a:solidFill>
                  <a:srgbClr val="152B56"/>
                </a:solidFill>
                <a:latin typeface="Cambria"/>
              </a:rPr>
              <a:t>Member check-your-offer link</a:t>
            </a:r>
          </a:p>
        </p:txBody>
      </p:sp>
      <p:sp>
        <p:nvSpPr>
          <p:cNvPr id="57" name="TextBox 56"/>
          <p:cNvSpPr txBox="1"/>
          <p:nvPr/>
        </p:nvSpPr>
        <p:spPr>
          <a:xfrm>
            <a:off x="6172200" y="3730752"/>
            <a:ext cx="2377440" cy="548640"/>
          </a:xfrm>
          <a:prstGeom prst="rect">
            <a:avLst/>
          </a:prstGeom>
          <a:noFill/>
        </p:spPr>
        <p:txBody>
          <a:bodyPr wrap="square" lIns="0" rIns="0" tIns="0" bIns="0" anchor="t">
            <a:spAutoFit/>
          </a:bodyPr>
          <a:lstStyle/>
          <a:p>
            <a:pPr algn="ctr"/>
            <a:r>
              <a:rPr sz="1000" b="0">
                <a:solidFill>
                  <a:srgbClr val="556070"/>
                </a:solidFill>
                <a:latin typeface="Calibri"/>
              </a:rPr>
              <a:t>A member sends one link; the friend uploads an offer; AMB returns a firm rate in 24 hours.</a:t>
            </a:r>
          </a:p>
        </p:txBody>
      </p:sp>
      <p:sp>
        <p:nvSpPr>
          <p:cNvPr id="58" name="Rounded Rectangle 57"/>
          <p:cNvSpPr/>
          <p:nvPr/>
        </p:nvSpPr>
        <p:spPr>
          <a:xfrm>
            <a:off x="6263640" y="4279392"/>
            <a:ext cx="2194560" cy="237744"/>
          </a:xfrm>
          <a:prstGeom prst="roundRect">
            <a:avLst>
              <a:gd name="adj" fmla="val 50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63640" y="4279392"/>
            <a:ext cx="2194560" cy="237744"/>
          </a:xfrm>
          <a:prstGeom prst="rect">
            <a:avLst/>
          </a:prstGeom>
          <a:noFill/>
        </p:spPr>
        <p:txBody>
          <a:bodyPr wrap="square" lIns="0" rIns="0" tIns="0" bIns="0" anchor="ctr">
            <a:spAutoFit/>
          </a:bodyPr>
          <a:lstStyle/>
          <a:p>
            <a:pPr algn="ctr"/>
            <a:r>
              <a:rPr sz="950" b="1">
                <a:solidFill>
                  <a:srgbClr val="166257"/>
                </a:solidFill>
                <a:latin typeface="Calibri"/>
              </a:rPr>
              <a:t>Acts on: </a:t>
            </a:r>
            <a:r>
              <a:rPr sz="950" b="0">
                <a:solidFill>
                  <a:srgbClr val="152B56"/>
                </a:solidFill>
                <a:latin typeface="Calibri"/>
              </a:rPr>
              <a:t>The friend's recommendation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Proof in the first 90 days, the broker push by day 180, and scaling of what converts in the second half of the year</a:t>
            </a:r>
            <a:endParaRPr lang="en-US" sz="2000" dirty="0"/>
          </a:p>
        </p:txBody>
      </p:sp>
      <p:sp>
        <p:nvSpPr>
          <p:cNvPr id="38" name="Text 31"/>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12</a:t>
            </a:r>
            <a:endParaRPr lang="en-US" sz="1000" dirty="0"/>
          </a:p>
        </p:txBody>
      </p:sp>
      <p:sp>
        <p:nvSpPr>
          <p:cNvPr id="39" name="Pentagon 38"/>
          <p:cNvSpPr/>
          <p:nvPr/>
        </p:nvSpPr>
        <p:spPr>
          <a:xfrm>
            <a:off x="2468880" y="1234440"/>
            <a:ext cx="1627632" cy="457200"/>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51760"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Q1  </a:t>
            </a:r>
            <a:r>
              <a:rPr sz="1000" b="1">
                <a:solidFill>
                  <a:srgbClr val="FFFFFF"/>
                </a:solidFill>
                <a:latin typeface="Calibri"/>
              </a:rPr>
              <a:t>Prove</a:t>
            </a:r>
          </a:p>
        </p:txBody>
      </p:sp>
      <p:sp>
        <p:nvSpPr>
          <p:cNvPr id="41" name="Chevron 40"/>
          <p:cNvSpPr/>
          <p:nvPr/>
        </p:nvSpPr>
        <p:spPr>
          <a:xfrm>
            <a:off x="4023360" y="1234440"/>
            <a:ext cx="1627632" cy="457200"/>
          </a:xfrm>
          <a:prstGeom prst="chevron">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15968"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Q2  </a:t>
            </a:r>
            <a:r>
              <a:rPr sz="1000" b="1">
                <a:solidFill>
                  <a:srgbClr val="FFFFFF"/>
                </a:solidFill>
                <a:latin typeface="Calibri"/>
              </a:rPr>
              <a:t>Broker push</a:t>
            </a:r>
          </a:p>
        </p:txBody>
      </p:sp>
      <p:sp>
        <p:nvSpPr>
          <p:cNvPr id="43" name="Chevron 42"/>
          <p:cNvSpPr/>
          <p:nvPr/>
        </p:nvSpPr>
        <p:spPr>
          <a:xfrm>
            <a:off x="5577840" y="1234440"/>
            <a:ext cx="1627632" cy="457200"/>
          </a:xfrm>
          <a:prstGeom prst="chevron">
            <a:avLst/>
          </a:prstGeom>
          <a:solidFill>
            <a:srgbClr val="1B7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70448"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Q3  </a:t>
            </a:r>
            <a:r>
              <a:rPr sz="1000" b="1">
                <a:solidFill>
                  <a:srgbClr val="FFFFFF"/>
                </a:solidFill>
                <a:latin typeface="Calibri"/>
              </a:rPr>
              <a:t>Scale</a:t>
            </a:r>
          </a:p>
        </p:txBody>
      </p:sp>
      <p:sp>
        <p:nvSpPr>
          <p:cNvPr id="45" name="Chevron 44"/>
          <p:cNvSpPr/>
          <p:nvPr/>
        </p:nvSpPr>
        <p:spPr>
          <a:xfrm>
            <a:off x="7132320" y="1234440"/>
            <a:ext cx="1536192" cy="457200"/>
          </a:xfrm>
          <a:prstGeom prst="chevron">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24927"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Q4  </a:t>
            </a:r>
            <a:r>
              <a:rPr sz="1000" b="1">
                <a:solidFill>
                  <a:srgbClr val="FFFFFF"/>
                </a:solidFill>
                <a:latin typeface="Calibri"/>
              </a:rPr>
              <a:t>Scale what converts</a:t>
            </a:r>
          </a:p>
        </p:txBody>
      </p:sp>
      <p:cxnSp>
        <p:nvCxnSpPr>
          <p:cNvPr id="47" name="Connector 46"/>
          <p:cNvCxnSpPr/>
          <p:nvPr/>
        </p:nvCxnSpPr>
        <p:spPr>
          <a:xfrm>
            <a:off x="4000500" y="1783080"/>
            <a:ext cx="0" cy="2880360"/>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3657600" y="4663440"/>
            <a:ext cx="685800" cy="219456"/>
          </a:xfrm>
          <a:prstGeom prst="roundRect">
            <a:avLst>
              <a:gd name="adj" fmla="val 50000"/>
            </a:avLst>
          </a:prstGeom>
          <a:solidFill>
            <a:srgbClr val="FFFFFF"/>
          </a:solidFill>
          <a:ln w="9525">
            <a:solidFill>
              <a:srgbClr val="8A94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657600" y="4663440"/>
            <a:ext cx="685800" cy="219456"/>
          </a:xfrm>
          <a:prstGeom prst="rect">
            <a:avLst/>
          </a:prstGeom>
          <a:noFill/>
        </p:spPr>
        <p:txBody>
          <a:bodyPr wrap="square" lIns="0" rIns="0" tIns="0" bIns="0" anchor="ctr">
            <a:spAutoFit/>
          </a:bodyPr>
          <a:lstStyle/>
          <a:p>
            <a:pPr algn="ctr"/>
            <a:r>
              <a:rPr sz="900" b="1">
                <a:solidFill>
                  <a:srgbClr val="556070"/>
                </a:solidFill>
                <a:latin typeface="Calibri"/>
              </a:rPr>
              <a:t>Day 90</a:t>
            </a:r>
          </a:p>
        </p:txBody>
      </p:sp>
      <p:cxnSp>
        <p:nvCxnSpPr>
          <p:cNvPr id="50" name="Connector 49"/>
          <p:cNvCxnSpPr/>
          <p:nvPr/>
        </p:nvCxnSpPr>
        <p:spPr>
          <a:xfrm>
            <a:off x="5554979" y="1783080"/>
            <a:ext cx="0" cy="2880360"/>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212079" y="4663440"/>
            <a:ext cx="685800" cy="219456"/>
          </a:xfrm>
          <a:prstGeom prst="roundRect">
            <a:avLst>
              <a:gd name="adj" fmla="val 50000"/>
            </a:avLst>
          </a:prstGeom>
          <a:solidFill>
            <a:srgbClr val="FFFFFF"/>
          </a:solidFill>
          <a:ln w="9525">
            <a:solidFill>
              <a:srgbClr val="8A94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12079" y="4663440"/>
            <a:ext cx="685800" cy="219456"/>
          </a:xfrm>
          <a:prstGeom prst="rect">
            <a:avLst/>
          </a:prstGeom>
          <a:noFill/>
        </p:spPr>
        <p:txBody>
          <a:bodyPr wrap="square" lIns="0" rIns="0" tIns="0" bIns="0" anchor="ctr">
            <a:spAutoFit/>
          </a:bodyPr>
          <a:lstStyle/>
          <a:p>
            <a:pPr algn="ctr"/>
            <a:r>
              <a:rPr sz="900" b="1">
                <a:solidFill>
                  <a:srgbClr val="556070"/>
                </a:solidFill>
                <a:latin typeface="Calibri"/>
              </a:rPr>
              <a:t>Day 180</a:t>
            </a:r>
          </a:p>
        </p:txBody>
      </p:sp>
      <p:sp>
        <p:nvSpPr>
          <p:cNvPr id="53" name="Rounded Rectangle 52"/>
          <p:cNvSpPr/>
          <p:nvPr/>
        </p:nvSpPr>
        <p:spPr>
          <a:xfrm>
            <a:off x="457200" y="1920240"/>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 y="1984248"/>
            <a:ext cx="1737360" cy="256032"/>
          </a:xfrm>
          <a:prstGeom prst="rect">
            <a:avLst/>
          </a:prstGeom>
          <a:noFill/>
        </p:spPr>
        <p:txBody>
          <a:bodyPr wrap="square" lIns="0" rIns="0" tIns="0" bIns="0" anchor="t">
            <a:spAutoFit/>
          </a:bodyPr>
          <a:lstStyle/>
          <a:p>
            <a:pPr algn="l"/>
            <a:r>
              <a:rPr sz="1150" b="1">
                <a:solidFill>
                  <a:srgbClr val="FFFFFF"/>
                </a:solidFill>
                <a:latin typeface="Calibri"/>
              </a:rPr>
              <a:t>Verify online</a:t>
            </a:r>
          </a:p>
        </p:txBody>
      </p:sp>
      <p:sp>
        <p:nvSpPr>
          <p:cNvPr id="55" name="TextBox 54"/>
          <p:cNvSpPr txBox="1"/>
          <p:nvPr/>
        </p:nvSpPr>
        <p:spPr>
          <a:xfrm>
            <a:off x="594360" y="2231136"/>
            <a:ext cx="1737360" cy="237744"/>
          </a:xfrm>
          <a:prstGeom prst="rect">
            <a:avLst/>
          </a:prstGeom>
          <a:noFill/>
        </p:spPr>
        <p:txBody>
          <a:bodyPr wrap="square" lIns="0" rIns="0" tIns="0" bIns="0" anchor="t">
            <a:spAutoFit/>
          </a:bodyPr>
          <a:lstStyle/>
          <a:p>
            <a:pPr algn="l"/>
            <a:r>
              <a:rPr sz="800" b="0">
                <a:solidFill>
                  <a:srgbClr val="AFC0DA"/>
                </a:solidFill>
                <a:latin typeface="Calibri"/>
              </a:rPr>
              <a:t>Digital marketing</a:t>
            </a:r>
          </a:p>
        </p:txBody>
      </p:sp>
      <p:sp>
        <p:nvSpPr>
          <p:cNvPr id="56" name="Rounded Rectangle 55"/>
          <p:cNvSpPr/>
          <p:nvPr/>
        </p:nvSpPr>
        <p:spPr>
          <a:xfrm>
            <a:off x="2468880" y="1920240"/>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0" y="1920240"/>
            <a:ext cx="1325880" cy="566928"/>
          </a:xfrm>
          <a:prstGeom prst="rect">
            <a:avLst/>
          </a:prstGeom>
          <a:noFill/>
        </p:spPr>
        <p:txBody>
          <a:bodyPr wrap="square" lIns="0" rIns="0" tIns="0" bIns="0" anchor="ctr">
            <a:spAutoFit/>
          </a:bodyPr>
          <a:lstStyle/>
          <a:p>
            <a:pPr algn="l"/>
            <a:r>
              <a:rPr sz="950" b="0">
                <a:solidFill>
                  <a:srgbClr val="FFFFFF"/>
                </a:solidFill>
                <a:latin typeface="Calibri"/>
              </a:rPr>
              <a:t>Reviews, ratings, rate and fee pages live</a:t>
            </a:r>
          </a:p>
        </p:txBody>
      </p:sp>
      <p:sp>
        <p:nvSpPr>
          <p:cNvPr id="58" name="Pentagon 57"/>
          <p:cNvSpPr/>
          <p:nvPr/>
        </p:nvSpPr>
        <p:spPr>
          <a:xfrm>
            <a:off x="4023360" y="1920240"/>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023360" y="1920240"/>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1920240"/>
            <a:ext cx="4297679" cy="566928"/>
          </a:xfrm>
          <a:prstGeom prst="rect">
            <a:avLst/>
          </a:prstGeom>
          <a:noFill/>
        </p:spPr>
        <p:txBody>
          <a:bodyPr wrap="square" lIns="0" rIns="0" tIns="0" bIns="0" anchor="ctr">
            <a:spAutoFit/>
          </a:bodyPr>
          <a:lstStyle/>
          <a:p>
            <a:pPr algn="l"/>
            <a:r>
              <a:rPr sz="1100" b="0">
                <a:solidFill>
                  <a:srgbClr val="152B56"/>
                </a:solidFill>
                <a:latin typeface="Calibri"/>
              </a:rPr>
              <a:t>Search and AI visibility maintained</a:t>
            </a:r>
          </a:p>
        </p:txBody>
      </p:sp>
      <p:sp>
        <p:nvSpPr>
          <p:cNvPr id="61" name="Rounded Rectangle 60"/>
          <p:cNvSpPr/>
          <p:nvPr/>
        </p:nvSpPr>
        <p:spPr>
          <a:xfrm>
            <a:off x="457200" y="2615184"/>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2679192"/>
            <a:ext cx="1737360" cy="256032"/>
          </a:xfrm>
          <a:prstGeom prst="rect">
            <a:avLst/>
          </a:prstGeom>
          <a:noFill/>
        </p:spPr>
        <p:txBody>
          <a:bodyPr wrap="square" lIns="0" rIns="0" tIns="0" bIns="0" anchor="t">
            <a:spAutoFit/>
          </a:bodyPr>
          <a:lstStyle/>
          <a:p>
            <a:pPr algn="l"/>
            <a:r>
              <a:rPr sz="1150" b="1">
                <a:solidFill>
                  <a:srgbClr val="FFFFFF"/>
                </a:solidFill>
                <a:latin typeface="Calibri"/>
              </a:rPr>
              <a:t>Broker channel</a:t>
            </a:r>
          </a:p>
        </p:txBody>
      </p:sp>
      <p:sp>
        <p:nvSpPr>
          <p:cNvPr id="63" name="TextBox 62"/>
          <p:cNvSpPr txBox="1"/>
          <p:nvPr/>
        </p:nvSpPr>
        <p:spPr>
          <a:xfrm>
            <a:off x="594360" y="2926080"/>
            <a:ext cx="1737360" cy="237744"/>
          </a:xfrm>
          <a:prstGeom prst="rect">
            <a:avLst/>
          </a:prstGeom>
          <a:noFill/>
        </p:spPr>
        <p:txBody>
          <a:bodyPr wrap="square" lIns="0" rIns="0" tIns="0" bIns="0" anchor="t">
            <a:spAutoFit/>
          </a:bodyPr>
          <a:lstStyle/>
          <a:p>
            <a:pPr algn="l"/>
            <a:r>
              <a:rPr sz="800" b="0">
                <a:solidFill>
                  <a:srgbClr val="AFC0DA"/>
                </a:solidFill>
                <a:latin typeface="Calibri"/>
              </a:rPr>
              <a:t>Third-party distribution</a:t>
            </a:r>
          </a:p>
        </p:txBody>
      </p:sp>
      <p:sp>
        <p:nvSpPr>
          <p:cNvPr id="64" name="Rounded Rectangle 63"/>
          <p:cNvSpPr/>
          <p:nvPr/>
        </p:nvSpPr>
        <p:spPr>
          <a:xfrm>
            <a:off x="2468880" y="2615184"/>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560320" y="2615184"/>
            <a:ext cx="1325880" cy="566928"/>
          </a:xfrm>
          <a:prstGeom prst="rect">
            <a:avLst/>
          </a:prstGeom>
          <a:noFill/>
        </p:spPr>
        <p:txBody>
          <a:bodyPr wrap="square" lIns="0" rIns="0" tIns="0" bIns="0" anchor="ctr">
            <a:spAutoFit/>
          </a:bodyPr>
          <a:lstStyle/>
          <a:p>
            <a:pPr algn="l"/>
            <a:r>
              <a:rPr sz="950" b="0">
                <a:solidFill>
                  <a:srgbClr val="FFFFFF"/>
                </a:solidFill>
                <a:latin typeface="Calibri"/>
              </a:rPr>
              <a:t>Panel accreditation confirmed</a:t>
            </a:r>
          </a:p>
        </p:txBody>
      </p:sp>
      <p:sp>
        <p:nvSpPr>
          <p:cNvPr id="66" name="Pentagon 65"/>
          <p:cNvSpPr/>
          <p:nvPr/>
        </p:nvSpPr>
        <p:spPr>
          <a:xfrm>
            <a:off x="4023360" y="2615184"/>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023360" y="2615184"/>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06240" y="2615184"/>
            <a:ext cx="4297679" cy="566928"/>
          </a:xfrm>
          <a:prstGeom prst="rect">
            <a:avLst/>
          </a:prstGeom>
          <a:noFill/>
        </p:spPr>
        <p:txBody>
          <a:bodyPr wrap="square" lIns="0" rIns="0" tIns="0" bIns="0" anchor="ctr">
            <a:spAutoFit/>
          </a:bodyPr>
          <a:lstStyle/>
          <a:p>
            <a:pPr algn="l"/>
            <a:r>
              <a:rPr sz="1100" b="0">
                <a:solidFill>
                  <a:srgbClr val="152B56"/>
                </a:solidFill>
                <a:latin typeface="Calibri"/>
              </a:rPr>
              <a:t>Digital proof pack, aggregator listing, BDMs</a:t>
            </a:r>
          </a:p>
        </p:txBody>
      </p:sp>
      <p:sp>
        <p:nvSpPr>
          <p:cNvPr id="69" name="Rounded Rectangle 68"/>
          <p:cNvSpPr/>
          <p:nvPr/>
        </p:nvSpPr>
        <p:spPr>
          <a:xfrm>
            <a:off x="457200" y="3310128"/>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94360" y="3374136"/>
            <a:ext cx="1737360" cy="256032"/>
          </a:xfrm>
          <a:prstGeom prst="rect">
            <a:avLst/>
          </a:prstGeom>
          <a:noFill/>
        </p:spPr>
        <p:txBody>
          <a:bodyPr wrap="square" lIns="0" rIns="0" tIns="0" bIns="0" anchor="t">
            <a:spAutoFit/>
          </a:bodyPr>
          <a:lstStyle/>
          <a:p>
            <a:pPr algn="l"/>
            <a:r>
              <a:rPr sz="1150" b="1">
                <a:solidFill>
                  <a:srgbClr val="FFFFFF"/>
                </a:solidFill>
                <a:latin typeface="Calibri"/>
              </a:rPr>
              <a:t>Member referral</a:t>
            </a:r>
          </a:p>
        </p:txBody>
      </p:sp>
      <p:sp>
        <p:nvSpPr>
          <p:cNvPr id="71" name="TextBox 70"/>
          <p:cNvSpPr txBox="1"/>
          <p:nvPr/>
        </p:nvSpPr>
        <p:spPr>
          <a:xfrm>
            <a:off x="594360" y="3621024"/>
            <a:ext cx="1737360" cy="237744"/>
          </a:xfrm>
          <a:prstGeom prst="rect">
            <a:avLst/>
          </a:prstGeom>
          <a:noFill/>
        </p:spPr>
        <p:txBody>
          <a:bodyPr wrap="square" lIns="0" rIns="0" tIns="0" bIns="0" anchor="t">
            <a:spAutoFit/>
          </a:bodyPr>
          <a:lstStyle/>
          <a:p>
            <a:pPr algn="l"/>
            <a:r>
              <a:rPr sz="800" b="0">
                <a:solidFill>
                  <a:srgbClr val="AFC0DA"/>
                </a:solidFill>
                <a:latin typeface="Calibri"/>
              </a:rPr>
              <a:t>Member experience</a:t>
            </a:r>
          </a:p>
        </p:txBody>
      </p:sp>
      <p:sp>
        <p:nvSpPr>
          <p:cNvPr id="72" name="Rounded Rectangle 71"/>
          <p:cNvSpPr/>
          <p:nvPr/>
        </p:nvSpPr>
        <p:spPr>
          <a:xfrm>
            <a:off x="2468880" y="3310128"/>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0" y="3310128"/>
            <a:ext cx="1325880" cy="566928"/>
          </a:xfrm>
          <a:prstGeom prst="rect">
            <a:avLst/>
          </a:prstGeom>
          <a:noFill/>
        </p:spPr>
        <p:txBody>
          <a:bodyPr wrap="square" lIns="0" rIns="0" tIns="0" bIns="0" anchor="ctr">
            <a:spAutoFit/>
          </a:bodyPr>
          <a:lstStyle/>
          <a:p>
            <a:pPr algn="l"/>
            <a:r>
              <a:rPr sz="950" b="0">
                <a:solidFill>
                  <a:srgbClr val="FFFFFF"/>
                </a:solidFill>
                <a:latin typeface="Calibri"/>
              </a:rPr>
              <a:t>Pilot with XXX members</a:t>
            </a:r>
          </a:p>
        </p:txBody>
      </p:sp>
      <p:sp>
        <p:nvSpPr>
          <p:cNvPr id="74" name="Pentagon 73"/>
          <p:cNvSpPr/>
          <p:nvPr/>
        </p:nvSpPr>
        <p:spPr>
          <a:xfrm>
            <a:off x="4023360" y="3310128"/>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023360" y="3310128"/>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206240" y="3310128"/>
            <a:ext cx="4297679" cy="566928"/>
          </a:xfrm>
          <a:prstGeom prst="rect">
            <a:avLst/>
          </a:prstGeom>
          <a:noFill/>
        </p:spPr>
        <p:txBody>
          <a:bodyPr wrap="square" lIns="0" rIns="0" tIns="0" bIns="0" anchor="ctr">
            <a:spAutoFit/>
          </a:bodyPr>
          <a:lstStyle/>
          <a:p>
            <a:pPr algn="l"/>
            <a:r>
              <a:rPr sz="1100" b="0">
                <a:solidFill>
                  <a:srgbClr val="152B56"/>
                </a:solidFill>
                <a:latin typeface="Calibri"/>
              </a:rPr>
              <a:t>Link to all members; scale if it converts</a:t>
            </a:r>
          </a:p>
        </p:txBody>
      </p:sp>
      <p:sp>
        <p:nvSpPr>
          <p:cNvPr id="77" name="Rounded Rectangle 76"/>
          <p:cNvSpPr/>
          <p:nvPr/>
        </p:nvSpPr>
        <p:spPr>
          <a:xfrm>
            <a:off x="457200" y="4005072"/>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94360" y="4069080"/>
            <a:ext cx="1737360" cy="256032"/>
          </a:xfrm>
          <a:prstGeom prst="rect">
            <a:avLst/>
          </a:prstGeom>
          <a:noFill/>
        </p:spPr>
        <p:txBody>
          <a:bodyPr wrap="square" lIns="0" rIns="0" tIns="0" bIns="0" anchor="t">
            <a:spAutoFit/>
          </a:bodyPr>
          <a:lstStyle/>
          <a:p>
            <a:pPr algn="l"/>
            <a:r>
              <a:rPr sz="1150" b="1">
                <a:solidFill>
                  <a:srgbClr val="FFFFFF"/>
                </a:solidFill>
                <a:latin typeface="Calibri"/>
              </a:rPr>
              <a:t>Measurement</a:t>
            </a:r>
          </a:p>
        </p:txBody>
      </p:sp>
      <p:sp>
        <p:nvSpPr>
          <p:cNvPr id="79" name="TextBox 78"/>
          <p:cNvSpPr txBox="1"/>
          <p:nvPr/>
        </p:nvSpPr>
        <p:spPr>
          <a:xfrm>
            <a:off x="594360" y="4315968"/>
            <a:ext cx="1737360" cy="237744"/>
          </a:xfrm>
          <a:prstGeom prst="rect">
            <a:avLst/>
          </a:prstGeom>
          <a:noFill/>
        </p:spPr>
        <p:txBody>
          <a:bodyPr wrap="square" lIns="0" rIns="0" tIns="0" bIns="0" anchor="t">
            <a:spAutoFit/>
          </a:bodyPr>
          <a:lstStyle/>
          <a:p>
            <a:pPr algn="l"/>
            <a:r>
              <a:rPr sz="800" b="0">
                <a:solidFill>
                  <a:srgbClr val="AFC0DA"/>
                </a:solidFill>
                <a:latin typeface="Calibri"/>
              </a:rPr>
              <a:t>Lending ops owns the 24-hour firm rate</a:t>
            </a:r>
          </a:p>
        </p:txBody>
      </p:sp>
      <p:sp>
        <p:nvSpPr>
          <p:cNvPr id="80" name="Rounded Rectangle 79"/>
          <p:cNvSpPr/>
          <p:nvPr/>
        </p:nvSpPr>
        <p:spPr>
          <a:xfrm>
            <a:off x="2468880" y="4005072"/>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560320" y="4005072"/>
            <a:ext cx="1325880" cy="566928"/>
          </a:xfrm>
          <a:prstGeom prst="rect">
            <a:avLst/>
          </a:prstGeom>
          <a:noFill/>
        </p:spPr>
        <p:txBody>
          <a:bodyPr wrap="square" lIns="0" rIns="0" tIns="0" bIns="0" anchor="ctr">
            <a:spAutoFit/>
          </a:bodyPr>
          <a:lstStyle/>
          <a:p>
            <a:pPr algn="l"/>
            <a:r>
              <a:rPr sz="950" b="0">
                <a:solidFill>
                  <a:srgbClr val="FFFFFF"/>
                </a:solidFill>
                <a:latin typeface="Calibri"/>
              </a:rPr>
              <a:t>Baseline and dashboards</a:t>
            </a:r>
          </a:p>
        </p:txBody>
      </p:sp>
      <p:sp>
        <p:nvSpPr>
          <p:cNvPr id="82" name="Pentagon 81"/>
          <p:cNvSpPr/>
          <p:nvPr/>
        </p:nvSpPr>
        <p:spPr>
          <a:xfrm>
            <a:off x="4023360" y="4005072"/>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023360" y="4005072"/>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206240" y="4005072"/>
            <a:ext cx="4297679" cy="566928"/>
          </a:xfrm>
          <a:prstGeom prst="rect">
            <a:avLst/>
          </a:prstGeom>
          <a:noFill/>
        </p:spPr>
        <p:txBody>
          <a:bodyPr wrap="square" lIns="0" rIns="0" tIns="0" bIns="0" anchor="ctr">
            <a:spAutoFit/>
          </a:bodyPr>
          <a:lstStyle/>
          <a:p>
            <a:pPr algn="l"/>
            <a:r>
              <a:rPr sz="1100" b="0">
                <a:solidFill>
                  <a:srgbClr val="152B56"/>
                </a:solidFill>
                <a:latin typeface="Calibri"/>
              </a:rPr>
              <a:t>Quarterly review; cut what does not convert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Lead indicators show within a quarter whether AMB is reaching shortlists; lag indicators show the cost of each funded loan</a:t>
            </a:r>
            <a:endParaRPr lang="en-US" sz="2000" dirty="0"/>
          </a:p>
        </p:txBody>
      </p:sp>
      <p:sp>
        <p:nvSpPr>
          <p:cNvPr id="19" name="Text 14"/>
          <p:cNvSpPr txBox="1"/>
          <p:nvPr/>
        </p:nvSpPr>
        <p:spPr>
          <a:xfrm>
            <a:off x="457200" y="4645152"/>
            <a:ext cx="576072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Lead and lag structure per brief step 8. ROI inputs to be sourced from AMB and ABS Lending Indicators before final submission.</a:t>
            </a:r>
            <a:endParaRPr lang="en-US" sz="1000" dirty="0"/>
          </a:p>
        </p:txBody>
      </p:sp>
      <p:sp>
        <p:nvSpPr>
          <p:cNvPr id="21" name="Rounded Rectangle 20"/>
          <p:cNvSpPr/>
          <p:nvPr/>
        </p:nvSpPr>
        <p:spPr>
          <a:xfrm>
            <a:off x="457200" y="1280160"/>
            <a:ext cx="2743200" cy="3246120"/>
          </a:xfrm>
          <a:prstGeom prst="roundRect">
            <a:avLst>
              <a:gd name="adj" fmla="val 3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280160"/>
            <a:ext cx="2743200" cy="54864"/>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1444752"/>
            <a:ext cx="2377440" cy="201168"/>
          </a:xfrm>
          <a:prstGeom prst="rect">
            <a:avLst/>
          </a:prstGeom>
          <a:noFill/>
        </p:spPr>
        <p:txBody>
          <a:bodyPr wrap="square" lIns="0" rIns="0" tIns="0" bIns="0" anchor="t">
            <a:spAutoFit/>
          </a:bodyPr>
          <a:lstStyle/>
          <a:p>
            <a:pPr algn="l"/>
            <a:r>
              <a:rPr sz="950" b="1">
                <a:solidFill>
                  <a:srgbClr val="152B56"/>
                </a:solidFill>
                <a:latin typeface="Calibri"/>
              </a:rPr>
              <a:t>WITHIN A QUARTER</a:t>
            </a:r>
          </a:p>
        </p:txBody>
      </p:sp>
      <p:sp>
        <p:nvSpPr>
          <p:cNvPr id="24" name="TextBox 23"/>
          <p:cNvSpPr txBox="1"/>
          <p:nvPr/>
        </p:nvSpPr>
        <p:spPr>
          <a:xfrm>
            <a:off x="640080" y="1645920"/>
            <a:ext cx="2377440" cy="365760"/>
          </a:xfrm>
          <a:prstGeom prst="rect">
            <a:avLst/>
          </a:prstGeom>
          <a:noFill/>
        </p:spPr>
        <p:txBody>
          <a:bodyPr wrap="square" lIns="0" rIns="0" tIns="0" bIns="0" anchor="t">
            <a:spAutoFit/>
          </a:bodyPr>
          <a:lstStyle/>
          <a:p>
            <a:pPr algn="l"/>
            <a:r>
              <a:rPr sz="1700" b="1">
                <a:solidFill>
                  <a:srgbClr val="152B56"/>
                </a:solidFill>
                <a:latin typeface="Cambria"/>
              </a:rPr>
              <a:t>Lead indicators</a:t>
            </a:r>
          </a:p>
        </p:txBody>
      </p:sp>
      <p:sp>
        <p:nvSpPr>
          <p:cNvPr id="25" name="Oval 24"/>
          <p:cNvSpPr/>
          <p:nvPr/>
        </p:nvSpPr>
        <p:spPr>
          <a:xfrm>
            <a:off x="640080" y="2212848"/>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2212848"/>
            <a:ext cx="274320" cy="274320"/>
          </a:xfrm>
          <a:prstGeom prst="rect">
            <a:avLst/>
          </a:prstGeom>
          <a:noFill/>
        </p:spPr>
        <p:txBody>
          <a:bodyPr wrap="square" lIns="0" rIns="0" tIns="0" bIns="0" anchor="ctr">
            <a:spAutoFit/>
          </a:bodyPr>
          <a:lstStyle/>
          <a:p>
            <a:pPr algn="ctr"/>
            <a:r>
              <a:rPr sz="1000" b="1">
                <a:solidFill>
                  <a:srgbClr val="FFFFFF"/>
                </a:solidFill>
                <a:latin typeface="Calibri"/>
              </a:rPr>
              <a:t>1</a:t>
            </a:r>
          </a:p>
        </p:txBody>
      </p:sp>
      <p:sp>
        <p:nvSpPr>
          <p:cNvPr id="27" name="TextBox 26"/>
          <p:cNvSpPr txBox="1"/>
          <p:nvPr/>
        </p:nvSpPr>
        <p:spPr>
          <a:xfrm>
            <a:off x="1024128" y="2176272"/>
            <a:ext cx="2057400" cy="502920"/>
          </a:xfrm>
          <a:prstGeom prst="rect">
            <a:avLst/>
          </a:prstGeom>
          <a:noFill/>
        </p:spPr>
        <p:txBody>
          <a:bodyPr wrap="square" lIns="0" rIns="0" tIns="0" bIns="0" anchor="ctr">
            <a:spAutoFit/>
          </a:bodyPr>
          <a:lstStyle/>
          <a:p>
            <a:pPr algn="l"/>
            <a:r>
              <a:rPr sz="1000" b="0">
                <a:solidFill>
                  <a:srgbClr val="152B56"/>
                </a:solidFill>
                <a:latin typeface="Calibri"/>
              </a:rPr>
              <a:t>Branded search volume, reviews and rating (target XXX)</a:t>
            </a:r>
          </a:p>
        </p:txBody>
      </p:sp>
      <p:sp>
        <p:nvSpPr>
          <p:cNvPr id="28" name="Oval 27"/>
          <p:cNvSpPr/>
          <p:nvPr/>
        </p:nvSpPr>
        <p:spPr>
          <a:xfrm>
            <a:off x="640080" y="2779776"/>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2779776"/>
            <a:ext cx="274320" cy="274320"/>
          </a:xfrm>
          <a:prstGeom prst="rect">
            <a:avLst/>
          </a:prstGeom>
          <a:noFill/>
        </p:spPr>
        <p:txBody>
          <a:bodyPr wrap="square" lIns="0" rIns="0" tIns="0" bIns="0" anchor="ctr">
            <a:spAutoFit/>
          </a:bodyPr>
          <a:lstStyle/>
          <a:p>
            <a:pPr algn="ctr"/>
            <a:r>
              <a:rPr sz="1000" b="1">
                <a:solidFill>
                  <a:srgbClr val="FFFFFF"/>
                </a:solidFill>
                <a:latin typeface="Calibri"/>
              </a:rPr>
              <a:t>2</a:t>
            </a:r>
          </a:p>
        </p:txBody>
      </p:sp>
      <p:sp>
        <p:nvSpPr>
          <p:cNvPr id="30" name="TextBox 29"/>
          <p:cNvSpPr txBox="1"/>
          <p:nvPr/>
        </p:nvSpPr>
        <p:spPr>
          <a:xfrm>
            <a:off x="1024128" y="2743200"/>
            <a:ext cx="2057400" cy="502920"/>
          </a:xfrm>
          <a:prstGeom prst="rect">
            <a:avLst/>
          </a:prstGeom>
          <a:noFill/>
        </p:spPr>
        <p:txBody>
          <a:bodyPr wrap="square" lIns="0" rIns="0" tIns="0" bIns="0" anchor="ctr">
            <a:spAutoFit/>
          </a:bodyPr>
          <a:lstStyle/>
          <a:p>
            <a:pPr algn="l"/>
            <a:r>
              <a:rPr sz="1000" b="0">
                <a:solidFill>
                  <a:srgbClr val="152B56"/>
                </a:solidFill>
                <a:latin typeface="Calibri"/>
              </a:rPr>
              <a:t>Broker accreditations live; submissions per broker</a:t>
            </a:r>
          </a:p>
        </p:txBody>
      </p:sp>
      <p:sp>
        <p:nvSpPr>
          <p:cNvPr id="31" name="Oval 30"/>
          <p:cNvSpPr/>
          <p:nvPr/>
        </p:nvSpPr>
        <p:spPr>
          <a:xfrm>
            <a:off x="640080" y="3346704"/>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346704"/>
            <a:ext cx="274320" cy="274320"/>
          </a:xfrm>
          <a:prstGeom prst="rect">
            <a:avLst/>
          </a:prstGeom>
          <a:noFill/>
        </p:spPr>
        <p:txBody>
          <a:bodyPr wrap="square" lIns="0" rIns="0" tIns="0" bIns="0" anchor="ctr">
            <a:spAutoFit/>
          </a:bodyPr>
          <a:lstStyle/>
          <a:p>
            <a:pPr algn="ctr"/>
            <a:r>
              <a:rPr sz="1000" b="1">
                <a:solidFill>
                  <a:srgbClr val="FFFFFF"/>
                </a:solidFill>
                <a:latin typeface="Calibri"/>
              </a:rPr>
              <a:t>3</a:t>
            </a:r>
          </a:p>
        </p:txBody>
      </p:sp>
      <p:sp>
        <p:nvSpPr>
          <p:cNvPr id="33" name="TextBox 32"/>
          <p:cNvSpPr txBox="1"/>
          <p:nvPr/>
        </p:nvSpPr>
        <p:spPr>
          <a:xfrm>
            <a:off x="1024128" y="3310128"/>
            <a:ext cx="2057400" cy="502920"/>
          </a:xfrm>
          <a:prstGeom prst="rect">
            <a:avLst/>
          </a:prstGeom>
          <a:noFill/>
        </p:spPr>
        <p:txBody>
          <a:bodyPr wrap="square" lIns="0" rIns="0" tIns="0" bIns="0" anchor="ctr">
            <a:spAutoFit/>
          </a:bodyPr>
          <a:lstStyle/>
          <a:p>
            <a:pPr algn="l"/>
            <a:r>
              <a:rPr sz="1000" b="0">
                <a:solidFill>
                  <a:srgbClr val="152B56"/>
                </a:solidFill>
                <a:latin typeface="Calibri"/>
              </a:rPr>
              <a:t>Referral links sent, offers uploaded, firm rates issued</a:t>
            </a:r>
          </a:p>
        </p:txBody>
      </p:sp>
      <p:sp>
        <p:nvSpPr>
          <p:cNvPr id="34" name="Oval 33"/>
          <p:cNvSpPr/>
          <p:nvPr/>
        </p:nvSpPr>
        <p:spPr>
          <a:xfrm>
            <a:off x="640080" y="3913632"/>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3913632"/>
            <a:ext cx="274320" cy="274320"/>
          </a:xfrm>
          <a:prstGeom prst="rect">
            <a:avLst/>
          </a:prstGeom>
          <a:noFill/>
        </p:spPr>
        <p:txBody>
          <a:bodyPr wrap="square" lIns="0" rIns="0" tIns="0" bIns="0" anchor="ctr">
            <a:spAutoFit/>
          </a:bodyPr>
          <a:lstStyle/>
          <a:p>
            <a:pPr algn="ctr"/>
            <a:r>
              <a:rPr sz="1000" b="1">
                <a:solidFill>
                  <a:srgbClr val="FFFFFF"/>
                </a:solidFill>
                <a:latin typeface="Calibri"/>
              </a:rPr>
              <a:t>4</a:t>
            </a:r>
          </a:p>
        </p:txBody>
      </p:sp>
      <p:sp>
        <p:nvSpPr>
          <p:cNvPr id="36" name="TextBox 35"/>
          <p:cNvSpPr txBox="1"/>
          <p:nvPr/>
        </p:nvSpPr>
        <p:spPr>
          <a:xfrm>
            <a:off x="1024128" y="3877056"/>
            <a:ext cx="2057400" cy="502920"/>
          </a:xfrm>
          <a:prstGeom prst="rect">
            <a:avLst/>
          </a:prstGeom>
          <a:noFill/>
        </p:spPr>
        <p:txBody>
          <a:bodyPr wrap="square" lIns="0" rIns="0" tIns="0" bIns="0" anchor="ctr">
            <a:spAutoFit/>
          </a:bodyPr>
          <a:lstStyle/>
          <a:p>
            <a:pPr algn="l"/>
            <a:r>
              <a:rPr sz="1000" b="0">
                <a:solidFill>
                  <a:srgbClr val="152B56"/>
                </a:solidFill>
                <a:latin typeface="Calibri"/>
              </a:rPr>
              <a:t>Time to firm rate (target 24h) and to conditional approval (48h)</a:t>
            </a:r>
          </a:p>
        </p:txBody>
      </p:sp>
      <p:sp>
        <p:nvSpPr>
          <p:cNvPr id="37" name="Rounded Rectangle 36"/>
          <p:cNvSpPr/>
          <p:nvPr/>
        </p:nvSpPr>
        <p:spPr>
          <a:xfrm>
            <a:off x="3520440" y="1280160"/>
            <a:ext cx="2743200" cy="3246120"/>
          </a:xfrm>
          <a:prstGeom prst="roundRect">
            <a:avLst>
              <a:gd name="adj" fmla="val 3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520440" y="1280160"/>
            <a:ext cx="2743200" cy="54864"/>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03320" y="1444752"/>
            <a:ext cx="2377440" cy="201168"/>
          </a:xfrm>
          <a:prstGeom prst="rect">
            <a:avLst/>
          </a:prstGeom>
          <a:noFill/>
        </p:spPr>
        <p:txBody>
          <a:bodyPr wrap="square" lIns="0" rIns="0" tIns="0" bIns="0" anchor="t">
            <a:spAutoFit/>
          </a:bodyPr>
          <a:lstStyle/>
          <a:p>
            <a:pPr algn="l"/>
            <a:r>
              <a:rPr sz="950" b="1">
                <a:solidFill>
                  <a:srgbClr val="1F8F74"/>
                </a:solidFill>
                <a:latin typeface="Calibri"/>
              </a:rPr>
              <a:t>WITHIN A YEAR</a:t>
            </a:r>
          </a:p>
        </p:txBody>
      </p:sp>
      <p:sp>
        <p:nvSpPr>
          <p:cNvPr id="40" name="TextBox 39"/>
          <p:cNvSpPr txBox="1"/>
          <p:nvPr/>
        </p:nvSpPr>
        <p:spPr>
          <a:xfrm>
            <a:off x="3703320" y="1645920"/>
            <a:ext cx="2377440" cy="365760"/>
          </a:xfrm>
          <a:prstGeom prst="rect">
            <a:avLst/>
          </a:prstGeom>
          <a:noFill/>
        </p:spPr>
        <p:txBody>
          <a:bodyPr wrap="square" lIns="0" rIns="0" tIns="0" bIns="0" anchor="t">
            <a:spAutoFit/>
          </a:bodyPr>
          <a:lstStyle/>
          <a:p>
            <a:pPr algn="l"/>
            <a:r>
              <a:rPr sz="1700" b="1">
                <a:solidFill>
                  <a:srgbClr val="152B56"/>
                </a:solidFill>
                <a:latin typeface="Cambria"/>
              </a:rPr>
              <a:t>Lag indicators</a:t>
            </a:r>
          </a:p>
        </p:txBody>
      </p:sp>
      <p:sp>
        <p:nvSpPr>
          <p:cNvPr id="41" name="Oval 40"/>
          <p:cNvSpPr/>
          <p:nvPr/>
        </p:nvSpPr>
        <p:spPr>
          <a:xfrm>
            <a:off x="3703320" y="2212848"/>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03320" y="2212848"/>
            <a:ext cx="274320" cy="274320"/>
          </a:xfrm>
          <a:prstGeom prst="rect">
            <a:avLst/>
          </a:prstGeom>
          <a:noFill/>
        </p:spPr>
        <p:txBody>
          <a:bodyPr wrap="square" lIns="0" rIns="0" tIns="0" bIns="0" anchor="ctr">
            <a:spAutoFit/>
          </a:bodyPr>
          <a:lstStyle/>
          <a:p>
            <a:pPr algn="ctr"/>
            <a:r>
              <a:rPr sz="1000" b="1">
                <a:solidFill>
                  <a:srgbClr val="FFFFFF"/>
                </a:solidFill>
                <a:latin typeface="Calibri"/>
              </a:rPr>
              <a:t>1</a:t>
            </a:r>
          </a:p>
        </p:txBody>
      </p:sp>
      <p:sp>
        <p:nvSpPr>
          <p:cNvPr id="43" name="TextBox 42"/>
          <p:cNvSpPr txBox="1"/>
          <p:nvPr/>
        </p:nvSpPr>
        <p:spPr>
          <a:xfrm>
            <a:off x="4087368" y="2176272"/>
            <a:ext cx="2057400" cy="502920"/>
          </a:xfrm>
          <a:prstGeom prst="rect">
            <a:avLst/>
          </a:prstGeom>
          <a:noFill/>
        </p:spPr>
        <p:txBody>
          <a:bodyPr wrap="square" lIns="0" rIns="0" tIns="0" bIns="0" anchor="ctr">
            <a:spAutoFit/>
          </a:bodyPr>
          <a:lstStyle/>
          <a:p>
            <a:pPr algn="l"/>
            <a:r>
              <a:rPr sz="1000" b="0">
                <a:solidFill>
                  <a:srgbClr val="152B56"/>
                </a:solidFill>
                <a:latin typeface="Calibri"/>
              </a:rPr>
              <a:t>Shortlist inclusion rate, from a shopper survey</a:t>
            </a:r>
          </a:p>
        </p:txBody>
      </p:sp>
      <p:sp>
        <p:nvSpPr>
          <p:cNvPr id="44" name="Oval 43"/>
          <p:cNvSpPr/>
          <p:nvPr/>
        </p:nvSpPr>
        <p:spPr>
          <a:xfrm>
            <a:off x="3703320" y="2779776"/>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703320" y="2779776"/>
            <a:ext cx="274320" cy="274320"/>
          </a:xfrm>
          <a:prstGeom prst="rect">
            <a:avLst/>
          </a:prstGeom>
          <a:noFill/>
        </p:spPr>
        <p:txBody>
          <a:bodyPr wrap="square" lIns="0" rIns="0" tIns="0" bIns="0" anchor="ctr">
            <a:spAutoFit/>
          </a:bodyPr>
          <a:lstStyle/>
          <a:p>
            <a:pPr algn="ctr"/>
            <a:r>
              <a:rPr sz="1000" b="1">
                <a:solidFill>
                  <a:srgbClr val="FFFFFF"/>
                </a:solidFill>
                <a:latin typeface="Calibri"/>
              </a:rPr>
              <a:t>2</a:t>
            </a:r>
          </a:p>
        </p:txBody>
      </p:sp>
      <p:sp>
        <p:nvSpPr>
          <p:cNvPr id="46" name="TextBox 45"/>
          <p:cNvSpPr txBox="1"/>
          <p:nvPr/>
        </p:nvSpPr>
        <p:spPr>
          <a:xfrm>
            <a:off x="4087368" y="2743200"/>
            <a:ext cx="2057400" cy="502920"/>
          </a:xfrm>
          <a:prstGeom prst="rect">
            <a:avLst/>
          </a:prstGeom>
          <a:noFill/>
        </p:spPr>
        <p:txBody>
          <a:bodyPr wrap="square" lIns="0" rIns="0" tIns="0" bIns="0" anchor="ctr">
            <a:spAutoFit/>
          </a:bodyPr>
          <a:lstStyle/>
          <a:p>
            <a:pPr algn="l"/>
            <a:r>
              <a:rPr sz="1000" b="0">
                <a:solidFill>
                  <a:srgbClr val="152B56"/>
                </a:solidFill>
                <a:latin typeface="Calibri"/>
              </a:rPr>
              <a:t>Conversion when AMB is shown, by channel</a:t>
            </a:r>
          </a:p>
        </p:txBody>
      </p:sp>
      <p:sp>
        <p:nvSpPr>
          <p:cNvPr id="47" name="Oval 46"/>
          <p:cNvSpPr/>
          <p:nvPr/>
        </p:nvSpPr>
        <p:spPr>
          <a:xfrm>
            <a:off x="3703320" y="3346704"/>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703320" y="3346704"/>
            <a:ext cx="274320" cy="274320"/>
          </a:xfrm>
          <a:prstGeom prst="rect">
            <a:avLst/>
          </a:prstGeom>
          <a:noFill/>
        </p:spPr>
        <p:txBody>
          <a:bodyPr wrap="square" lIns="0" rIns="0" tIns="0" bIns="0" anchor="ctr">
            <a:spAutoFit/>
          </a:bodyPr>
          <a:lstStyle/>
          <a:p>
            <a:pPr algn="ctr"/>
            <a:r>
              <a:rPr sz="1000" b="1">
                <a:solidFill>
                  <a:srgbClr val="FFFFFF"/>
                </a:solidFill>
                <a:latin typeface="Calibri"/>
              </a:rPr>
              <a:t>3</a:t>
            </a:r>
          </a:p>
        </p:txBody>
      </p:sp>
      <p:sp>
        <p:nvSpPr>
          <p:cNvPr id="49" name="TextBox 48"/>
          <p:cNvSpPr txBox="1"/>
          <p:nvPr/>
        </p:nvSpPr>
        <p:spPr>
          <a:xfrm>
            <a:off x="4087368" y="3310128"/>
            <a:ext cx="2057400" cy="502920"/>
          </a:xfrm>
          <a:prstGeom prst="rect">
            <a:avLst/>
          </a:prstGeom>
          <a:noFill/>
        </p:spPr>
        <p:txBody>
          <a:bodyPr wrap="square" lIns="0" rIns="0" tIns="0" bIns="0" anchor="ctr">
            <a:spAutoFit/>
          </a:bodyPr>
          <a:lstStyle/>
          <a:p>
            <a:pPr algn="l"/>
            <a:r>
              <a:rPr sz="1000" b="0">
                <a:solidFill>
                  <a:srgbClr val="152B56"/>
                </a:solidFill>
                <a:latin typeface="Calibri"/>
              </a:rPr>
              <a:t>Funded loans and cost per funded loan, by channel</a:t>
            </a:r>
          </a:p>
        </p:txBody>
      </p:sp>
      <p:sp>
        <p:nvSpPr>
          <p:cNvPr id="50" name="Oval 49"/>
          <p:cNvSpPr/>
          <p:nvPr/>
        </p:nvSpPr>
        <p:spPr>
          <a:xfrm>
            <a:off x="3703320" y="3913632"/>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703320" y="3913632"/>
            <a:ext cx="274320" cy="274320"/>
          </a:xfrm>
          <a:prstGeom prst="rect">
            <a:avLst/>
          </a:prstGeom>
          <a:noFill/>
        </p:spPr>
        <p:txBody>
          <a:bodyPr wrap="square" lIns="0" rIns="0" tIns="0" bIns="0" anchor="ctr">
            <a:spAutoFit/>
          </a:bodyPr>
          <a:lstStyle/>
          <a:p>
            <a:pPr algn="ctr"/>
            <a:r>
              <a:rPr sz="1000" b="1">
                <a:solidFill>
                  <a:srgbClr val="FFFFFF"/>
                </a:solidFill>
                <a:latin typeface="Calibri"/>
              </a:rPr>
              <a:t>4</a:t>
            </a:r>
          </a:p>
        </p:txBody>
      </p:sp>
      <p:sp>
        <p:nvSpPr>
          <p:cNvPr id="52" name="TextBox 51"/>
          <p:cNvSpPr txBox="1"/>
          <p:nvPr/>
        </p:nvSpPr>
        <p:spPr>
          <a:xfrm>
            <a:off x="4087368" y="3877056"/>
            <a:ext cx="2057400" cy="502920"/>
          </a:xfrm>
          <a:prstGeom prst="rect">
            <a:avLst/>
          </a:prstGeom>
          <a:noFill/>
        </p:spPr>
        <p:txBody>
          <a:bodyPr wrap="square" lIns="0" rIns="0" tIns="0" bIns="0" anchor="ctr">
            <a:spAutoFit/>
          </a:bodyPr>
          <a:lstStyle/>
          <a:p>
            <a:pPr algn="l"/>
            <a:r>
              <a:rPr sz="1000" b="0">
                <a:solidFill>
                  <a:srgbClr val="152B56"/>
                </a:solidFill>
                <a:latin typeface="Calibri"/>
              </a:rPr>
              <a:t>Members retained at 12 months; referrals per new member</a:t>
            </a:r>
          </a:p>
        </p:txBody>
      </p:sp>
      <p:sp>
        <p:nvSpPr>
          <p:cNvPr id="53" name="Chevron 52"/>
          <p:cNvSpPr/>
          <p:nvPr/>
        </p:nvSpPr>
        <p:spPr>
          <a:xfrm>
            <a:off x="3218688" y="2697480"/>
            <a:ext cx="256032" cy="365760"/>
          </a:xfrm>
          <a:prstGeom prst="chevron">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Chevron 53"/>
          <p:cNvSpPr/>
          <p:nvPr/>
        </p:nvSpPr>
        <p:spPr>
          <a:xfrm>
            <a:off x="6281928" y="2697480"/>
            <a:ext cx="256032" cy="365760"/>
          </a:xfrm>
          <a:prstGeom prst="chevron">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629400" y="1280160"/>
            <a:ext cx="2514600" cy="3863339"/>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amb_mark_white_faint.png"/>
          <p:cNvPicPr>
            <a:picLocks noChangeAspect="1"/>
          </p:cNvPicPr>
          <p:nvPr/>
        </p:nvPicPr>
        <p:blipFill>
          <a:blip r:embed="rId5"/>
          <a:stretch>
            <a:fillRect/>
          </a:stretch>
        </p:blipFill>
        <p:spPr>
          <a:xfrm>
            <a:off x="6492240" y="3566160"/>
            <a:ext cx="2651760" cy="1554480"/>
          </a:xfrm>
          <a:prstGeom prst="rect">
            <a:avLst/>
          </a:prstGeom>
        </p:spPr>
      </p:pic>
      <p:sp>
        <p:nvSpPr>
          <p:cNvPr id="57" name="TextBox 56"/>
          <p:cNvSpPr txBox="1"/>
          <p:nvPr/>
        </p:nvSpPr>
        <p:spPr>
          <a:xfrm>
            <a:off x="6858000" y="1444752"/>
            <a:ext cx="2011680" cy="201168"/>
          </a:xfrm>
          <a:prstGeom prst="rect">
            <a:avLst/>
          </a:prstGeom>
          <a:noFill/>
        </p:spPr>
        <p:txBody>
          <a:bodyPr wrap="square" lIns="0" rIns="0" tIns="0" bIns="0" anchor="t">
            <a:spAutoFit/>
          </a:bodyPr>
          <a:lstStyle/>
          <a:p>
            <a:pPr algn="l"/>
            <a:r>
              <a:rPr sz="950" b="1">
                <a:solidFill>
                  <a:srgbClr val="7FD6BC"/>
                </a:solidFill>
                <a:latin typeface="Calibri"/>
              </a:rPr>
              <a:t>RETURN ON THE $750K</a:t>
            </a:r>
          </a:p>
        </p:txBody>
      </p:sp>
      <p:sp>
        <p:nvSpPr>
          <p:cNvPr id="58" name="TextBox 57"/>
          <p:cNvSpPr txBox="1"/>
          <p:nvPr/>
        </p:nvSpPr>
        <p:spPr>
          <a:xfrm>
            <a:off x="6858000" y="1691640"/>
            <a:ext cx="2103120" cy="731520"/>
          </a:xfrm>
          <a:prstGeom prst="rect">
            <a:avLst/>
          </a:prstGeom>
          <a:noFill/>
        </p:spPr>
        <p:txBody>
          <a:bodyPr wrap="square" lIns="0" rIns="0" tIns="0" bIns="0" anchor="t">
            <a:spAutoFit/>
          </a:bodyPr>
          <a:lstStyle/>
          <a:p>
            <a:pPr algn="l"/>
            <a:r>
              <a:rPr sz="4200" b="1">
                <a:solidFill>
                  <a:srgbClr val="7FD6BC"/>
                </a:solidFill>
                <a:latin typeface="Cambria"/>
              </a:rPr>
              <a:t>XXX x</a:t>
            </a:r>
          </a:p>
        </p:txBody>
      </p:sp>
      <p:cxnSp>
        <p:nvCxnSpPr>
          <p:cNvPr id="59" name="Connector 58"/>
          <p:cNvCxnSpPr/>
          <p:nvPr/>
        </p:nvCxnSpPr>
        <p:spPr>
          <a:xfrm>
            <a:off x="6858000" y="2606040"/>
            <a:ext cx="201168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6858000" y="2670048"/>
            <a:ext cx="2011680" cy="548640"/>
          </a:xfrm>
          <a:prstGeom prst="rect">
            <a:avLst/>
          </a:prstGeom>
          <a:noFill/>
        </p:spPr>
        <p:txBody>
          <a:bodyPr wrap="square" lIns="0" rIns="0" tIns="0" bIns="0" anchor="t">
            <a:spAutoFit/>
          </a:bodyPr>
          <a:lstStyle/>
          <a:p>
            <a:pPr algn="l"/>
            <a:r>
              <a:rPr sz="1000" b="1">
                <a:solidFill>
                  <a:srgbClr val="FFFFFF"/>
                </a:solidFill>
                <a:latin typeface="Calibri"/>
              </a:rPr>
              <a:t>$750k ÷ cost per funded loan ($XXX)</a:t>
            </a:r>
          </a:p>
          <a:p>
            <a:pPr algn="l"/>
            <a:r>
              <a:rPr sz="900" b="0">
                <a:solidFill>
                  <a:srgbClr val="AFC0DA"/>
                </a:solidFill>
                <a:latin typeface="Calibri"/>
              </a:rPr>
              <a:t>= XXX funded loans</a:t>
            </a:r>
          </a:p>
        </p:txBody>
      </p:sp>
      <p:cxnSp>
        <p:nvCxnSpPr>
          <p:cNvPr id="61" name="Connector 60"/>
          <p:cNvCxnSpPr/>
          <p:nvPr/>
        </p:nvCxnSpPr>
        <p:spPr>
          <a:xfrm>
            <a:off x="6858000" y="3246120"/>
            <a:ext cx="201168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0" y="3310127"/>
            <a:ext cx="2011680" cy="548640"/>
          </a:xfrm>
          <a:prstGeom prst="rect">
            <a:avLst/>
          </a:prstGeom>
          <a:noFill/>
        </p:spPr>
        <p:txBody>
          <a:bodyPr wrap="square" lIns="0" rIns="0" tIns="0" bIns="0" anchor="t">
            <a:spAutoFit/>
          </a:bodyPr>
          <a:lstStyle/>
          <a:p>
            <a:pPr algn="l"/>
            <a:r>
              <a:rPr sz="1000" b="1">
                <a:solidFill>
                  <a:srgbClr val="FFFFFF"/>
                </a:solidFill>
                <a:latin typeface="Calibri"/>
              </a:rPr>
              <a:t>× lifetime margin per loan</a:t>
            </a:r>
          </a:p>
          <a:p>
            <a:pPr algn="l"/>
            <a:r>
              <a:rPr sz="900" b="0">
                <a:solidFill>
                  <a:srgbClr val="AFC0DA"/>
                </a:solidFill>
                <a:latin typeface="Calibri"/>
              </a:rPr>
              <a:t>$614k avg (ABS) × NIM (XXX%) × life (XXX yrs)</a:t>
            </a:r>
          </a:p>
        </p:txBody>
      </p:sp>
      <p:cxnSp>
        <p:nvCxnSpPr>
          <p:cNvPr id="63" name="Connector 62"/>
          <p:cNvCxnSpPr/>
          <p:nvPr/>
        </p:nvCxnSpPr>
        <p:spPr>
          <a:xfrm>
            <a:off x="6858000" y="3886200"/>
            <a:ext cx="201168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858000" y="3950208"/>
            <a:ext cx="2011680" cy="548640"/>
          </a:xfrm>
          <a:prstGeom prst="rect">
            <a:avLst/>
          </a:prstGeom>
          <a:noFill/>
        </p:spPr>
        <p:txBody>
          <a:bodyPr wrap="square" lIns="0" rIns="0" tIns="0" bIns="0" anchor="t">
            <a:spAutoFit/>
          </a:bodyPr>
          <a:lstStyle/>
          <a:p>
            <a:pPr algn="l"/>
            <a:r>
              <a:rPr sz="1000" b="1">
                <a:solidFill>
                  <a:srgbClr val="FFFFFF"/>
                </a:solidFill>
                <a:latin typeface="Calibri"/>
              </a:rPr>
              <a:t>Return</a:t>
            </a:r>
          </a:p>
          <a:p>
            <a:pPr algn="l"/>
            <a:r>
              <a:rPr sz="900" b="0">
                <a:solidFill>
                  <a:srgbClr val="AFC0DA"/>
                </a:solidFill>
                <a:latin typeface="Calibri"/>
              </a:rPr>
              <a:t>= total lifetime margin ÷ $750k</a:t>
            </a:r>
          </a:p>
        </p:txBody>
      </p:sp>
      <p:sp>
        <p:nvSpPr>
          <p:cNvPr id="20" name="Text 1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2B56"/>
        </a:solidFill>
      </p:bgPr>
    </p:bg>
    <p:spTree>
      <p:nvGrpSpPr>
        <p:cNvPr id="1" name=""/>
        <p:cNvGrpSpPr/>
        <p:nvPr/>
      </p:nvGrpSpPr>
      <p:grpSpPr>
        <a:xfrm>
          <a:off x="0" y="0"/>
          <a:ext cx="0" cy="0"/>
          <a:chOff x="0" y="0"/>
          <a:chExt cx="0" cy="0"/>
        </a:xfrm>
      </p:grpSpPr>
      <p:pic>
        <p:nvPicPr>
          <p:cNvPr id="2" name="Picture 1" descr="slide14_bg.jpg"/>
          <p:cNvPicPr>
            <a:picLocks noChangeAspect="1"/>
          </p:cNvPicPr>
          <p:nvPr/>
        </p:nvPicPr>
        <p:blipFill>
          <a:blip r:embed="rId7"/>
          <a:stretch>
            <a:fillRect/>
          </a:stretch>
        </p:blipFill>
        <p:spPr>
          <a:xfrm>
            <a:off x="0" y="0"/>
            <a:ext cx="4572000" cy="5143500"/>
          </a:xfrm>
          <a:prstGeom prst="rect">
            <a:avLst/>
          </a:prstGeom>
        </p:spPr>
      </p:pic>
      <p:sp>
        <p:nvSpPr>
          <p:cNvPr id="3" name="Rectangle 2"/>
          <p:cNvSpPr/>
          <p:nvPr/>
        </p:nvSpPr>
        <p:spPr>
          <a:xfrm>
            <a:off x="4572000" y="0"/>
            <a:ext cx="4572000" cy="51435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8"/>
          <a:stretch>
            <a:fillRect/>
          </a:stretch>
        </p:blipFill>
        <p:spPr>
          <a:xfrm>
            <a:off x="4952000" y="380000"/>
            <a:ext cx="1074231" cy="330000"/>
          </a:xfrm>
          <a:prstGeom prst="rect">
            <a:avLst/>
          </a:prstGeom>
        </p:spPr>
      </p:pic>
      <p:sp>
        <p:nvSpPr>
          <p:cNvPr id="5" name="TextBox 4"/>
          <p:cNvSpPr txBox="1"/>
          <p:nvPr/>
        </p:nvSpPr>
        <p:spPr>
          <a:xfrm>
            <a:off x="4952000" y="130000"/>
            <a:ext cx="3812000" cy="200000"/>
          </a:xfrm>
          <a:prstGeom prst="rect">
            <a:avLst/>
          </a:prstGeom>
          <a:noFill/>
        </p:spPr>
        <p:txBody>
          <a:bodyPr wrap="none">
            <a:spAutoFit/>
          </a:bodyPr>
          <a:lstStyle/>
          <a:p>
            <a:pPr>
              <a:defRPr sz="900">
                <a:solidFill>
                  <a:srgbClr val="8FA3C4"/>
                </a:solidFill>
                <a:latin typeface="Calibri"/>
              </a:defRPr>
            </a:pPr>
            <a:r>
              <a:t>Context     Evidence     Strategy     Measures</a:t>
            </a:r>
          </a:p>
        </p:txBody>
      </p:sp>
      <p:sp>
        <p:nvSpPr>
          <p:cNvPr id="6" name="TextBox 5"/>
          <p:cNvSpPr txBox="1"/>
          <p:nvPr/>
        </p:nvSpPr>
        <p:spPr>
          <a:xfrm>
            <a:off x="4952000" y="950000"/>
            <a:ext cx="3812000" cy="1500000"/>
          </a:xfrm>
          <a:prstGeom prst="rect">
            <a:avLst/>
          </a:prstGeom>
          <a:noFill/>
        </p:spPr>
        <p:txBody>
          <a:bodyPr wrap="square">
            <a:spAutoFit/>
          </a:bodyPr>
          <a:lstStyle/>
          <a:p>
            <a:r>
              <a:rPr sz="2200" b="1">
                <a:solidFill>
                  <a:srgbClr val="FFFFFF"/>
                </a:solidFill>
                <a:latin typeface="Cambria"/>
              </a:rPr>
              <a:t>AMB does not need a bigger budget to compete on rate. </a:t>
            </a:r>
            <a:r>
              <a:rPr sz="2200" b="1">
                <a:solidFill>
                  <a:srgbClr val="1F8F74"/>
                </a:solidFill>
                <a:latin typeface="Cambria"/>
              </a:rPr>
              <a:t>It needs to be on the list when the rate is compared.</a:t>
            </a:r>
          </a:p>
        </p:txBody>
      </p:sp>
      <p:sp>
        <p:nvSpPr>
          <p:cNvPr id="7" name="TextBox 6"/>
          <p:cNvSpPr txBox="1"/>
          <p:nvPr/>
        </p:nvSpPr>
        <p:spPr>
          <a:xfrm>
            <a:off x="4952000" y="2650000"/>
            <a:ext cx="220000" cy="220000"/>
          </a:xfrm>
          <a:prstGeom prst="rect">
            <a:avLst/>
          </a:prstGeom>
          <a:noFill/>
        </p:spPr>
        <p:txBody>
          <a:bodyPr wrap="none">
            <a:spAutoFit/>
          </a:bodyPr>
          <a:lstStyle/>
          <a:p>
            <a:pPr>
              <a:defRPr sz="1300" b="1">
                <a:solidFill>
                  <a:srgbClr val="1F8F74"/>
                </a:solidFill>
              </a:defRPr>
            </a:pPr>
            <a:r>
              <a:t>✓</a:t>
            </a:r>
          </a:p>
        </p:txBody>
      </p:sp>
      <p:sp>
        <p:nvSpPr>
          <p:cNvPr id="8" name="TextBox 7"/>
          <p:cNvSpPr txBox="1"/>
          <p:nvPr/>
        </p:nvSpPr>
        <p:spPr>
          <a:xfrm>
            <a:off x="5212000" y="2650000"/>
            <a:ext cx="3552000" cy="260000"/>
          </a:xfrm>
          <a:prstGeom prst="rect">
            <a:avLst/>
          </a:prstGeom>
          <a:noFill/>
        </p:spPr>
        <p:txBody>
          <a:bodyPr wrap="square">
            <a:spAutoFit/>
          </a:bodyPr>
          <a:lstStyle/>
          <a:p>
            <a:pPr>
              <a:defRPr sz="1200" b="1">
                <a:solidFill>
                  <a:srgbClr val="FFFFFF"/>
                </a:solidFill>
                <a:latin typeface="Calibri"/>
              </a:defRPr>
            </a:pPr>
            <a:r>
              <a:t>Confirm panel status under the AMB brand</a:t>
            </a:r>
          </a:p>
        </p:txBody>
      </p:sp>
      <p:sp>
        <p:nvSpPr>
          <p:cNvPr id="9" name="TextBox 8"/>
          <p:cNvSpPr txBox="1"/>
          <p:nvPr/>
        </p:nvSpPr>
        <p:spPr>
          <a:xfrm>
            <a:off x="5212000" y="2905000"/>
            <a:ext cx="3552000" cy="420000"/>
          </a:xfrm>
          <a:prstGeom prst="rect">
            <a:avLst/>
          </a:prstGeom>
          <a:noFill/>
        </p:spPr>
        <p:txBody>
          <a:bodyPr wrap="square">
            <a:spAutoFit/>
          </a:bodyPr>
          <a:lstStyle/>
          <a:p>
            <a:pPr>
              <a:defRPr sz="950">
                <a:solidFill>
                  <a:srgbClr val="C9D6E8"/>
                </a:solidFill>
                <a:latin typeface="Calibri"/>
              </a:defRPr>
            </a:pPr>
            <a:r>
              <a:t>Our two source documents disagree on whether AMB is accredited in its own name. Move 2 depends on the answer.</a:t>
            </a:r>
          </a:p>
        </p:txBody>
      </p:sp>
      <p:sp>
        <p:nvSpPr>
          <p:cNvPr id="10" name="TextBox 9"/>
          <p:cNvSpPr txBox="1"/>
          <p:nvPr/>
        </p:nvSpPr>
        <p:spPr>
          <a:xfrm>
            <a:off x="4952000" y="3330000"/>
            <a:ext cx="220000" cy="220000"/>
          </a:xfrm>
          <a:prstGeom prst="rect">
            <a:avLst/>
          </a:prstGeom>
          <a:noFill/>
        </p:spPr>
        <p:txBody>
          <a:bodyPr wrap="none">
            <a:spAutoFit/>
          </a:bodyPr>
          <a:lstStyle/>
          <a:p>
            <a:pPr>
              <a:defRPr sz="1300" b="1">
                <a:solidFill>
                  <a:srgbClr val="1F8F74"/>
                </a:solidFill>
              </a:defRPr>
            </a:pPr>
            <a:r>
              <a:t>✓</a:t>
            </a:r>
          </a:p>
        </p:txBody>
      </p:sp>
      <p:sp>
        <p:nvSpPr>
          <p:cNvPr id="11" name="TextBox 10"/>
          <p:cNvSpPr txBox="1"/>
          <p:nvPr/>
        </p:nvSpPr>
        <p:spPr>
          <a:xfrm>
            <a:off x="5212000" y="3330000"/>
            <a:ext cx="3552000" cy="260000"/>
          </a:xfrm>
          <a:prstGeom prst="rect">
            <a:avLst/>
          </a:prstGeom>
          <a:noFill/>
        </p:spPr>
        <p:txBody>
          <a:bodyPr wrap="square">
            <a:spAutoFit/>
          </a:bodyPr>
          <a:lstStyle/>
          <a:p>
            <a:pPr>
              <a:defRPr sz="1200" b="1">
                <a:solidFill>
                  <a:srgbClr val="FFFFFF"/>
                </a:solidFill>
                <a:latin typeface="Calibri"/>
              </a:defRPr>
            </a:pPr>
            <a:r>
              <a:t>Pilot check-your-offer with a few hundred members</a:t>
            </a:r>
          </a:p>
        </p:txBody>
      </p:sp>
      <p:sp>
        <p:nvSpPr>
          <p:cNvPr id="12" name="TextBox 11"/>
          <p:cNvSpPr txBox="1"/>
          <p:nvPr/>
        </p:nvSpPr>
        <p:spPr>
          <a:xfrm>
            <a:off x="5212000" y="3585000"/>
            <a:ext cx="3552000" cy="420000"/>
          </a:xfrm>
          <a:prstGeom prst="rect">
            <a:avLst/>
          </a:prstGeom>
          <a:noFill/>
        </p:spPr>
        <p:txBody>
          <a:bodyPr wrap="square">
            <a:spAutoFit/>
          </a:bodyPr>
          <a:lstStyle/>
          <a:p>
            <a:pPr>
              <a:defRPr sz="950">
                <a:solidFill>
                  <a:srgbClr val="C9D6E8"/>
                </a:solidFill>
                <a:latin typeface="Calibri"/>
              </a:defRPr>
            </a:pPr>
            <a:r>
              <a:t>Measures whether members send the link and whether friends upload an offer, before any broader spend.</a:t>
            </a:r>
          </a:p>
        </p:txBody>
      </p:sp>
      <p:sp>
        <p:nvSpPr>
          <p:cNvPr id="13" name="TextBox 12"/>
          <p:cNvSpPr txBox="1"/>
          <p:nvPr/>
        </p:nvSpPr>
        <p:spPr>
          <a:xfrm>
            <a:off x="4952000" y="4010000"/>
            <a:ext cx="220000" cy="220000"/>
          </a:xfrm>
          <a:prstGeom prst="rect">
            <a:avLst/>
          </a:prstGeom>
          <a:noFill/>
        </p:spPr>
        <p:txBody>
          <a:bodyPr wrap="none">
            <a:spAutoFit/>
          </a:bodyPr>
          <a:lstStyle/>
          <a:p>
            <a:pPr>
              <a:defRPr sz="1300" b="1">
                <a:solidFill>
                  <a:srgbClr val="1F8F74"/>
                </a:solidFill>
              </a:defRPr>
            </a:pPr>
            <a:r>
              <a:t>✓</a:t>
            </a:r>
          </a:p>
        </p:txBody>
      </p:sp>
      <p:sp>
        <p:nvSpPr>
          <p:cNvPr id="14" name="TextBox 13"/>
          <p:cNvSpPr txBox="1"/>
          <p:nvPr/>
        </p:nvSpPr>
        <p:spPr>
          <a:xfrm>
            <a:off x="5212000" y="4010000"/>
            <a:ext cx="3552000" cy="260000"/>
          </a:xfrm>
          <a:prstGeom prst="rect">
            <a:avLst/>
          </a:prstGeom>
          <a:noFill/>
        </p:spPr>
        <p:txBody>
          <a:bodyPr wrap="square">
            <a:spAutoFit/>
          </a:bodyPr>
          <a:lstStyle/>
          <a:p>
            <a:pPr>
              <a:defRPr sz="1200" b="1">
                <a:solidFill>
                  <a:srgbClr val="FFFFFF"/>
                </a:solidFill>
                <a:latin typeface="Calibri"/>
              </a:defRPr>
            </a:pPr>
            <a:r>
              <a:t>One sized shopper survey</a:t>
            </a:r>
          </a:p>
        </p:txBody>
      </p:sp>
      <p:sp>
        <p:nvSpPr>
          <p:cNvPr id="15" name="TextBox 14"/>
          <p:cNvSpPr txBox="1"/>
          <p:nvPr/>
        </p:nvSpPr>
        <p:spPr>
          <a:xfrm>
            <a:off x="5212000" y="4265000"/>
            <a:ext cx="3552000" cy="420000"/>
          </a:xfrm>
          <a:prstGeom prst="rect">
            <a:avLst/>
          </a:prstGeom>
          <a:noFill/>
        </p:spPr>
        <p:txBody>
          <a:bodyPr wrap="square">
            <a:spAutoFit/>
          </a:bodyPr>
          <a:lstStyle/>
          <a:p>
            <a:pPr>
              <a:defRPr sz="950">
                <a:solidFill>
                  <a:srgbClr val="C9D6E8"/>
                </a:solidFill>
                <a:latin typeface="Calibri"/>
              </a:defRPr>
            </a:pPr>
            <a:r>
              <a:t>Our samples are small and drawn from our own networks. A survey of a few hundred shoppers turns shortlist inclusion into a number.</a:t>
            </a:r>
          </a:p>
        </p:txBody>
      </p:sp>
      <p:sp>
        <p:nvSpPr>
          <p:cNvPr id="16" name="TextBox 15"/>
          <p:cNvSpPr txBox="1"/>
          <p:nvPr/>
        </p:nvSpPr>
        <p:spPr>
          <a:xfrm>
            <a:off x="4952000" y="4700000"/>
            <a:ext cx="3812000" cy="300000"/>
          </a:xfrm>
          <a:prstGeom prst="rect">
            <a:avLst/>
          </a:prstGeom>
          <a:noFill/>
        </p:spPr>
        <p:txBody>
          <a:bodyPr wrap="none">
            <a:spAutoFit/>
          </a:bodyPr>
          <a:lstStyle/>
          <a:p>
            <a:pPr>
              <a:defRPr sz="1300" i="1">
                <a:solidFill>
                  <a:srgbClr val="C9D6E8"/>
                </a:solidFill>
                <a:latin typeface="Calibri"/>
              </a:defRPr>
            </a:pPr>
            <a:r>
              <a:t>Thank you  ·  Questions</a:t>
            </a:r>
          </a:p>
        </p:txBody>
      </p:sp>
      <p:sp>
        <p:nvSpPr>
          <p:cNvPr id="17" name="TextBox 16"/>
          <p:cNvSpPr txBox="1"/>
          <p:nvPr/>
        </p:nvSpPr>
        <p:spPr>
          <a:xfrm>
            <a:off x="8644000" y="4793500"/>
            <a:ext cx="400000" cy="250000"/>
          </a:xfrm>
          <a:prstGeom prst="rect">
            <a:avLst/>
          </a:prstGeom>
          <a:noFill/>
        </p:spPr>
        <p:txBody>
          <a:bodyPr wrap="none">
            <a:spAutoFit/>
          </a:bodyPr>
          <a:lstStyle/>
          <a:p>
            <a:pPr algn="r">
              <a:defRPr sz="1000">
                <a:solidFill>
                  <a:srgbClr val="8FA3C4"/>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Australian Mutual Bank onto the home loan shortlist</dc:title>
  <dc:subject>PptxGenJS Presentation</dc:subject>
  <dc:creator>PptxGenJS</dc:creator>
  <cp:lastModifiedBy>PptxGenJS</cp:lastModifiedBy>
  <cp:revision>1</cp:revision>
  <dcterms:created xsi:type="dcterms:W3CDTF">2026-10-01T04:27:03Z</dcterms:created>
  <dcterms:modified xsi:type="dcterms:W3CDTF">2026-10-01T04:27:03Z</dcterms:modified>
</cp:coreProperties>
</file>